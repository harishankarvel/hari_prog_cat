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63" r:id="rId5"/>
    <p:sldId id="273" r:id="rId6"/>
    <p:sldId id="260" r:id="rId7"/>
    <p:sldId id="261" r:id="rId8"/>
    <p:sldId id="262" r:id="rId9"/>
    <p:sldId id="264" r:id="rId10"/>
    <p:sldId id="265" r:id="rId11"/>
    <p:sldId id="267" r:id="rId12"/>
    <p:sldId id="259" r:id="rId13"/>
    <p:sldId id="266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6188" autoAdjust="0"/>
  </p:normalViewPr>
  <p:slideViewPr>
    <p:cSldViewPr snapToGrid="0">
      <p:cViewPr varScale="1">
        <p:scale>
          <a:sx n="74" d="100"/>
          <a:sy n="74" d="100"/>
        </p:scale>
        <p:origin x="3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BBB0DB-58EC-468F-97A2-BF672CC637C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269FDA-9DD6-458C-878D-BD794D1B60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1839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Localization Triumph:</a:t>
            </a:r>
            <a:r>
              <a:rPr lang="en-US" dirty="0"/>
              <a:t> Import dependency across servers and compute has plummeted from nearly 80% down to 45–50%. Major supply chains have shifted to local electronics manufacturing services (EMS) providers based in tech hubs like Chennai and Bengaluru.</a:t>
            </a:r>
          </a:p>
          <a:p>
            <a:r>
              <a:rPr lang="en-US" b="1" dirty="0"/>
              <a:t>Cooling is the Ultimate Bottleneck:</a:t>
            </a:r>
            <a:r>
              <a:rPr lang="en-US" dirty="0"/>
              <a:t> Advanced liquid cooling has flipped from an experimental addition to the fastest-growing sub-sector in the entire ecosystem ($1.2B to over $7.5B by 2034), with a staggering </a:t>
            </a:r>
            <a:r>
              <a:rPr lang="en-US" b="1" dirty="0"/>
              <a:t>28.4% CAGR</a:t>
            </a:r>
            <a:r>
              <a:rPr lang="en-US" dirty="0"/>
              <a:t> outperforming raw compute growth.</a:t>
            </a:r>
          </a:p>
          <a:p>
            <a:r>
              <a:rPr lang="en-US" b="1" dirty="0"/>
              <a:t>The Power Grid Crunch:</a:t>
            </a:r>
            <a:r>
              <a:rPr lang="en-US" dirty="0"/>
              <a:t> Power infrastructure demands have moved toward intelligent, solid-state green energy modules as facilities scale past the 100 MW per campus mark, requiring heavy multi-megawatt backup topologies.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69FDA-9DD6-458C-878D-BD794D1B605C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86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Thermal &amp; Power Surge:</a:t>
            </a:r>
            <a:r>
              <a:rPr lang="en-US" dirty="0"/>
              <a:t> Notice how the CAGR for companies like </a:t>
            </a:r>
            <a:r>
              <a:rPr lang="en-US" b="1" dirty="0" err="1"/>
              <a:t>Vertiv</a:t>
            </a:r>
            <a:r>
              <a:rPr lang="en-US" b="1" dirty="0"/>
              <a:t>, Schneider Electric, and STULZ</a:t>
            </a:r>
            <a:r>
              <a:rPr lang="en-US" dirty="0"/>
              <a:t> has surged way past the older estimates (now tracking at 24–28%). This is because high-density AI clusters generate extreme heat footprints that legacy air-conditioning units literally cannot cool, causing a massive, urgent cash injection into liquid infrastructure components.</a:t>
            </a:r>
          </a:p>
          <a:p>
            <a:r>
              <a:rPr lang="en-US" b="1" dirty="0"/>
              <a:t>Refined EMS Target Points:</a:t>
            </a:r>
            <a:r>
              <a:rPr lang="en-US" dirty="0"/>
              <a:t> For an expert contract assembler, the primary value add is no longer just standard plastic housings. The margins have moved squarely to building high-density, hot-swappable </a:t>
            </a:r>
            <a:r>
              <a:rPr lang="en-US" b="1" dirty="0"/>
              <a:t>CRPS units (up to 4000W)</a:t>
            </a:r>
            <a:r>
              <a:rPr lang="en-US" dirty="0"/>
              <a:t>, precision fluid manifolds for liquid distribution loops, and solid-state power shelf enclosures that hold dense GPU computing arrays securely.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69FDA-9DD6-458C-878D-BD794D1B605C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4320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Green- already invested and certain companies are about to deploy(Microsoft India) </a:t>
            </a:r>
          </a:p>
          <a:p>
            <a:r>
              <a:rPr lang="en-US" dirty="0"/>
              <a:t>Brown- new and upcoming investors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69FDA-9DD6-458C-878D-BD794D1B605C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407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0054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670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986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4427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3046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955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308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6092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5343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2091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9412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127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2837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55412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3097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342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FA26FF-DE90-43CC-B550-45EA60008A1B}" type="datetimeFigureOut">
              <a:rPr lang="en-IN" smtClean="0"/>
              <a:t>14-06-2026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D65D1F1-FCF6-4074-BFB4-65514227D1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4118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://traiconconferences.com/" TargetMode="External"/><Relationship Id="rId2" Type="http://schemas.openxmlformats.org/officeDocument/2006/relationships/hyperlink" Target="https://www.nexgenconference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atacentreworldasia.com/" TargetMode="External"/><Relationship Id="rId5" Type="http://schemas.openxmlformats.org/officeDocument/2006/relationships/hyperlink" Target="https://www.assocham.org/" TargetMode="External"/><Relationship Id="rId4" Type="http://schemas.openxmlformats.org/officeDocument/2006/relationships/hyperlink" Target="https://www.cii.in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999AD-FC40-405F-9BBE-F995AB753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5649" y="2977081"/>
            <a:ext cx="8915399" cy="1468310"/>
          </a:xfrm>
        </p:spPr>
        <p:txBody>
          <a:bodyPr>
            <a:normAutofit fontScale="90000"/>
          </a:bodyPr>
          <a:lstStyle/>
          <a:p>
            <a:r>
              <a:rPr lang="en-IN" sz="4400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AI Infrastructure Opportunities in India</a:t>
            </a:r>
            <a:br>
              <a:rPr lang="en-US" altLang="zh-TW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grpSp>
        <p:nvGrpSpPr>
          <p:cNvPr id="4" name="组合 7">
            <a:extLst>
              <a:ext uri="{FF2B5EF4-FFF2-40B4-BE49-F238E27FC236}">
                <a16:creationId xmlns:a16="http://schemas.microsoft.com/office/drawing/2014/main" id="{7B7D424F-10F9-4A54-A04E-16EBC240FA3E}"/>
              </a:ext>
            </a:extLst>
          </p:cNvPr>
          <p:cNvGrpSpPr/>
          <p:nvPr/>
        </p:nvGrpSpPr>
        <p:grpSpPr>
          <a:xfrm>
            <a:off x="5366060" y="713421"/>
            <a:ext cx="6300746" cy="1339579"/>
            <a:chOff x="1913163" y="2659238"/>
            <a:chExt cx="6300746" cy="1339579"/>
          </a:xfrm>
        </p:grpSpPr>
        <p:pic>
          <p:nvPicPr>
            <p:cNvPr id="5" name="图片 5">
              <a:extLst>
                <a:ext uri="{FF2B5EF4-FFF2-40B4-BE49-F238E27FC236}">
                  <a16:creationId xmlns:a16="http://schemas.microsoft.com/office/drawing/2014/main" id="{B16D089A-B70C-47FD-A490-EB93081E8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11" t="40093" r="59520" b="48610"/>
            <a:stretch>
              <a:fillRect/>
            </a:stretch>
          </p:blipFill>
          <p:spPr>
            <a:xfrm>
              <a:off x="1913163" y="2659238"/>
              <a:ext cx="6300746" cy="1201080"/>
            </a:xfrm>
            <a:prstGeom prst="rect">
              <a:avLst/>
            </a:prstGeom>
            <a:effectLst/>
          </p:spPr>
        </p:pic>
        <p:sp>
          <p:nvSpPr>
            <p:cNvPr id="6" name="文本框 6">
              <a:extLst>
                <a:ext uri="{FF2B5EF4-FFF2-40B4-BE49-F238E27FC236}">
                  <a16:creationId xmlns:a16="http://schemas.microsoft.com/office/drawing/2014/main" id="{2688A5E2-262B-4EFB-B4A4-4F8C0ABDC97D}"/>
                </a:ext>
              </a:extLst>
            </p:cNvPr>
            <p:cNvSpPr txBox="1"/>
            <p:nvPr/>
          </p:nvSpPr>
          <p:spPr>
            <a:xfrm>
              <a:off x="3765167" y="3721818"/>
              <a:ext cx="28600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en-US" sz="1200" dirty="0">
                  <a:latin typeface="DejaVu Math TeX Gyre" panose="02000503000000000000" pitchFamily="2" charset="0"/>
                  <a:ea typeface="DejaVu Math TeX Gyre" panose="02000503000000000000" pitchFamily="2" charset="0"/>
                  <a:cs typeface="DejaVu Math TeX Gyre" panose="02000503000000000000" pitchFamily="2" charset="0"/>
                </a:rPr>
                <a:t>POWERING THE SMART WORLD</a:t>
              </a:r>
              <a:endParaRPr lang="en-US" altLang="en-US" sz="1200" dirty="0">
                <a:latin typeface="DejaVu Math TeX Gyre" panose="02000503000000000000" pitchFamily="2" charset="0"/>
                <a:cs typeface="DejaVu Math TeX Gyre" panose="020005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8605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759BD-63A4-4114-A55E-451625C7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233" y="464008"/>
            <a:ext cx="8911687" cy="965539"/>
          </a:xfrm>
        </p:spPr>
        <p:txBody>
          <a:bodyPr/>
          <a:lstStyle/>
          <a:p>
            <a:r>
              <a:rPr lang="en-IN" dirty="0"/>
              <a:t>Al Infrastructure: Key Strategic Pillars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0696-001C-47A2-A9C2-2E6E85BB7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7107" y="1157793"/>
            <a:ext cx="4745502" cy="3775500"/>
          </a:xfrm>
        </p:spPr>
        <p:txBody>
          <a:bodyPr/>
          <a:lstStyle/>
          <a:p>
            <a:r>
              <a:rPr lang="en-IN" dirty="0"/>
              <a:t>Gigawatt Scaling: Moving beyond MW-scale colocation to massive self-build Al compute hubs. </a:t>
            </a:r>
          </a:p>
          <a:p>
            <a:r>
              <a:rPr lang="en-IN" dirty="0"/>
              <a:t> Thermal Mastery: Transitioning from legacy air cooling to 4OkW+ liquid immersion and D2C systems.</a:t>
            </a:r>
          </a:p>
          <a:p>
            <a:r>
              <a:rPr lang="en-IN" dirty="0"/>
              <a:t> Silicon-First Power: Specialized PSUs designed for Blackwell (B200) and Neoverse (ARM) densities. </a:t>
            </a:r>
          </a:p>
          <a:p>
            <a:r>
              <a:rPr lang="en-IN" dirty="0"/>
              <a:t>Energy Sovereignty: Captive 24/7 renewable loops + Energy Storage Systems (ESS) integrated at source.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2B77A-38AA-4D44-A4DB-F95BFBDBD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7825" y="4037428"/>
            <a:ext cx="3262848" cy="25743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4F6A5B-3D40-4785-AAC9-A6324339C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452" y="1178895"/>
            <a:ext cx="5395594" cy="2682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989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D1C6B-9F62-4B99-8600-87C81E330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589670"/>
            <a:ext cx="8911687" cy="577949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AI Infra | Products &amp; Layout</a:t>
            </a:r>
            <a:br>
              <a:rPr lang="en-US" dirty="0">
                <a:latin typeface="Poppins" panose="02000000000000000000" pitchFamily="2" charset="0"/>
                <a:sym typeface="SF Hello Thin"/>
              </a:rPr>
            </a:br>
            <a:endParaRPr lang="en-IN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F3E1164-D36D-4DAC-B190-6E8E09A6A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667" t="2009"/>
          <a:stretch/>
        </p:blipFill>
        <p:spPr>
          <a:xfrm>
            <a:off x="1167619" y="1300089"/>
            <a:ext cx="10438228" cy="51288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31005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DBAAC-1459-4306-8FCE-BE735C2A7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0390" y="126609"/>
            <a:ext cx="5889894" cy="534573"/>
          </a:xfrm>
        </p:spPr>
        <p:txBody>
          <a:bodyPr>
            <a:normAutofit fontScale="90000"/>
          </a:bodyPr>
          <a:lstStyle/>
          <a:p>
            <a:r>
              <a:rPr lang="en-US" sz="31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AI Infra | Potential Products portfolio </a:t>
            </a:r>
            <a:br>
              <a:rPr lang="en-US" dirty="0">
                <a:latin typeface="Poppins" panose="02000000000000000000" pitchFamily="2" charset="0"/>
                <a:sym typeface="SF Hello Thin"/>
              </a:rPr>
            </a:br>
            <a:endParaRPr lang="en-IN" dirty="0"/>
          </a:p>
        </p:txBody>
      </p:sp>
      <p:pic>
        <p:nvPicPr>
          <p:cNvPr id="4" name="Picture 2" descr="Understanding direct-to-chip cooling in HPC infrastructure: A deep dive  into liquid cooling">
            <a:extLst>
              <a:ext uri="{FF2B5EF4-FFF2-40B4-BE49-F238E27FC236}">
                <a16:creationId xmlns:a16="http://schemas.microsoft.com/office/drawing/2014/main" id="{16A57503-E043-4092-A06A-4F6C4EC40D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784" y="1673275"/>
            <a:ext cx="2524980" cy="141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96B19B-AC33-4FB8-9CAC-6812718ADB95}"/>
              </a:ext>
            </a:extLst>
          </p:cNvPr>
          <p:cNvSpPr txBox="1"/>
          <p:nvPr/>
        </p:nvSpPr>
        <p:spPr>
          <a:xfrm>
            <a:off x="967069" y="1223891"/>
            <a:ext cx="2222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Thermal Solutions</a:t>
            </a:r>
          </a:p>
          <a:p>
            <a:endParaRPr lang="en-IN" dirty="0"/>
          </a:p>
        </p:txBody>
      </p:sp>
      <p:pic>
        <p:nvPicPr>
          <p:cNvPr id="6" name="Picture 12" descr="High-efficiency isolation transformers for data centres in Asia">
            <a:extLst>
              <a:ext uri="{FF2B5EF4-FFF2-40B4-BE49-F238E27FC236}">
                <a16:creationId xmlns:a16="http://schemas.microsoft.com/office/drawing/2014/main" id="{D9311384-3854-4811-8B7C-5EA80501F7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547"/>
          <a:stretch/>
        </p:blipFill>
        <p:spPr bwMode="auto">
          <a:xfrm>
            <a:off x="4099057" y="1588429"/>
            <a:ext cx="3441227" cy="149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49F659-1982-4593-A764-140F8D287B91}"/>
              </a:ext>
            </a:extLst>
          </p:cNvPr>
          <p:cNvSpPr txBox="1"/>
          <p:nvPr/>
        </p:nvSpPr>
        <p:spPr>
          <a:xfrm>
            <a:off x="3003434" y="946537"/>
            <a:ext cx="5068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High efficiency isolation transformer systems</a:t>
            </a:r>
          </a:p>
          <a:p>
            <a:endParaRPr lang="en-IN" dirty="0"/>
          </a:p>
        </p:txBody>
      </p:sp>
      <p:pic>
        <p:nvPicPr>
          <p:cNvPr id="8" name="Picture 16" descr="Switchboards vs. Switchgears: What's Best for Data Centers?">
            <a:extLst>
              <a:ext uri="{FF2B5EF4-FFF2-40B4-BE49-F238E27FC236}">
                <a16:creationId xmlns:a16="http://schemas.microsoft.com/office/drawing/2014/main" id="{56407423-8CDE-44F2-8780-6190AC0F54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17" t="11020" r="8333" b="20296"/>
          <a:stretch/>
        </p:blipFill>
        <p:spPr bwMode="auto">
          <a:xfrm>
            <a:off x="8604031" y="1459983"/>
            <a:ext cx="3272145" cy="1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FDA9E1-7803-486F-8E0A-2A0B84DD9EB3}"/>
              </a:ext>
            </a:extLst>
          </p:cNvPr>
          <p:cNvSpPr txBox="1"/>
          <p:nvPr/>
        </p:nvSpPr>
        <p:spPr>
          <a:xfrm>
            <a:off x="8210250" y="1036267"/>
            <a:ext cx="4059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Switch board/Switch gear systems</a:t>
            </a:r>
          </a:p>
          <a:p>
            <a:endParaRPr lang="en-IN" dirty="0"/>
          </a:p>
        </p:txBody>
      </p:sp>
      <p:pic>
        <p:nvPicPr>
          <p:cNvPr id="10" name="Picture 4" descr="Data Center Power Distribution Basics - Articles - TestGuy Electrical  Testing Network">
            <a:extLst>
              <a:ext uri="{FF2B5EF4-FFF2-40B4-BE49-F238E27FC236}">
                <a16:creationId xmlns:a16="http://schemas.microsoft.com/office/drawing/2014/main" id="{F12BA647-30FF-481B-8E8C-5FF46D1AA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7" t="16894" r="2242" b="17154"/>
          <a:stretch/>
        </p:blipFill>
        <p:spPr bwMode="auto">
          <a:xfrm>
            <a:off x="1062709" y="4143653"/>
            <a:ext cx="5267754" cy="2230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DE1DE9-8D59-44FC-9CE7-8D4E2669199C}"/>
              </a:ext>
            </a:extLst>
          </p:cNvPr>
          <p:cNvSpPr txBox="1"/>
          <p:nvPr/>
        </p:nvSpPr>
        <p:spPr>
          <a:xfrm>
            <a:off x="1366038" y="3546416"/>
            <a:ext cx="4661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Power distribution System</a:t>
            </a:r>
          </a:p>
          <a:p>
            <a:endParaRPr lang="en-IN" dirty="0"/>
          </a:p>
        </p:txBody>
      </p:sp>
      <p:pic>
        <p:nvPicPr>
          <p:cNvPr id="12" name="Picture 6" descr="Liquid Data Center Cooling Solutions for HPC Clusters | Aspen Systems">
            <a:extLst>
              <a:ext uri="{FF2B5EF4-FFF2-40B4-BE49-F238E27FC236}">
                <a16:creationId xmlns:a16="http://schemas.microsoft.com/office/drawing/2014/main" id="{5F331530-8810-445A-8181-92862663F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4031" y="4364104"/>
            <a:ext cx="2478686" cy="200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582A36F-84E2-40D8-ABF2-69A8DCC6C6DC}"/>
              </a:ext>
            </a:extLst>
          </p:cNvPr>
          <p:cNvSpPr txBox="1"/>
          <p:nvPr/>
        </p:nvSpPr>
        <p:spPr>
          <a:xfrm>
            <a:off x="8604030" y="3713871"/>
            <a:ext cx="3015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Cooling system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676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A3D74-D82F-4570-BC8B-75F8064D1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070" y="0"/>
            <a:ext cx="11080543" cy="543339"/>
          </a:xfrm>
        </p:spPr>
        <p:txBody>
          <a:bodyPr>
            <a:normAutofit/>
          </a:bodyPr>
          <a:lstStyle/>
          <a:p>
            <a:r>
              <a:rPr lang="en-US" sz="2800" dirty="0"/>
              <a:t>South India Data Center &amp; Tech Investment Tracker </a:t>
            </a: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75A958-A46F-4234-8BAC-99FF36D8A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3542569"/>
              </p:ext>
            </p:extLst>
          </p:nvPr>
        </p:nvGraphicFramePr>
        <p:xfrm>
          <a:off x="424070" y="689112"/>
          <a:ext cx="11080543" cy="59749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239691">
                  <a:extLst>
                    <a:ext uri="{9D8B030D-6E8A-4147-A177-3AD203B41FA5}">
                      <a16:colId xmlns:a16="http://schemas.microsoft.com/office/drawing/2014/main" val="2920894725"/>
                    </a:ext>
                  </a:extLst>
                </a:gridCol>
                <a:gridCol w="6786354">
                  <a:extLst>
                    <a:ext uri="{9D8B030D-6E8A-4147-A177-3AD203B41FA5}">
                      <a16:colId xmlns:a16="http://schemas.microsoft.com/office/drawing/2014/main" val="1948455877"/>
                    </a:ext>
                  </a:extLst>
                </a:gridCol>
                <a:gridCol w="1546420">
                  <a:extLst>
                    <a:ext uri="{9D8B030D-6E8A-4147-A177-3AD203B41FA5}">
                      <a16:colId xmlns:a16="http://schemas.microsoft.com/office/drawing/2014/main" val="644633013"/>
                    </a:ext>
                  </a:extLst>
                </a:gridCol>
                <a:gridCol w="1508078">
                  <a:extLst>
                    <a:ext uri="{9D8B030D-6E8A-4147-A177-3AD203B41FA5}">
                      <a16:colId xmlns:a16="http://schemas.microsoft.com/office/drawing/2014/main" val="141458567"/>
                    </a:ext>
                  </a:extLst>
                </a:gridCol>
              </a:tblGrid>
              <a:tr h="671400">
                <a:tc>
                  <a:txBody>
                    <a:bodyPr/>
                    <a:lstStyle/>
                    <a:p>
                      <a:r>
                        <a:rPr lang="en-IN" sz="1200" dirty="0"/>
                        <a:t>Company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Core Investment Focus &amp; Regional Footprint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Target Pipeline Capacity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Latest Investment Commitment / Scale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243662"/>
                  </a:ext>
                </a:extLst>
              </a:tr>
              <a:tr h="1799692">
                <a:tc>
                  <a:txBody>
                    <a:bodyPr/>
                    <a:lstStyle/>
                    <a:p>
                      <a:r>
                        <a:rPr lang="en-IN" sz="1200" dirty="0"/>
                        <a:t>L&amp;T </a:t>
                      </a:r>
                      <a:r>
                        <a:rPr lang="en-IN" sz="1200" dirty="0" err="1"/>
                        <a:t>Vyoma</a:t>
                      </a:r>
                      <a:r>
                        <a:rPr lang="en-IN" sz="1200" dirty="0"/>
                        <a:t> &amp; L&amp;T Tech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Tamil Nadu (Kanchipuram, Coimbatore, Tiruvallur)</a:t>
                      </a:r>
                    </a:p>
                    <a:p>
                      <a:br>
                        <a:rPr lang="en-IN" sz="1200"/>
                      </a:br>
                      <a:r>
                        <a:rPr lang="en-IN" sz="1200"/>
                        <a:t>• Data Infrastructure: Massive ₹15,000 Cr hyperscale expansion in Kanchipuram with liquid-cooled, 80kW/rack AI architectures.</a:t>
                      </a:r>
                    </a:p>
                    <a:p>
                      <a:br>
                        <a:rPr lang="en-IN" sz="1200"/>
                      </a:br>
                      <a:r>
                        <a:rPr lang="en-IN" sz="1200"/>
                        <a:t>• Hardware Supply Chain: ₹2,500 Cr advanced electronics manufacturing unit in Coimbatore.</a:t>
                      </a:r>
                    </a:p>
                    <a:p>
                      <a:br>
                        <a:rPr lang="en-IN" sz="1200"/>
                      </a:br>
                      <a:r>
                        <a:rPr lang="en-IN" sz="1200"/>
                        <a:t>• Green Energy Integration: ₹1,100 Cr Kattupalli Shipyard expansion for offshore wind fabrication.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250 MW – 370 MW+ (National pipeline total)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₹18,600 Crore (Total consolidated state MoU)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21270"/>
                  </a:ext>
                </a:extLst>
              </a:tr>
              <a:tr h="771296">
                <a:tc>
                  <a:txBody>
                    <a:bodyPr/>
                    <a:lstStyle/>
                    <a:p>
                      <a:r>
                        <a:rPr lang="en-IN" sz="1200"/>
                        <a:t>Yotta Data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(Navi Mumbai, Greater Noida, Gift City)</a:t>
                      </a:r>
                    </a:p>
                    <a:p>
                      <a:br>
                        <a:rPr lang="en-IN" sz="1200" dirty="0"/>
                      </a:br>
                      <a:r>
                        <a:rPr lang="en-IN" sz="1200" dirty="0"/>
                        <a:t>• Actively deploying thousands of NVIDIA H100/B200 clusters via the dedicated Shakti Cloud platform for deep learning workloads.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350 MW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NVIDIA Strategic Partnership Ecosystem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819677"/>
                  </a:ext>
                </a:extLst>
              </a:tr>
              <a:tr h="604073">
                <a:tc>
                  <a:txBody>
                    <a:bodyPr/>
                    <a:lstStyle/>
                    <a:p>
                      <a:r>
                        <a:rPr lang="en-IN" sz="1200"/>
                        <a:t>Digital Connexion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Tamil Nadu (Chennai - Ambattur Corridor)</a:t>
                      </a:r>
                    </a:p>
                    <a:p>
                      <a:r>
                        <a:rPr lang="en-IN" sz="1200" dirty="0"/>
                        <a:t>• High-profile JV between Brookfield, Reliance Industries, and Digital Realty. Fully operationalized its premier 100 MW MAA10 campus.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250 MW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Institutional Asset Backing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7698"/>
                  </a:ext>
                </a:extLst>
              </a:tr>
              <a:tr h="604073">
                <a:tc>
                  <a:txBody>
                    <a:bodyPr/>
                    <a:lstStyle/>
                    <a:p>
                      <a:r>
                        <a:rPr lang="en-US" sz="1200"/>
                        <a:t>Iron Mountain Data Centers (Web Werks)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Tamil Nadu &amp; Maharashtra (Chennai, Mumbai, Pune)</a:t>
                      </a:r>
                    </a:p>
                    <a:p>
                      <a:r>
                        <a:rPr lang="en-IN" sz="1200" dirty="0"/>
                        <a:t>• Transitioning from localized colocation into high-capacity hyperscale hubs via a massive capital infusion strategy.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152 MW – 200 MW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₹7,500 Crore (Consolidated expansion funnel)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048513"/>
                  </a:ext>
                </a:extLst>
              </a:tr>
              <a:tr h="604073">
                <a:tc>
                  <a:txBody>
                    <a:bodyPr/>
                    <a:lstStyle/>
                    <a:p>
                      <a:r>
                        <a:rPr lang="en-IN" sz="1200"/>
                        <a:t>Sify Infinit Spaces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Andhra Pradesh &amp; Tier-2 South (Vizag, Bhopal, Lucknow)</a:t>
                      </a:r>
                    </a:p>
                    <a:p>
                      <a:r>
                        <a:rPr lang="en-IN" sz="1200" dirty="0"/>
                        <a:t>• Creating localized AI-Hubs and an alternative eastern subsea landing gateway via a new 50 MW critical IT load facility in Visakhapatnam.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200 MW+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Distributed Corporate Capital Injection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6341"/>
                  </a:ext>
                </a:extLst>
              </a:tr>
              <a:tr h="604073">
                <a:tc>
                  <a:txBody>
                    <a:bodyPr/>
                    <a:lstStyle/>
                    <a:p>
                      <a:r>
                        <a:rPr lang="en-IN" sz="1200"/>
                        <a:t>Princeton Digital Group (PDG)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Maharashtra &amp; Tamil Nadu (Navi Mumbai, Chennai Expansion)</a:t>
                      </a:r>
                    </a:p>
                    <a:p>
                      <a:r>
                        <a:rPr lang="en-IN" sz="1200" dirty="0"/>
                        <a:t>• Scaling up high-density hyper-dense rack spacing to host multi-tenant cloud architectures for global internet giants.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100 MW – 150 MW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Pan-Asian Institutional Funding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0151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3917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FD2C-9368-439B-9572-0266DFC0A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48" y="0"/>
            <a:ext cx="4004824" cy="492369"/>
          </a:xfrm>
        </p:spPr>
        <p:txBody>
          <a:bodyPr>
            <a:normAutofit fontScale="90000"/>
          </a:bodyPr>
          <a:lstStyle/>
          <a:p>
            <a:r>
              <a:rPr lang="en-US" sz="31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AI Infra | Global Players</a:t>
            </a:r>
            <a:br>
              <a:rPr lang="en-US" dirty="0">
                <a:latin typeface="Poppins" panose="02000000000000000000" pitchFamily="2" charset="0"/>
                <a:sym typeface="SF Hello Thin"/>
              </a:rPr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AAE902-83FA-4727-B3C4-988B6BB8A6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6326910"/>
              </p:ext>
            </p:extLst>
          </p:nvPr>
        </p:nvGraphicFramePr>
        <p:xfrm>
          <a:off x="318866" y="492369"/>
          <a:ext cx="11774660" cy="6251602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1265047">
                  <a:extLst>
                    <a:ext uri="{9D8B030D-6E8A-4147-A177-3AD203B41FA5}">
                      <a16:colId xmlns:a16="http://schemas.microsoft.com/office/drawing/2014/main" val="3590691520"/>
                    </a:ext>
                  </a:extLst>
                </a:gridCol>
                <a:gridCol w="1180821">
                  <a:extLst>
                    <a:ext uri="{9D8B030D-6E8A-4147-A177-3AD203B41FA5}">
                      <a16:colId xmlns:a16="http://schemas.microsoft.com/office/drawing/2014/main" val="2620012593"/>
                    </a:ext>
                  </a:extLst>
                </a:gridCol>
                <a:gridCol w="1019112">
                  <a:extLst>
                    <a:ext uri="{9D8B030D-6E8A-4147-A177-3AD203B41FA5}">
                      <a16:colId xmlns:a16="http://schemas.microsoft.com/office/drawing/2014/main" val="2624438982"/>
                    </a:ext>
                  </a:extLst>
                </a:gridCol>
                <a:gridCol w="1207256">
                  <a:extLst>
                    <a:ext uri="{9D8B030D-6E8A-4147-A177-3AD203B41FA5}">
                      <a16:colId xmlns:a16="http://schemas.microsoft.com/office/drawing/2014/main" val="2852874166"/>
                    </a:ext>
                  </a:extLst>
                </a:gridCol>
                <a:gridCol w="3214120">
                  <a:extLst>
                    <a:ext uri="{9D8B030D-6E8A-4147-A177-3AD203B41FA5}">
                      <a16:colId xmlns:a16="http://schemas.microsoft.com/office/drawing/2014/main" val="3721431916"/>
                    </a:ext>
                  </a:extLst>
                </a:gridCol>
                <a:gridCol w="3888304">
                  <a:extLst>
                    <a:ext uri="{9D8B030D-6E8A-4147-A177-3AD203B41FA5}">
                      <a16:colId xmlns:a16="http://schemas.microsoft.com/office/drawing/2014/main" val="1155727004"/>
                    </a:ext>
                  </a:extLst>
                </a:gridCol>
              </a:tblGrid>
              <a:tr h="335284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Category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Company Name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Headquarters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Primary Operating Model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Presence in India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AI / High-Density Focus (Rack Cooling Limit)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735417"/>
                  </a:ext>
                </a:extLst>
              </a:tr>
              <a:tr h="533292">
                <a:tc>
                  <a:txBody>
                    <a:bodyPr/>
                    <a:lstStyle/>
                    <a:p>
                      <a:pPr rtl="0"/>
                      <a:r>
                        <a:rPr lang="en-IN" sz="1100" dirty="0" err="1">
                          <a:effectLst/>
                        </a:rPr>
                        <a:t>Hyperscaler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Amazon Web Services (AWS)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100">
                          <a:effectLst/>
                        </a:rPr>
                        <a:t>Cloud &amp; AI platform service provider</a:t>
                      </a:r>
                      <a:endParaRPr lang="it-IT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Massive / Self-Build Owner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(Moving away from 3rd-party tenancy)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Very High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(Liquid-assist &amp; direct-to-chip models)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8599622"/>
                  </a:ext>
                </a:extLst>
              </a:tr>
              <a:tr h="533292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Hyperscaler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Microsoft Azure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100">
                          <a:effectLst/>
                        </a:rPr>
                        <a:t>Cloud &amp; AI platform service provider</a:t>
                      </a:r>
                      <a:endParaRPr lang="it-IT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Massive / Self-Build Owner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(Hyderabad region live mid-2026)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Very High</a:t>
                      </a:r>
                    </a:p>
                    <a:p>
                      <a:pPr rtl="0"/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(Air-cooled chillers with zero water consumption)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442120"/>
                  </a:ext>
                </a:extLst>
              </a:tr>
              <a:tr h="496399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Hyperscaler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Google Cloud Platform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100">
                          <a:effectLst/>
                        </a:rPr>
                        <a:t>Cloud &amp; AI platform service provider</a:t>
                      </a:r>
                      <a:endParaRPr lang="it-IT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Hybrid Expansion</a:t>
                      </a:r>
                    </a:p>
                    <a:p>
                      <a:pPr rtl="0"/>
                      <a:br>
                        <a:rPr lang="en-IN" sz="1100">
                          <a:effectLst/>
                        </a:rPr>
                      </a:br>
                      <a:r>
                        <a:rPr lang="en-IN" sz="1100">
                          <a:effectLst/>
                        </a:rPr>
                        <a:t>(Owns 1 GW AP site + Adani JV)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Very High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(Dedicated Vertex AI tensor clusters)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8594726"/>
                  </a:ext>
                </a:extLst>
              </a:tr>
              <a:tr h="657515">
                <a:tc>
                  <a:txBody>
                    <a:bodyPr/>
                    <a:lstStyle/>
                    <a:p>
                      <a:pPr rtl="0"/>
                      <a:r>
                        <a:rPr lang="en-IN" sz="1100" dirty="0" err="1">
                          <a:effectLst/>
                        </a:rPr>
                        <a:t>Hyperscaler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Meta Platforms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Social &amp; AI compute cluster builder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First Dedicated Site Live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(Leasing 168 MW custom node from Reliance)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Very High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(Desalinated seawater cooling for custom Llama LLM workloads)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2905913"/>
                  </a:ext>
                </a:extLst>
              </a:tr>
              <a:tr h="657515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Hyperscaler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Oracle Cloud (OCI)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Enterprise Database &amp; Cloud Infrastructure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Expanding Baseline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(Dedicated sovereign region nodes)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100">
                          <a:effectLst/>
                        </a:rPr>
                      </a:br>
                      <a:r>
                        <a:rPr lang="en-IN" sz="1100">
                          <a:effectLst/>
                        </a:rPr>
                        <a:t>(High-density database clustering)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57167"/>
                  </a:ext>
                </a:extLst>
              </a:tr>
              <a:tr h="496399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Hyperscaler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Alibaba / Tencent Cloud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China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Cloud platform service provider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Frozen / Exit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None</a:t>
                      </a:r>
                    </a:p>
                    <a:p>
                      <a:pPr rtl="0"/>
                      <a:br>
                        <a:rPr lang="en-IN" sz="1100">
                          <a:effectLst/>
                        </a:rPr>
                      </a:br>
                      <a:r>
                        <a:rPr lang="en-IN" sz="1100">
                          <a:effectLst/>
                        </a:rPr>
                        <a:t>(Geopolitical restrictions)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8428239"/>
                  </a:ext>
                </a:extLst>
              </a:tr>
              <a:tr h="657515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Colocation Operator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AirTrunk (Blackstone)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Australia / US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Wholesale Hyperscale Developer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Aggressive Entrant</a:t>
                      </a:r>
                    </a:p>
                    <a:p>
                      <a:pPr rtl="0"/>
                      <a:br>
                        <a:rPr lang="en-IN" sz="1100">
                          <a:effectLst/>
                        </a:rPr>
                      </a:br>
                      <a:r>
                        <a:rPr lang="en-IN" sz="1100">
                          <a:effectLst/>
                        </a:rPr>
                        <a:t>(Acquired Lumina; targeting 5 GW footprint)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Extremely High</a:t>
                      </a:r>
                    </a:p>
                    <a:p>
                      <a:pPr rtl="0"/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(Custom megawatt modular blocks for external AI leases)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6485551"/>
                  </a:ext>
                </a:extLst>
              </a:tr>
              <a:tr h="533292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Colocation Operator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Equinix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Carrier-Neutral Interconnection Provider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High-Density Mesh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(Active MB3 in Mumbai &amp; CN1 in Chennai)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100">
                          <a:effectLst/>
                        </a:rPr>
                      </a:br>
                      <a:r>
                        <a:rPr lang="en-IN" sz="1100">
                          <a:effectLst/>
                        </a:rPr>
                        <a:t>(Interconnected multi-cloud AI private network nodes)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639417"/>
                  </a:ext>
                </a:extLst>
              </a:tr>
              <a:tr h="657515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Colocation Operator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Digital Realty (BAM Digital)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United States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Wholesaler &amp; Real Estate Investment Trust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Active Mega-Scale</a:t>
                      </a:r>
                    </a:p>
                    <a:p>
                      <a:pPr rtl="0"/>
                      <a:br>
                        <a:rPr lang="en-IN" sz="1100" dirty="0">
                          <a:effectLst/>
                        </a:rPr>
                      </a:br>
                      <a:r>
                        <a:rPr lang="en-IN" sz="1100" dirty="0">
                          <a:effectLst/>
                        </a:rPr>
                        <a:t>(100MW MAA10 Ambattur, Chennai campus live)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US" sz="1100">
                          <a:effectLst/>
                        </a:rPr>
                      </a:br>
                      <a:r>
                        <a:rPr lang="en-US" sz="1100">
                          <a:effectLst/>
                        </a:rPr>
                        <a:t>(IGBC Platinum certified high-thermal chassis architecture)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4859036"/>
                  </a:ext>
                </a:extLst>
              </a:tr>
              <a:tr h="533292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Colocation Operator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CyrusOne / GDS Holdings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 / China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International wholesale colocation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No Direct Operations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Low</a:t>
                      </a:r>
                    </a:p>
                    <a:p>
                      <a:pPr rtl="0"/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(Focus shifted entirely to other APAC/EMEA regions)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4916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0467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6DFD1C-EDE1-412D-868E-BEDAB02507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549394"/>
              </p:ext>
            </p:extLst>
          </p:nvPr>
        </p:nvGraphicFramePr>
        <p:xfrm>
          <a:off x="293078" y="323558"/>
          <a:ext cx="11605843" cy="6413291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1598132">
                  <a:extLst>
                    <a:ext uri="{9D8B030D-6E8A-4147-A177-3AD203B41FA5}">
                      <a16:colId xmlns:a16="http://schemas.microsoft.com/office/drawing/2014/main" val="4120769012"/>
                    </a:ext>
                  </a:extLst>
                </a:gridCol>
                <a:gridCol w="1830869">
                  <a:extLst>
                    <a:ext uri="{9D8B030D-6E8A-4147-A177-3AD203B41FA5}">
                      <a16:colId xmlns:a16="http://schemas.microsoft.com/office/drawing/2014/main" val="1320216718"/>
                    </a:ext>
                  </a:extLst>
                </a:gridCol>
                <a:gridCol w="1629162">
                  <a:extLst>
                    <a:ext uri="{9D8B030D-6E8A-4147-A177-3AD203B41FA5}">
                      <a16:colId xmlns:a16="http://schemas.microsoft.com/office/drawing/2014/main" val="1772210491"/>
                    </a:ext>
                  </a:extLst>
                </a:gridCol>
                <a:gridCol w="2187733">
                  <a:extLst>
                    <a:ext uri="{9D8B030D-6E8A-4147-A177-3AD203B41FA5}">
                      <a16:colId xmlns:a16="http://schemas.microsoft.com/office/drawing/2014/main" val="3463224723"/>
                    </a:ext>
                  </a:extLst>
                </a:gridCol>
                <a:gridCol w="2063606">
                  <a:extLst>
                    <a:ext uri="{9D8B030D-6E8A-4147-A177-3AD203B41FA5}">
                      <a16:colId xmlns:a16="http://schemas.microsoft.com/office/drawing/2014/main" val="2814652135"/>
                    </a:ext>
                  </a:extLst>
                </a:gridCol>
                <a:gridCol w="2296341">
                  <a:extLst>
                    <a:ext uri="{9D8B030D-6E8A-4147-A177-3AD203B41FA5}">
                      <a16:colId xmlns:a16="http://schemas.microsoft.com/office/drawing/2014/main" val="1376773509"/>
                    </a:ext>
                  </a:extLst>
                </a:gridCol>
              </a:tblGrid>
              <a:tr h="883374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India – Domestic Operator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ST Telemedia Global Data Centres (STT GDC)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/ Singapore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Pure-play carrier-neutral colocation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Market Co-Leader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(Expanding footprint + Kolkata expansion)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(Active multi-million dollar retrofit for direct-to-chip cooling)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821005"/>
                  </a:ext>
                </a:extLst>
              </a:tr>
              <a:tr h="709285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India – Domestic Operator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NTT Global Data Centers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Japan / 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Managed IT &amp; Wholesale colocation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Market Co-Leader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(Active 400 MW AI partnership with Neysa)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(Enterprise liquid-cooling clusters)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725673"/>
                  </a:ext>
                </a:extLst>
              </a:tr>
              <a:tr h="762445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– Domestic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CtrlS Datacenters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Enterprise &amp; Tier-4 premium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Strong Defensive Expansion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(612 MW flagship facility in Hyderabad)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(40 kW to 80 kW high-density racks with immersion loops)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61025"/>
                  </a:ext>
                </a:extLst>
              </a:tr>
              <a:tr h="762445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India – Domestic Operator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AdaniConEx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Greenfield Infrastructure &amp; Energy JV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Massive Scaling Threat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(Building up a multi-decade $100B footprint)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(100% backward-integrated green captive energy loops)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753786"/>
                  </a:ext>
                </a:extLst>
              </a:tr>
              <a:tr h="762445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– Domestic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Reliance Industries (Jio)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Telecom-integrated platform owner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Mega Infrastructure Engine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(Building the Jamnagar and Vizag nodes)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Very High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(Host to Meta’s primary Indian AI data core)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998500"/>
                  </a:ext>
                </a:extLst>
              </a:tr>
              <a:tr h="8833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– Domestic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Yotta Data Services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High-Performance Sovereign Cloud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Specialized AI Cloud Provider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(Preparing a $900M domestic IPO)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Extremely High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(One of the largest sovereign distributors of NVIDIA GPU setups)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3055598"/>
                  </a:ext>
                </a:extLst>
              </a:tr>
              <a:tr h="762445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– Domestic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Nxtra Data (Bharti Airtel)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Telecom-linked data infrastructure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Edge-Network Leader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(Active Tier-2/Tier-3 city edge node rollout)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Medium</a:t>
                      </a:r>
                    </a:p>
                    <a:p>
                      <a:pPr rtl="0"/>
                      <a:br>
                        <a:rPr lang="en-US" sz="1200">
                          <a:effectLst/>
                        </a:rPr>
                      </a:br>
                      <a:r>
                        <a:rPr lang="en-US" sz="1200">
                          <a:effectLst/>
                        </a:rPr>
                        <a:t>(Focused on 5G FWA and ultra-low latency data routing)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29103"/>
                  </a:ext>
                </a:extLst>
              </a:tr>
              <a:tr h="762445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 – Domestic Operator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RackBank Datacenters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Custom Green AI Infrastructure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Active Niche Disruptor</a:t>
                      </a:r>
                    </a:p>
                    <a:p>
                      <a:pPr rtl="0"/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(Building the AI Data Centre Park in Raipur)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Extremely High</a:t>
                      </a:r>
                    </a:p>
                    <a:p>
                      <a:pPr rtl="0"/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(Patented liquid immersion tech for 80kW+ server setups)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86" marR="10186" marT="6791" marB="67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74286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775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90E0E-9321-4B5A-9F81-7F63B6A59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82" y="20179"/>
            <a:ext cx="8911687" cy="711341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Market Opportunity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848B797-E70E-42E8-94EC-DFAD2B637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0069515"/>
              </p:ext>
            </p:extLst>
          </p:nvPr>
        </p:nvGraphicFramePr>
        <p:xfrm>
          <a:off x="405618" y="731521"/>
          <a:ext cx="11600850" cy="5762045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1144194">
                  <a:extLst>
                    <a:ext uri="{9D8B030D-6E8A-4147-A177-3AD203B41FA5}">
                      <a16:colId xmlns:a16="http://schemas.microsoft.com/office/drawing/2014/main" val="2896623315"/>
                    </a:ext>
                  </a:extLst>
                </a:gridCol>
                <a:gridCol w="1049785">
                  <a:extLst>
                    <a:ext uri="{9D8B030D-6E8A-4147-A177-3AD203B41FA5}">
                      <a16:colId xmlns:a16="http://schemas.microsoft.com/office/drawing/2014/main" val="2131608181"/>
                    </a:ext>
                  </a:extLst>
                </a:gridCol>
                <a:gridCol w="1147180">
                  <a:extLst>
                    <a:ext uri="{9D8B030D-6E8A-4147-A177-3AD203B41FA5}">
                      <a16:colId xmlns:a16="http://schemas.microsoft.com/office/drawing/2014/main" val="3910094595"/>
                    </a:ext>
                  </a:extLst>
                </a:gridCol>
                <a:gridCol w="1233217">
                  <a:extLst>
                    <a:ext uri="{9D8B030D-6E8A-4147-A177-3AD203B41FA5}">
                      <a16:colId xmlns:a16="http://schemas.microsoft.com/office/drawing/2014/main" val="2049020950"/>
                    </a:ext>
                  </a:extLst>
                </a:gridCol>
                <a:gridCol w="1190199">
                  <a:extLst>
                    <a:ext uri="{9D8B030D-6E8A-4147-A177-3AD203B41FA5}">
                      <a16:colId xmlns:a16="http://schemas.microsoft.com/office/drawing/2014/main" val="1008721714"/>
                    </a:ext>
                  </a:extLst>
                </a:gridCol>
                <a:gridCol w="1749448">
                  <a:extLst>
                    <a:ext uri="{9D8B030D-6E8A-4147-A177-3AD203B41FA5}">
                      <a16:colId xmlns:a16="http://schemas.microsoft.com/office/drawing/2014/main" val="1003449152"/>
                    </a:ext>
                  </a:extLst>
                </a:gridCol>
                <a:gridCol w="1347936">
                  <a:extLst>
                    <a:ext uri="{9D8B030D-6E8A-4147-A177-3AD203B41FA5}">
                      <a16:colId xmlns:a16="http://schemas.microsoft.com/office/drawing/2014/main" val="584386207"/>
                    </a:ext>
                  </a:extLst>
                </a:gridCol>
                <a:gridCol w="2738891">
                  <a:extLst>
                    <a:ext uri="{9D8B030D-6E8A-4147-A177-3AD203B41FA5}">
                      <a16:colId xmlns:a16="http://schemas.microsoft.com/office/drawing/2014/main" val="3382863761"/>
                    </a:ext>
                  </a:extLst>
                </a:gridCol>
              </a:tblGrid>
              <a:tr h="62700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Segment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Current Market Value (USD)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Projected 2034 Market Value (USD)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Adjusted CAGR (2026–2034)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Current Import Dependency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Dominant India-based Manufacturers / JVs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Major Global Players (Import/Direct)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FR" sz="1200" dirty="0" err="1">
                          <a:effectLst/>
                        </a:rPr>
                        <a:t>Current</a:t>
                      </a:r>
                      <a:r>
                        <a:rPr lang="fr-FR" sz="1200" dirty="0">
                          <a:effectLst/>
                        </a:rPr>
                        <a:t> </a:t>
                      </a:r>
                      <a:r>
                        <a:rPr lang="fr-FR" sz="1200" dirty="0" err="1">
                          <a:effectLst/>
                        </a:rPr>
                        <a:t>Market</a:t>
                      </a:r>
                      <a:r>
                        <a:rPr lang="fr-FR" sz="1200" dirty="0">
                          <a:effectLst/>
                        </a:rPr>
                        <a:t> Trends &amp; Structural Disruptions</a:t>
                      </a:r>
                      <a:endParaRPr lang="fr-FR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957062"/>
                  </a:ext>
                </a:extLst>
              </a:tr>
              <a:tr h="1308774">
                <a:tc>
                  <a:txBody>
                    <a:bodyPr/>
                    <a:lstStyle/>
                    <a:p>
                      <a:pPr rtl="0"/>
                      <a:r>
                        <a:rPr lang="it-IT" sz="1200" dirty="0">
                          <a:effectLst/>
                        </a:rPr>
                        <a:t>Data Centers (Servers &amp; AI Compute)</a:t>
                      </a:r>
                      <a:endParaRPr lang="it-IT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$10.5–11.2 Bn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$41.5–43.0 Bn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25.5% (Driven by Gen-AI spike)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~45–50% (Dropped significantly due to local assembly)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Netweb Technologies (Tyrone ARM &amp; liquid servers), VVDN Technologies (JVs with HPE), Kaynes Technology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NVIDIA, Dell Technologies, Supermicro, Hewlett Packard Enterprise (HPE), Lenovo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The Local AI-Server </a:t>
                      </a:r>
                      <a:r>
                        <a:rPr lang="en-US" sz="1200" dirty="0" err="1">
                          <a:effectLst/>
                        </a:rPr>
                        <a:t>Supercycle</a:t>
                      </a:r>
                      <a:r>
                        <a:rPr lang="en-US" sz="1200" dirty="0">
                          <a:effectLst/>
                        </a:rPr>
                        <a:t>: </a:t>
                      </a:r>
                      <a:r>
                        <a:rPr lang="en-US" sz="1200" dirty="0" err="1">
                          <a:effectLst/>
                        </a:rPr>
                        <a:t>Hyperscalers</a:t>
                      </a:r>
                      <a:r>
                        <a:rPr lang="en-US" sz="1200" dirty="0">
                          <a:effectLst/>
                        </a:rPr>
                        <a:t> are buying specialized GPU clusters. Massive shift from standard x86 architectures to custom high-core ARM nodes assembled locally under PLI schemes.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1711191"/>
                  </a:ext>
                </a:extLst>
              </a:tr>
              <a:tr h="1124212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Networking (Switches/Routers/</a:t>
                      </a:r>
                      <a:r>
                        <a:rPr lang="en-IN" sz="1200" dirty="0" err="1">
                          <a:effectLst/>
                        </a:rPr>
                        <a:t>Fiber</a:t>
                      </a:r>
                      <a:r>
                        <a:rPr lang="en-IN" sz="1200" dirty="0">
                          <a:effectLst/>
                        </a:rPr>
                        <a:t>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$1.85–2.10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$6.2–6.8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16.5%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~55%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Tejas Networks (Tata Group), HFCL, Wistron India (expanding network manufacturing)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Cisco Systems, Arista Networks, Juniper Networks, Huawei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Ultra-Low Latency &amp; 5G FWA: High-speed interconnect architectures (Infiniband and 800G Ethernet switches) are surging to process distributed LLM token pipelines without data-routing bottlenecks.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199027"/>
                  </a:ext>
                </a:extLst>
              </a:tr>
              <a:tr h="1308774"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Power Infrastructure (UPS, PDU, Clean Energy)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$1.60–1.85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$5.8–6.4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18.2%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~35%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Schneider Electric India (expanded local plants), Delta Electronics India, Kirloskar Oil Engines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Vertiv, ABB, Eaton Corporation, Caterpillar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Sovereign Microgrids &amp; ESG Mandates: Shift toward mega-scale modular busways and green intelligent PDUs. Driven by India's Green Open Access policy, facilities are connecting directly to captive solar/wind grids.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0256571"/>
                  </a:ext>
                </a:extLst>
              </a:tr>
              <a:tr h="1393281"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Cooling Solutions (Liquid, Direct-to-Chip, HVAC)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$1.20–1.45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$7.5–8.2 Bn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28.4% (Highest growing segment)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~40%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Blue Star, Voltas, Schneider India, Vertiv India (local thermal manufacturing)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STULZ, Rittal, Vertiv Global, Danfoss, Boyd Corporation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The Death of Traditional Air Cooling: Because AI chips generate intense thermal footprints, standard CRAC systems have been replaced. Massive capex is pouring into Direct-to-Chip (D2C) cold plates and rear-door heat exchangers.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2516" marR="12516" marT="8344" marB="83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3481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24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67B74-49E4-48DE-85DC-119140872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666" y="146406"/>
            <a:ext cx="3463318" cy="582464"/>
          </a:xfrm>
        </p:spPr>
        <p:txBody>
          <a:bodyPr>
            <a:noAutofit/>
          </a:bodyPr>
          <a:lstStyle/>
          <a:p>
            <a:r>
              <a:rPr lang="en-US" sz="2800" b="1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Market Opportunity</a:t>
            </a:r>
            <a:endParaRPr lang="en-IN" sz="2800" b="1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6AF89F-11D6-4C67-915E-322EAC648B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4364508"/>
              </p:ext>
            </p:extLst>
          </p:nvPr>
        </p:nvGraphicFramePr>
        <p:xfrm>
          <a:off x="371063" y="1132431"/>
          <a:ext cx="11728171" cy="5579163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516833">
                  <a:extLst>
                    <a:ext uri="{9D8B030D-6E8A-4147-A177-3AD203B41FA5}">
                      <a16:colId xmlns:a16="http://schemas.microsoft.com/office/drawing/2014/main" val="2599143748"/>
                    </a:ext>
                  </a:extLst>
                </a:gridCol>
                <a:gridCol w="861392">
                  <a:extLst>
                    <a:ext uri="{9D8B030D-6E8A-4147-A177-3AD203B41FA5}">
                      <a16:colId xmlns:a16="http://schemas.microsoft.com/office/drawing/2014/main" val="2594915008"/>
                    </a:ext>
                  </a:extLst>
                </a:gridCol>
                <a:gridCol w="1019779">
                  <a:extLst>
                    <a:ext uri="{9D8B030D-6E8A-4147-A177-3AD203B41FA5}">
                      <a16:colId xmlns:a16="http://schemas.microsoft.com/office/drawing/2014/main" val="1189297577"/>
                    </a:ext>
                  </a:extLst>
                </a:gridCol>
                <a:gridCol w="1254130">
                  <a:extLst>
                    <a:ext uri="{9D8B030D-6E8A-4147-A177-3AD203B41FA5}">
                      <a16:colId xmlns:a16="http://schemas.microsoft.com/office/drawing/2014/main" val="3518776138"/>
                    </a:ext>
                  </a:extLst>
                </a:gridCol>
                <a:gridCol w="826898">
                  <a:extLst>
                    <a:ext uri="{9D8B030D-6E8A-4147-A177-3AD203B41FA5}">
                      <a16:colId xmlns:a16="http://schemas.microsoft.com/office/drawing/2014/main" val="1841499764"/>
                    </a:ext>
                  </a:extLst>
                </a:gridCol>
                <a:gridCol w="882025">
                  <a:extLst>
                    <a:ext uri="{9D8B030D-6E8A-4147-A177-3AD203B41FA5}">
                      <a16:colId xmlns:a16="http://schemas.microsoft.com/office/drawing/2014/main" val="1186019336"/>
                    </a:ext>
                  </a:extLst>
                </a:gridCol>
                <a:gridCol w="964715">
                  <a:extLst>
                    <a:ext uri="{9D8B030D-6E8A-4147-A177-3AD203B41FA5}">
                      <a16:colId xmlns:a16="http://schemas.microsoft.com/office/drawing/2014/main" val="3803911074"/>
                    </a:ext>
                  </a:extLst>
                </a:gridCol>
                <a:gridCol w="2480696">
                  <a:extLst>
                    <a:ext uri="{9D8B030D-6E8A-4147-A177-3AD203B41FA5}">
                      <a16:colId xmlns:a16="http://schemas.microsoft.com/office/drawing/2014/main" val="798040289"/>
                    </a:ext>
                  </a:extLst>
                </a:gridCol>
                <a:gridCol w="2921703">
                  <a:extLst>
                    <a:ext uri="{9D8B030D-6E8A-4147-A177-3AD203B41FA5}">
                      <a16:colId xmlns:a16="http://schemas.microsoft.com/office/drawing/2014/main" val="53546940"/>
                    </a:ext>
                  </a:extLst>
                </a:gridCol>
              </a:tblGrid>
              <a:tr h="560626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Rank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Company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Origin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Core Segment Category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Est. India 2034 TAM (USD)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Est. India Market Share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Segment CAGR (2026–2034)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Current Strategic Focus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 err="1">
                          <a:effectLst/>
                        </a:rPr>
                        <a:t>Salcomp</a:t>
                      </a:r>
                      <a:r>
                        <a:rPr lang="en-US" sz="1200" dirty="0">
                          <a:effectLst/>
                        </a:rPr>
                        <a:t> Strategic Opportunity (Local EMS &amp; Component Play)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20889"/>
                  </a:ext>
                </a:extLst>
              </a:tr>
              <a:tr h="1114477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Dell Technologies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Servers, Storage, Core Enterprise &amp; Edge AI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da-DK" sz="1200">
                          <a:effectLst/>
                        </a:rPr>
                        <a:t>Servers: $22B–$24B</a:t>
                      </a:r>
                    </a:p>
                    <a:p>
                      <a:pPr rtl="0"/>
                      <a:br>
                        <a:rPr lang="da-DK" sz="1200">
                          <a:effectLst/>
                        </a:rPr>
                      </a:br>
                      <a:r>
                        <a:rPr lang="da-DK" sz="1200">
                          <a:effectLst/>
                        </a:rPr>
                        <a:t>Storage: $7B</a:t>
                      </a:r>
                      <a:endParaRPr lang="da-DK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(~26–28%)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22.5%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Assembling AI-first mainstream server blocks locally via domestic manufacturing partners to meet strict public sector localization policies.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Box-Build Optimization: Mass PCBA assembly, sheet-metal server rack enclosures, and localization of high-wattage desktop and rack power adapters.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0573964"/>
                  </a:ext>
                </a:extLst>
              </a:tr>
              <a:tr h="1114477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2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Hewlett Packard Enterprise (HPE)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Hyperscale Cloud, Storage &amp; High-Performance Compute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da-DK" sz="1200">
                          <a:effectLst/>
                        </a:rPr>
                        <a:t>Servers: $22B–$24B</a:t>
                      </a:r>
                    </a:p>
                    <a:p>
                      <a:pPr rtl="0"/>
                      <a:br>
                        <a:rPr lang="da-DK" sz="1200">
                          <a:effectLst/>
                        </a:rPr>
                      </a:br>
                      <a:r>
                        <a:rPr lang="da-DK" sz="1200">
                          <a:effectLst/>
                        </a:rPr>
                        <a:t>Storage: $7B</a:t>
                      </a:r>
                      <a:endParaRPr lang="da-DK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(~22–25%)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21.8%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Executing massive domestic production through its active manufacturing JV with VVDN Technologies in Chennai.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Thermal Subsystems &amp; SMT Lines: Local SMT (Surface Mount Technology) assembly for server control boards, structural server chassis panels, and thermal chassis mounts.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5509645"/>
                  </a:ext>
                </a:extLst>
              </a:tr>
              <a:tr h="929861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3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Inspur Group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(China)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Hyperscale Clouds &amp; ODM (Original Design Manufacturer) Server Blocks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Restricted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Very Low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(&lt;3%)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Flat / Dropping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Geopolitical constraints have severely choked standard imports into Indian public data cores. Shifting strictly to minor private cloud leases.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Minimal Opportunity: Restricted expansion limits localized volume pipeline potential due to high regulatory risk.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403201"/>
                  </a:ext>
                </a:extLst>
              </a:tr>
              <a:tr h="929861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4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Lenovo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(China)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Cost-Competitive Enterprise &amp; Edge AI Servers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Servers: $22B–$24B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Moderate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(~14–16%)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18.2%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Utilizing local assembly hubs to scale up cost-effective liquid-cooled rack options tailored for regional Tier-2/3 cloud providers.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High-Volume SMT Component Sourcing: Opportunity to handle plastic injection housings, local system integration (FATP), and power line cords.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3846638"/>
                  </a:ext>
                </a:extLst>
              </a:tr>
              <a:tr h="929861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5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Supermicro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High-Density, GPU-Optimized Custom AI Server Blocks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Servers: $22B–$24B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Rapidly Rising</a:t>
                      </a:r>
                    </a:p>
                    <a:p>
                      <a:pPr rtl="0"/>
                      <a:br>
                        <a:rPr lang="en-IN" sz="1200" dirty="0">
                          <a:effectLst/>
                        </a:rPr>
                      </a:br>
                      <a:r>
                        <a:rPr lang="en-IN" sz="1200" dirty="0">
                          <a:effectLst/>
                        </a:rPr>
                        <a:t>(~15–18%)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29.4%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Supplying raw, ultra-dense GPU architectures to major Indian operators (like Yotta and CtrlS) for heavy LLM training models.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High-Density Racks &amp; Custom Busbars: Building heavy metal structural server cages, complex internal structural cable integration, and high-efficiency power distribution assemblies.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872" marR="5872" marT="3914" marB="391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4561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2111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0B5E8CB-29B8-4B63-B4D1-E0A1FD26D1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893142"/>
              </p:ext>
            </p:extLst>
          </p:nvPr>
        </p:nvGraphicFramePr>
        <p:xfrm>
          <a:off x="430698" y="247930"/>
          <a:ext cx="11330604" cy="636214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398693">
                  <a:extLst>
                    <a:ext uri="{9D8B030D-6E8A-4147-A177-3AD203B41FA5}">
                      <a16:colId xmlns:a16="http://schemas.microsoft.com/office/drawing/2014/main" val="62329665"/>
                    </a:ext>
                  </a:extLst>
                </a:gridCol>
                <a:gridCol w="1054608">
                  <a:extLst>
                    <a:ext uri="{9D8B030D-6E8A-4147-A177-3AD203B41FA5}">
                      <a16:colId xmlns:a16="http://schemas.microsoft.com/office/drawing/2014/main" val="3489876474"/>
                    </a:ext>
                  </a:extLst>
                </a:gridCol>
                <a:gridCol w="1067470">
                  <a:extLst>
                    <a:ext uri="{9D8B030D-6E8A-4147-A177-3AD203B41FA5}">
                      <a16:colId xmlns:a16="http://schemas.microsoft.com/office/drawing/2014/main" val="2752855129"/>
                    </a:ext>
                  </a:extLst>
                </a:gridCol>
                <a:gridCol w="1196080">
                  <a:extLst>
                    <a:ext uri="{9D8B030D-6E8A-4147-A177-3AD203B41FA5}">
                      <a16:colId xmlns:a16="http://schemas.microsoft.com/office/drawing/2014/main" val="1879940065"/>
                    </a:ext>
                  </a:extLst>
                </a:gridCol>
                <a:gridCol w="1543329">
                  <a:extLst>
                    <a:ext uri="{9D8B030D-6E8A-4147-A177-3AD203B41FA5}">
                      <a16:colId xmlns:a16="http://schemas.microsoft.com/office/drawing/2014/main" val="1380853149"/>
                    </a:ext>
                  </a:extLst>
                </a:gridCol>
                <a:gridCol w="1298968">
                  <a:extLst>
                    <a:ext uri="{9D8B030D-6E8A-4147-A177-3AD203B41FA5}">
                      <a16:colId xmlns:a16="http://schemas.microsoft.com/office/drawing/2014/main" val="948951193"/>
                    </a:ext>
                  </a:extLst>
                </a:gridCol>
                <a:gridCol w="696415">
                  <a:extLst>
                    <a:ext uri="{9D8B030D-6E8A-4147-A177-3AD203B41FA5}">
                      <a16:colId xmlns:a16="http://schemas.microsoft.com/office/drawing/2014/main" val="2637033482"/>
                    </a:ext>
                  </a:extLst>
                </a:gridCol>
                <a:gridCol w="1991552">
                  <a:extLst>
                    <a:ext uri="{9D8B030D-6E8A-4147-A177-3AD203B41FA5}">
                      <a16:colId xmlns:a16="http://schemas.microsoft.com/office/drawing/2014/main" val="106851398"/>
                    </a:ext>
                  </a:extLst>
                </a:gridCol>
                <a:gridCol w="2083489">
                  <a:extLst>
                    <a:ext uri="{9D8B030D-6E8A-4147-A177-3AD203B41FA5}">
                      <a16:colId xmlns:a16="http://schemas.microsoft.com/office/drawing/2014/main" val="1982854919"/>
                    </a:ext>
                  </a:extLst>
                </a:gridCol>
              </a:tblGrid>
              <a:tr h="1241267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6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IBM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Legacy Enterprise Mainframes, Hybrid Cloud &amp; Secure Storage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da-DK" sz="1200">
                          <a:effectLst/>
                        </a:rPr>
                        <a:t>Servers: $18B–$20B</a:t>
                      </a:r>
                    </a:p>
                    <a:p>
                      <a:pPr rtl="0"/>
                      <a:br>
                        <a:rPr lang="da-DK" sz="1200">
                          <a:effectLst/>
                        </a:rPr>
                      </a:br>
                      <a:r>
                        <a:rPr lang="da-DK" sz="1200">
                          <a:effectLst/>
                        </a:rPr>
                        <a:t>Storage: $7B</a:t>
                      </a:r>
                      <a:endParaRPr lang="da-DK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Low–Mid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(~6–8%)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11.5%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Migrating banking, financial services (BFSI), and enterprise mainframes into localized, ultra-secure hybrid cloud setups.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Selective High-Precision Integration: Manufacturing high-reliability multilayer PCBs, advanced copper-core wiring paths, and secure metal enclosures.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7618599"/>
                  </a:ext>
                </a:extLst>
              </a:tr>
              <a:tr h="1324476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7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Cisco Systems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Enterprise Networking, Intelligent AI Fabrics &amp; Core Switches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Networking (TAM): $6.2B–$6.8B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(~32–35%)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16.5%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Moving production directly to India to build advanced 800G high-speed Ethernet fabrics to link massive GPU blocks without latency drops.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Redundant Power Supplies (CRPS): Supplying Salcomp's specialized CRPS Series (800W to 4000W) front-end power modules. Manufacturing mechanical subassemblies and shielding.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9888295"/>
                  </a:ext>
                </a:extLst>
              </a:tr>
              <a:tr h="1241267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8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Arista Networks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Hyperscale Data Center Switching &amp; Software Networks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Networking (TAM): $6.2B–$6.8B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Moderate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(~18–20%)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20.5%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Capturing cloud-native spaces by deploying advanced AI spine-and-leaf network layouts for direct hyper-scaler estates.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Network Enclosures &amp; High-Precision EMS: Local structural casing assembly, complex connector overmolding, and intermediate power board layouts.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0186204"/>
                  </a:ext>
                </a:extLst>
              </a:tr>
              <a:tr h="1087480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9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NetApp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(USA)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High-Performance AI Data Management &amp; Flash Storage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Storage (TAM): $7.5B–$8.2B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Moderate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(~22–24%)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15.0%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Standardizing massive all-flash arrays explicitly configured to feed data continuously into multi-gigawatt AI training farms.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Storage Chassis Assembly: Heavy mass-manufacturing of drive trays, cold-rolled steel storage arrays, internal power links, and fan tray assemblies.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3529630"/>
                  </a:ext>
                </a:extLst>
              </a:tr>
              <a:tr h="1241267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10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Huawei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Global (China)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Telecom Infrastructure, Storage &amp; Cloud Networks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Restricted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Negligible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(&lt;1%)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None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Effectively locked out of the core national data grid due to geopolitical mandates, focusing strictly on small legacy enterprise maintenance.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Zero Target Opportunity: Heavy compliance blocks prevent local contract expansions.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9782" marR="9782" marT="6521" marB="65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43365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9163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AF958-994D-4366-88D4-04DBB9F03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612" y="0"/>
            <a:ext cx="8911687" cy="43606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Global Market Opportunity</a:t>
            </a: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EDFCF5-25E4-4B8D-82A8-A5D188B650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9224446"/>
              </p:ext>
            </p:extLst>
          </p:nvPr>
        </p:nvGraphicFramePr>
        <p:xfrm>
          <a:off x="397565" y="595090"/>
          <a:ext cx="11582400" cy="5980353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490330">
                  <a:extLst>
                    <a:ext uri="{9D8B030D-6E8A-4147-A177-3AD203B41FA5}">
                      <a16:colId xmlns:a16="http://schemas.microsoft.com/office/drawing/2014/main" val="3519118062"/>
                    </a:ext>
                  </a:extLst>
                </a:gridCol>
                <a:gridCol w="1046109">
                  <a:extLst>
                    <a:ext uri="{9D8B030D-6E8A-4147-A177-3AD203B41FA5}">
                      <a16:colId xmlns:a16="http://schemas.microsoft.com/office/drawing/2014/main" val="3383101321"/>
                    </a:ext>
                  </a:extLst>
                </a:gridCol>
                <a:gridCol w="604071">
                  <a:extLst>
                    <a:ext uri="{9D8B030D-6E8A-4147-A177-3AD203B41FA5}">
                      <a16:colId xmlns:a16="http://schemas.microsoft.com/office/drawing/2014/main" val="750319875"/>
                    </a:ext>
                  </a:extLst>
                </a:gridCol>
                <a:gridCol w="1331560">
                  <a:extLst>
                    <a:ext uri="{9D8B030D-6E8A-4147-A177-3AD203B41FA5}">
                      <a16:colId xmlns:a16="http://schemas.microsoft.com/office/drawing/2014/main" val="2594494614"/>
                    </a:ext>
                  </a:extLst>
                </a:gridCol>
                <a:gridCol w="834887">
                  <a:extLst>
                    <a:ext uri="{9D8B030D-6E8A-4147-A177-3AD203B41FA5}">
                      <a16:colId xmlns:a16="http://schemas.microsoft.com/office/drawing/2014/main" val="4104152912"/>
                    </a:ext>
                  </a:extLst>
                </a:gridCol>
                <a:gridCol w="768626">
                  <a:extLst>
                    <a:ext uri="{9D8B030D-6E8A-4147-A177-3AD203B41FA5}">
                      <a16:colId xmlns:a16="http://schemas.microsoft.com/office/drawing/2014/main" val="2923287028"/>
                    </a:ext>
                  </a:extLst>
                </a:gridCol>
                <a:gridCol w="1083311">
                  <a:extLst>
                    <a:ext uri="{9D8B030D-6E8A-4147-A177-3AD203B41FA5}">
                      <a16:colId xmlns:a16="http://schemas.microsoft.com/office/drawing/2014/main" val="2420827904"/>
                    </a:ext>
                  </a:extLst>
                </a:gridCol>
                <a:gridCol w="1063540">
                  <a:extLst>
                    <a:ext uri="{9D8B030D-6E8A-4147-A177-3AD203B41FA5}">
                      <a16:colId xmlns:a16="http://schemas.microsoft.com/office/drawing/2014/main" val="563526321"/>
                    </a:ext>
                  </a:extLst>
                </a:gridCol>
                <a:gridCol w="4359966">
                  <a:extLst>
                    <a:ext uri="{9D8B030D-6E8A-4147-A177-3AD203B41FA5}">
                      <a16:colId xmlns:a16="http://schemas.microsoft.com/office/drawing/2014/main" val="3014066326"/>
                    </a:ext>
                  </a:extLst>
                </a:gridCol>
              </a:tblGrid>
              <a:tr h="928257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Global Rank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Company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Origin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Segment Category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India 2026 Opportunity (USD)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Adjusted Segment CAGR ('26–'30)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Current Global Market Share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Salcomp Opportunity Rating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Updated Specific Target Opportunity for </a:t>
                      </a:r>
                      <a:r>
                        <a:rPr lang="en-US" sz="1100" dirty="0" err="1">
                          <a:effectLst/>
                        </a:rPr>
                        <a:t>Salcomp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02911"/>
                  </a:ext>
                </a:extLst>
              </a:tr>
              <a:tr h="40402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NVIDIA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100">
                          <a:effectLst/>
                        </a:rPr>
                        <a:t>AI Compute (GPU, Tensers, Accel)</a:t>
                      </a:r>
                      <a:endParaRPr lang="it-IT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$4.8–5.2 Bn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35%+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~85–90% (AI GPUs)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Low (Direct)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Custom sheet-metal GPU tray enclosures, structural </a:t>
                      </a:r>
                      <a:r>
                        <a:rPr lang="en-US" sz="1100" dirty="0" err="1">
                          <a:effectLst/>
                        </a:rPr>
                        <a:t>structural</a:t>
                      </a:r>
                      <a:r>
                        <a:rPr lang="en-US" sz="1100" dirty="0">
                          <a:effectLst/>
                        </a:rPr>
                        <a:t> busbars, and precision mechanical stiffeners.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052287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2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Dell Technologies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USA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AI Servers &amp; Enterprise Storage Systems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$3.2–3.6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18%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~18–20% (Servers)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Medium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Turnkey server rack frame integration, CRPS box-builds, and high-amperage internal wiring harnesses.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6987030"/>
                  </a:ext>
                </a:extLst>
              </a:tr>
              <a:tr h="40402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3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HPE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100">
                          <a:effectLst/>
                        </a:rPr>
                        <a:t>AI Servers, Edge Nodes &amp; AI Fabrics</a:t>
                      </a:r>
                      <a:endParaRPr lang="it-IT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$2.6–3.0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18%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~15% (Servers)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Medium–High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Localizing complete SMT board assembly, structural mechanical bracing, and sub-chassis frame panels.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615739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4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Supermicro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GPU-Dense Application Optimized Servers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$2.4–2.8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30%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~14–16% (AI Servers)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High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Heavy system box-builds, complex multi-tier internal cable routing, and dense modular power shelf assemblies.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1364701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5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Lenovo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China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Cost-Effective Cloud &amp; Enterprise Compute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$1.6–1.9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16%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~12–14% (Servers)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Medium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Automated high-volume component placement, plastic structural moldings, and backplane connect </a:t>
                      </a:r>
                      <a:r>
                        <a:rPr lang="en-US" sz="1100" dirty="0" err="1">
                          <a:effectLst/>
                        </a:rPr>
                        <a:t>overmolding</a:t>
                      </a:r>
                      <a:r>
                        <a:rPr lang="en-US" sz="1100" dirty="0">
                          <a:effectLst/>
                        </a:rPr>
                        <a:t>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8679738"/>
                  </a:ext>
                </a:extLst>
              </a:tr>
              <a:tr h="502354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6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Vertiv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Liquid Cooling Loops &amp; Smart Power Infra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$2.2–2.5 Bn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26%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~25–28% (DC Power/Cooling)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Very High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High-density Intelligent Power Distribution Units (iPDUs), power shelving, and cold-plate copper tubing assemblies.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2518800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7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Schneider Electric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France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High-Capacity Grid Influx &amp; Industrial Cooling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$2.4–2.7 Bn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24%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~22% (DC Infra)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 dirty="0">
                          <a:effectLst/>
                        </a:rPr>
                        <a:t>Very High</a:t>
                      </a:r>
                      <a:endParaRPr lang="en-IN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Advanced power electronics subassemblies, complex structural control cabinets, and busway lines.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0582814"/>
                  </a:ext>
                </a:extLst>
              </a:tr>
              <a:tr h="502354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8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Eaton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Ireland / 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Modular UPS Systems &amp; Power Solutions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$1.5–1.8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20%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~12–14% (UPS Power)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High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Precision Common Redundant Power Supply (CRPS) subassembly, magnetic component winding, and localized casing stamping.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175114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9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STULZ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Germany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Advanced CRAC &amp; Close-Coupled Liquid Cooling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$1.4–1.7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28%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~16% (DC Thermal)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High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Assembly of Rear-Door Heat Exchangers (RDHx), fluid distribution manifolds, and custom pump chassis mounts.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042769"/>
                  </a:ext>
                </a:extLst>
              </a:tr>
              <a:tr h="535080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10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Cisco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USA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800G Ethernet Switches &amp; Low-Latency AI Fabrics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$1.6–1.9 Bn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15%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~38% (DC Networking)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Medium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Manufacturing complex network interface card (NIC) housings, localized high-efficiency internal power modules, and sheet-metal switch casings.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401" marR="10401" marT="6934" marB="69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7004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9184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8E51A-9FE7-46D9-B6F1-8A574CBF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8123" y="0"/>
            <a:ext cx="10381957" cy="895201"/>
          </a:xfrm>
        </p:spPr>
        <p:txBody>
          <a:bodyPr>
            <a:noAutofit/>
          </a:bodyPr>
          <a:lstStyle/>
          <a:p>
            <a:r>
              <a:rPr lang="en-US" sz="2800" dirty="0"/>
              <a:t>India Data Center Market: Upcoming Mega-Investments &amp; Projections</a:t>
            </a: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A70408F-7558-4153-BBEF-478E4A811A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5062925"/>
              </p:ext>
            </p:extLst>
          </p:nvPr>
        </p:nvGraphicFramePr>
        <p:xfrm>
          <a:off x="339255" y="895201"/>
          <a:ext cx="11513489" cy="5741994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788786">
                  <a:extLst>
                    <a:ext uri="{9D8B030D-6E8A-4147-A177-3AD203B41FA5}">
                      <a16:colId xmlns:a16="http://schemas.microsoft.com/office/drawing/2014/main" val="1511938116"/>
                    </a:ext>
                  </a:extLst>
                </a:gridCol>
                <a:gridCol w="2269485">
                  <a:extLst>
                    <a:ext uri="{9D8B030D-6E8A-4147-A177-3AD203B41FA5}">
                      <a16:colId xmlns:a16="http://schemas.microsoft.com/office/drawing/2014/main" val="2449590952"/>
                    </a:ext>
                  </a:extLst>
                </a:gridCol>
                <a:gridCol w="1195677">
                  <a:extLst>
                    <a:ext uri="{9D8B030D-6E8A-4147-A177-3AD203B41FA5}">
                      <a16:colId xmlns:a16="http://schemas.microsoft.com/office/drawing/2014/main" val="4083497486"/>
                    </a:ext>
                  </a:extLst>
                </a:gridCol>
                <a:gridCol w="1881809">
                  <a:extLst>
                    <a:ext uri="{9D8B030D-6E8A-4147-A177-3AD203B41FA5}">
                      <a16:colId xmlns:a16="http://schemas.microsoft.com/office/drawing/2014/main" val="282860634"/>
                    </a:ext>
                  </a:extLst>
                </a:gridCol>
                <a:gridCol w="1793607">
                  <a:extLst>
                    <a:ext uri="{9D8B030D-6E8A-4147-A177-3AD203B41FA5}">
                      <a16:colId xmlns:a16="http://schemas.microsoft.com/office/drawing/2014/main" val="2687789023"/>
                    </a:ext>
                  </a:extLst>
                </a:gridCol>
                <a:gridCol w="3584125">
                  <a:extLst>
                    <a:ext uri="{9D8B030D-6E8A-4147-A177-3AD203B41FA5}">
                      <a16:colId xmlns:a16="http://schemas.microsoft.com/office/drawing/2014/main" val="2526404173"/>
                    </a:ext>
                  </a:extLst>
                </a:gridCol>
              </a:tblGrid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Projected Rank (By 2034)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Upcoming / Investing Company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Projected 2030–2034 Capacity (GW)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/>
                        <a:t>Projected Market Share (By 2034 Pipeline CapEx)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Latest Investment Commitment ($M / ₹ Crore)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Primary Strategic Focus &amp; AI Tech Shift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843611"/>
                  </a:ext>
                </a:extLst>
              </a:tr>
              <a:tr h="375876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 err="1">
                          <a:effectLst/>
                        </a:rPr>
                        <a:t>AirTrunk</a:t>
                      </a:r>
                      <a:r>
                        <a:rPr lang="en-IN" sz="1200" dirty="0">
                          <a:effectLst/>
                        </a:rPr>
                        <a:t> (Global Hyperscale Entrant)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5.0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22% to 25%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$36,000 M</a:t>
                      </a:r>
                    </a:p>
                    <a:p>
                      <a:pPr rtl="0"/>
                      <a:r>
                        <a:rPr lang="en-IN" sz="1200" dirty="0">
                          <a:effectLst/>
                        </a:rPr>
                        <a:t>(₹3,00,000 Crore)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Massive hyper-scale AI infrastructure corridors across major metro regions.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9912772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 err="1">
                          <a:effectLst/>
                        </a:rPr>
                        <a:t>AdaniConex</a:t>
                      </a:r>
                      <a:r>
                        <a:rPr lang="en-IN" sz="1200" dirty="0">
                          <a:effectLst/>
                        </a:rPr>
                        <a:t> (Adani + </a:t>
                      </a:r>
                      <a:r>
                        <a:rPr lang="en-IN" sz="1200" dirty="0" err="1">
                          <a:effectLst/>
                        </a:rPr>
                        <a:t>EdgeConex</a:t>
                      </a:r>
                      <a:r>
                        <a:rPr lang="en-IN" sz="1200" dirty="0">
                          <a:effectLst/>
                        </a:rPr>
                        <a:t> JV)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2.5 to 3.0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18% to 20%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$23,333 M</a:t>
                      </a:r>
                    </a:p>
                    <a:p>
                      <a:pPr rtl="0"/>
                      <a:r>
                        <a:rPr lang="en-US" sz="1200" dirty="0">
                          <a:effectLst/>
                        </a:rPr>
                        <a:t>(Part of $16.7B Google Tie-up)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High-density GPU clustering, massive greenfield sites with backward-integrated captive renewable energy.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460862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3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Reliance Industries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3.0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15% to 17%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it-IT" sz="1200" dirty="0">
                          <a:effectLst/>
                        </a:rPr>
                        <a:t>$22,222 M</a:t>
                      </a:r>
                    </a:p>
                    <a:p>
                      <a:pPr rtl="0"/>
                      <a:br>
                        <a:rPr lang="it-IT" sz="1200" dirty="0">
                          <a:effectLst/>
                        </a:rPr>
                      </a:br>
                      <a:r>
                        <a:rPr lang="it-IT" sz="1200" dirty="0">
                          <a:effectLst/>
                        </a:rPr>
                        <a:t>(₹1.8 Lakh Crore)</a:t>
                      </a:r>
                      <a:endParaRPr lang="it-IT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Gigawatt-scale mega campuses in Jamnagar &amp; Visakhapatnam integrated with local 5G FWA edge deployment.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55887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4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Amazon Web Services (AWS)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1.5 to 2.0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10% to 12%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$12,700 M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Sovereign public cloud expansion and dedicated regional cloud nodes (massive footprint in Hyderabad).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3843948"/>
                  </a:ext>
                </a:extLst>
              </a:tr>
              <a:tr h="375876"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5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Microsoft 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1.2 to 1.5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11% to 13%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$17,500 M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AI-exclusive self-build data estates explicitly designed for high-density Azure AI workloads.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936667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6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TCS </a:t>
                      </a:r>
                      <a:r>
                        <a:rPr lang="en-IN" sz="1200" dirty="0" err="1">
                          <a:effectLst/>
                        </a:rPr>
                        <a:t>HyperVault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1.2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3% to 5%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$6,667 M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Sovereign cloud frameworks for BFSI &amp; Government sectors complying with strict DPDP localization rules.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42062006"/>
                  </a:ext>
                </a:extLst>
              </a:tr>
              <a:tr h="375876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7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Google Cloud India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6% to 8%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$6,000 M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Greenfield hyperscale facility in Andhra Pradesh and AI cloud localization.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8006843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8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NTT Data &amp; Neysa Networks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0.8 to 1.0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8% to 10%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$1,260 M</a:t>
                      </a:r>
                    </a:p>
                    <a:p>
                      <a:pPr rtl="0"/>
                      <a:br>
                        <a:rPr lang="en-IN" sz="1200">
                          <a:effectLst/>
                        </a:rPr>
                      </a:br>
                      <a:r>
                        <a:rPr lang="en-IN" sz="1200">
                          <a:effectLst/>
                        </a:rPr>
                        <a:t>(₹10,500 Crore MoU)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Co-developed specialized liquid-cooled AI data </a:t>
                      </a:r>
                      <a:r>
                        <a:rPr lang="en-IN" sz="1200" dirty="0" err="1">
                          <a:effectLst/>
                        </a:rPr>
                        <a:t>center</a:t>
                      </a:r>
                      <a:r>
                        <a:rPr lang="en-IN" sz="1200" dirty="0">
                          <a:effectLst/>
                        </a:rPr>
                        <a:t> clusters in Telangana.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10199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9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ST Telemedia Global Service (STT GDC)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0.6 to 0.8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6% to-8%</a:t>
                      </a:r>
                      <a:endParaRPr lang="en-IN" sz="16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$1,500 M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Direct-to-chip liquid cooling deployments, expanding into Eastern India (Kolkata Campus).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8959507"/>
                  </a:ext>
                </a:extLst>
              </a:tr>
              <a:tr h="55167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10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CtrlS Datacenters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0.5 to 0.8 GW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600" dirty="0"/>
                        <a:t>5% to 7%</a:t>
                      </a:r>
                      <a:endParaRPr lang="en-IN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 dirty="0">
                          <a:effectLst/>
                        </a:rPr>
                        <a:t>$1,200 M</a:t>
                      </a:r>
                      <a:endParaRPr lang="en-IN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40 kW high-density racks using advanced immersion cooling to host NVIDIA H100/B200 clusters.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942" marR="18942" marT="12628" marB="126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102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8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B0E-4121-4118-BFA1-702C70D29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912" y="0"/>
            <a:ext cx="3860884" cy="39630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Global Supply Chain</a:t>
            </a:r>
            <a:endParaRPr lang="en-IN" sz="2800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61F8528-D5F5-5552-F77F-5F77AB0979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3924875"/>
              </p:ext>
            </p:extLst>
          </p:nvPr>
        </p:nvGraphicFramePr>
        <p:xfrm>
          <a:off x="350808" y="577972"/>
          <a:ext cx="11490383" cy="6055739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413080">
                  <a:extLst>
                    <a:ext uri="{9D8B030D-6E8A-4147-A177-3AD203B41FA5}">
                      <a16:colId xmlns:a16="http://schemas.microsoft.com/office/drawing/2014/main" val="2127749926"/>
                    </a:ext>
                  </a:extLst>
                </a:gridCol>
                <a:gridCol w="1572169">
                  <a:extLst>
                    <a:ext uri="{9D8B030D-6E8A-4147-A177-3AD203B41FA5}">
                      <a16:colId xmlns:a16="http://schemas.microsoft.com/office/drawing/2014/main" val="494594635"/>
                    </a:ext>
                  </a:extLst>
                </a:gridCol>
                <a:gridCol w="2322590">
                  <a:extLst>
                    <a:ext uri="{9D8B030D-6E8A-4147-A177-3AD203B41FA5}">
                      <a16:colId xmlns:a16="http://schemas.microsoft.com/office/drawing/2014/main" val="3872914597"/>
                    </a:ext>
                  </a:extLst>
                </a:gridCol>
                <a:gridCol w="2369818">
                  <a:extLst>
                    <a:ext uri="{9D8B030D-6E8A-4147-A177-3AD203B41FA5}">
                      <a16:colId xmlns:a16="http://schemas.microsoft.com/office/drawing/2014/main" val="1187671391"/>
                    </a:ext>
                  </a:extLst>
                </a:gridCol>
                <a:gridCol w="2098196">
                  <a:extLst>
                    <a:ext uri="{9D8B030D-6E8A-4147-A177-3AD203B41FA5}">
                      <a16:colId xmlns:a16="http://schemas.microsoft.com/office/drawing/2014/main" val="1045767565"/>
                    </a:ext>
                  </a:extLst>
                </a:gridCol>
                <a:gridCol w="2714530">
                  <a:extLst>
                    <a:ext uri="{9D8B030D-6E8A-4147-A177-3AD203B41FA5}">
                      <a16:colId xmlns:a16="http://schemas.microsoft.com/office/drawing/2014/main" val="4181714071"/>
                    </a:ext>
                  </a:extLst>
                </a:gridCol>
              </a:tblGrid>
              <a:tr h="45152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S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No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Upcoming / Investing Company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Core Subsystems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Primary Layer 2 OEMs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Layer 1 Sub-Component Suppliers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Downstream Assemblers / Integrators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461137"/>
                  </a:ext>
                </a:extLst>
              </a:tr>
              <a:tr h="115919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AirTrunk</a:t>
                      </a: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 (Blackstone Portfolio)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Heavy Power Substation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Liquid Chillers &amp; CRAHs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Core Network Fabric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Hitachi Energy / Siemens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Vertiv / Stulz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Cisco / Arista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Nippon Steel (CRGO Steel)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Danfoss (Compressor Blocks)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Broadcom (Switching ASICs)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Lumina </a:t>
                      </a:r>
                      <a:r>
                        <a:rPr lang="en-IN" sz="1200" b="1" dirty="0" err="1">
                          <a:solidFill>
                            <a:schemeClr val="bg1"/>
                          </a:solidFill>
                          <a:effectLst/>
                        </a:rPr>
                        <a:t>CloudInfra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(Acquired domestic development &amp; structural assembly division).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5462804"/>
                  </a:ext>
                </a:extLst>
              </a:tr>
              <a:tr h="115919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AdaniConneX</a:t>
                      </a: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 (Adani + EdgeConneX)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On-site Green MV Grid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Modular Li-ion UPS Systems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Gensets &amp; Cooling Loop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Hitachi Energy / Siemens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Vertiv / Schneider Electric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Cummins / Caterpillar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Solvay ($SF_6$ Arc Quenching Gas)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Samsung SDI / CATL (Cells)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Bosch (Engine ECUs / Injectors)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GMMCO / Gainwell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(CAT packaging)</a:t>
                      </a:r>
                    </a:p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L&amp;T E&amp;A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(Custom MV/LV Switchboards)</a:t>
                      </a:r>
                    </a:p>
                    <a:p>
                      <a:pPr rtl="0">
                        <a:buNone/>
                      </a:pPr>
                      <a:r>
                        <a:rPr lang="en-IN" sz="1200" b="1" dirty="0" err="1">
                          <a:solidFill>
                            <a:schemeClr val="bg1"/>
                          </a:solidFill>
                          <a:effectLst/>
                        </a:rPr>
                        <a:t>EdgeOS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(Unified Software Integration)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8109628"/>
                  </a:ext>
                </a:extLst>
              </a:tr>
              <a:tr h="115919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Reliance Industries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5G-FWA Integrated Grid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High-Density Cooling Walls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Secure Perimeter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Siemens / ABB India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Daikin / Trane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Bosch Security / HID Global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JFE Steel (Transformer Sheets)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EBM-Papst (EC Motorized Fans)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Nvidia (CCTV Edge AI Processing)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Jio Infra Engineering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(In-house captive assembly &amp; 5G edge network integration).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4506845"/>
                  </a:ext>
                </a:extLst>
              </a:tr>
              <a:tr h="96742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Amazon Web Services (AWS)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Sovereign Grid Switching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Evaporative Air Systems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Nitro Smart Rack Power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Schneider Electric / Eaton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Munters / Vertiv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Cisco / AWS Custom Hardware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Infineon / Mitsubishi (IGBT Silicon)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CAREL (Microcontrollers)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Marvell (Fiber Transceivers)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Sterling &amp; Wilson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/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Megha Engineering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(Turnkey electro-mechanical EPC site integration).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8991548"/>
                  </a:ext>
                </a:extLst>
              </a:tr>
              <a:tr h="115919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Microsoft India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High-Transient UPS Systems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Direct-to-Chip Liquid Loops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Optical Cross-Connects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Vertiv / Emerson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 err="1">
                          <a:solidFill>
                            <a:schemeClr val="bg1"/>
                          </a:solidFill>
                          <a:effectLst/>
                        </a:rPr>
                        <a:t>CoolIT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Systems / </a:t>
                      </a:r>
                      <a:r>
                        <a:rPr lang="en-IN" sz="1200" dirty="0" err="1">
                          <a:solidFill>
                            <a:schemeClr val="bg1"/>
                          </a:solidFill>
                          <a:effectLst/>
                        </a:rPr>
                        <a:t>Motivair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Juniper Networks / Cisco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LG Energy Solution (UPS Battery Cells)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Wieland (High-Purity Copper Plates)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Finisar (Laser Optics components)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Jones Lang LaSalle (JLL)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/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Schneider Systems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(Advanced hyperscale modular deployment).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6825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64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E25F7AA-B918-B9CB-70F6-C5C47A1225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8683068"/>
              </p:ext>
            </p:extLst>
          </p:nvPr>
        </p:nvGraphicFramePr>
        <p:xfrm>
          <a:off x="311988" y="112141"/>
          <a:ext cx="11568023" cy="6457884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623366">
                  <a:extLst>
                    <a:ext uri="{9D8B030D-6E8A-4147-A177-3AD203B41FA5}">
                      <a16:colId xmlns:a16="http://schemas.microsoft.com/office/drawing/2014/main" val="2858726957"/>
                    </a:ext>
                  </a:extLst>
                </a:gridCol>
                <a:gridCol w="2111207">
                  <a:extLst>
                    <a:ext uri="{9D8B030D-6E8A-4147-A177-3AD203B41FA5}">
                      <a16:colId xmlns:a16="http://schemas.microsoft.com/office/drawing/2014/main" val="2080890707"/>
                    </a:ext>
                  </a:extLst>
                </a:gridCol>
                <a:gridCol w="2087593">
                  <a:extLst>
                    <a:ext uri="{9D8B030D-6E8A-4147-A177-3AD203B41FA5}">
                      <a16:colId xmlns:a16="http://schemas.microsoft.com/office/drawing/2014/main" val="2417472502"/>
                    </a:ext>
                  </a:extLst>
                </a:gridCol>
                <a:gridCol w="2475781">
                  <a:extLst>
                    <a:ext uri="{9D8B030D-6E8A-4147-A177-3AD203B41FA5}">
                      <a16:colId xmlns:a16="http://schemas.microsoft.com/office/drawing/2014/main" val="3796477783"/>
                    </a:ext>
                  </a:extLst>
                </a:gridCol>
                <a:gridCol w="2342072">
                  <a:extLst>
                    <a:ext uri="{9D8B030D-6E8A-4147-A177-3AD203B41FA5}">
                      <a16:colId xmlns:a16="http://schemas.microsoft.com/office/drawing/2014/main" val="2799134735"/>
                    </a:ext>
                  </a:extLst>
                </a:gridCol>
                <a:gridCol w="1928004">
                  <a:extLst>
                    <a:ext uri="{9D8B030D-6E8A-4147-A177-3AD203B41FA5}">
                      <a16:colId xmlns:a16="http://schemas.microsoft.com/office/drawing/2014/main" val="3176475649"/>
                    </a:ext>
                  </a:extLst>
                </a:gridCol>
              </a:tblGrid>
              <a:tr h="3606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Sno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Upcoming / Investing Company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Core Subsystems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Primary Layer 2 OEMs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Layer 1 Sub-Component Suppliers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Downstream Assemblers / Integrators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265228"/>
                  </a:ext>
                </a:extLst>
              </a:tr>
              <a:tr h="7420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TCS </a:t>
                      </a:r>
                      <a:r>
                        <a:rPr lang="en-IN" sz="1200" b="1" dirty="0" err="1">
                          <a:solidFill>
                            <a:schemeClr val="bg1"/>
                          </a:solidFill>
                          <a:effectLst/>
                        </a:rPr>
                        <a:t>HyperVault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BFSI-Spec Isolated UPS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Precision CRAH Units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Multilayer Vault Access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Eaton / Schneider Electric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Stulz India / Vertiv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Honeywell (VESDA) / Axis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Fuji Electric (Inverter Switching)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 err="1">
                          <a:solidFill>
                            <a:schemeClr val="bg1"/>
                          </a:solidFill>
                          <a:effectLst/>
                        </a:rPr>
                        <a:t>iehl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-Abegg (Precision Fans)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IN" sz="1200" dirty="0" err="1">
                          <a:solidFill>
                            <a:schemeClr val="bg1"/>
                          </a:solidFill>
                          <a:effectLst/>
                        </a:rPr>
                        <a:t>Xtralis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(Laser Smoke Sensing Chambers)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Tata Projects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(Captive internal EPC arm executing all structural panel building and facility assembly).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9825535"/>
                  </a:ext>
                </a:extLst>
              </a:tr>
              <a:tr h="7221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Google Cloud India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Modular High-PUE Power Panels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Custom Chilled Water Plants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Zero-Trust Software Network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Schneider Electric / ABB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Trane / Daikin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Cisco / Google Custom Silicon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Hindalco (99.99% Pure Copper Busbars)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Bitzer (Centrifugal Compressors)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Intel / AMD (Monitoring Nodes)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L&amp;T Construction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/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Honeywell Building Solutions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(Advanced automation integration).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634619"/>
                  </a:ext>
                </a:extLst>
              </a:tr>
              <a:tr h="71223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NTT Data &amp; Neysa Networks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Liquid-Cooled AI Power Blocks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Rear-Door Heat Exchangers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Ultra-Low Latency Fabric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Vertiv / Fuji Electric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Stulz / </a:t>
                      </a:r>
                      <a:r>
                        <a:rPr lang="en-IN" sz="1200" dirty="0" err="1">
                          <a:solidFill>
                            <a:schemeClr val="bg1"/>
                          </a:solidFill>
                          <a:effectLst/>
                        </a:rPr>
                        <a:t>CoolIT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Systems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Arista Networks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Samsung SDI (High-density Li-ion)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Danfoss / Copeland (Compressor parts)</a:t>
                      </a: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Broadcom (Network ASICs)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NTT Global Facilities Division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paired with 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Neysa AI Orchestration software layers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41777"/>
                  </a:ext>
                </a:extLst>
              </a:tr>
              <a:tr h="15911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ST Telemedia GDC (STT GDC)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High-Density 120kW Racks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In-Row &amp; RDHx Liquid Loops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Patented AI IMBS Monitoring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Schneider Electric / Vertiv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Vertiv / Stulz / Motivair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Honeywell / Siemens Building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Infineon Technologies (Power Semiconductors)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EBM-Papst (EC Fans)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Siemens (Programmable Logic Boards)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</a:t>
                      </a: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STT GDC Pune Innovation Lab</a:t>
                      </a: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 (Internal design validation) + regional electrical panel integrators.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908888"/>
                  </a:ext>
                </a:extLst>
              </a:tr>
              <a:tr h="15911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b="1">
                          <a:solidFill>
                            <a:schemeClr val="bg1"/>
                          </a:solidFill>
                          <a:effectLst/>
                        </a:rPr>
                        <a:t>CtrlS Datacenters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40 kW Dual-Fed UPS Paths</a:t>
                      </a:r>
                    </a:p>
                    <a:p>
                      <a:pPr rtl="0">
                        <a:buNone/>
                      </a:pPr>
                      <a:b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Liquid Immersion Coolers</a:t>
                      </a:r>
                    </a:p>
                    <a:p>
                      <a:pPr rtl="0">
                        <a:buNone/>
                      </a:pPr>
                      <a:b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Advanced Fire Suppression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Schneider Electric / ABB India</a:t>
                      </a:r>
                    </a:p>
                    <a:p>
                      <a:pPr rtl="0">
                        <a:buNone/>
                      </a:pPr>
                      <a:b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Green Revolution Cooling (GRC)</a:t>
                      </a:r>
                    </a:p>
                    <a:p>
                      <a:pPr rtl="0">
                        <a:buNone/>
                      </a:pPr>
                      <a:b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Fike / Kidde Gas Systems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Mitsubishi Electric (IGBT Power Modules)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Engineered Dielectric Fluids (3M/Shell)</a:t>
                      </a:r>
                    </a:p>
                    <a:p>
                      <a:pPr rtl="0">
                        <a:buNone/>
                      </a:pPr>
                      <a:b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IN" sz="120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en-IN" sz="1200">
                          <a:solidFill>
                            <a:schemeClr val="bg1"/>
                          </a:solidFill>
                          <a:effectLst/>
                        </a:rPr>
                        <a:t>• Specialty Gas Release Valves</a:t>
                      </a:r>
                      <a:endParaRPr lang="en-IN" sz="12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• </a:t>
                      </a:r>
                      <a:r>
                        <a:rPr lang="en-IN" sz="1200" b="1" dirty="0" err="1">
                          <a:solidFill>
                            <a:schemeClr val="bg1"/>
                          </a:solidFill>
                          <a:effectLst/>
                        </a:rPr>
                        <a:t>CtrlS</a:t>
                      </a:r>
                      <a:r>
                        <a:rPr lang="en-IN" sz="1200" b="1" dirty="0">
                          <a:solidFill>
                            <a:schemeClr val="bg1"/>
                          </a:solidFill>
                          <a:effectLst/>
                        </a:rPr>
                        <a:t> Engineering Division</a:t>
                      </a:r>
                      <a:r>
                        <a:rPr lang="en-IN" sz="1200" dirty="0">
                          <a:solidFill>
                            <a:schemeClr val="bg1"/>
                          </a:solidFill>
                          <a:effectLst/>
                        </a:rPr>
                        <a:t> (Direct modular container assembly and custom cooling tank fabrications).</a:t>
                      </a:r>
                      <a:endParaRPr lang="en-IN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136" marR="7136" marT="4757" marB="4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1245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3896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9E965-E869-485A-8CAC-812EBF817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07275"/>
            <a:ext cx="11463132" cy="581838"/>
          </a:xfrm>
        </p:spPr>
        <p:txBody>
          <a:bodyPr>
            <a:normAutofit fontScale="90000"/>
          </a:bodyPr>
          <a:lstStyle/>
          <a:p>
            <a:r>
              <a:rPr lang="en-US" sz="31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AI Infra | Core manufacturers vs what they make ( India focus )</a:t>
            </a:r>
            <a:br>
              <a:rPr lang="en-US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E370064-3CA9-487F-8C14-5C754F82DB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4938323"/>
              </p:ext>
            </p:extLst>
          </p:nvPr>
        </p:nvGraphicFramePr>
        <p:xfrm>
          <a:off x="450698" y="689114"/>
          <a:ext cx="11463132" cy="6061611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1378226">
                  <a:extLst>
                    <a:ext uri="{9D8B030D-6E8A-4147-A177-3AD203B41FA5}">
                      <a16:colId xmlns:a16="http://schemas.microsoft.com/office/drawing/2014/main" val="1441145868"/>
                    </a:ext>
                  </a:extLst>
                </a:gridCol>
                <a:gridCol w="3498574">
                  <a:extLst>
                    <a:ext uri="{9D8B030D-6E8A-4147-A177-3AD203B41FA5}">
                      <a16:colId xmlns:a16="http://schemas.microsoft.com/office/drawing/2014/main" val="2556710319"/>
                    </a:ext>
                  </a:extLst>
                </a:gridCol>
                <a:gridCol w="3472069">
                  <a:extLst>
                    <a:ext uri="{9D8B030D-6E8A-4147-A177-3AD203B41FA5}">
                      <a16:colId xmlns:a16="http://schemas.microsoft.com/office/drawing/2014/main" val="3485762666"/>
                    </a:ext>
                  </a:extLst>
                </a:gridCol>
                <a:gridCol w="3114263">
                  <a:extLst>
                    <a:ext uri="{9D8B030D-6E8A-4147-A177-3AD203B41FA5}">
                      <a16:colId xmlns:a16="http://schemas.microsoft.com/office/drawing/2014/main" val="1050170784"/>
                    </a:ext>
                  </a:extLst>
                </a:gridCol>
              </a:tblGrid>
              <a:tr h="374257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Core Infrastructure Manufacturer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What They Manufacture for AI Infrastructure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Global / India Market Trend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Matching High-Growth Product Area in Local Manufacturing Portfolio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142361"/>
                  </a:ext>
                </a:extLst>
              </a:tr>
              <a:tr h="593948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Vertiv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Hyperscale power architectures, dense busways, Coolant Distribution Units (CDUs), and localized manifold blocks.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Explosive Expansion: Operating massive factories in India; aggressively scaling production of liquid-cooling loops to meet multi-gigawatt pipelines.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CCU (Close Control Unit) engineering, high-efficiency cold-plate assemblies, and modular integrated rack-cooling chassis.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230759"/>
                  </a:ext>
                </a:extLst>
              </a:tr>
              <a:tr h="548626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Eaton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High-density rack PDUs, busway connectors, heavy-duty power modules, and intelligent hot-swappable power inputs.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 Growth: Scaling local production facilities to supply critical power blocks to Tier-4 banking and corporate clouds.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Intelligent PDU output sockets, heavy-gauge copper input connector sets, and solid-state power switches.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2941108"/>
                  </a:ext>
                </a:extLst>
              </a:tr>
              <a:tr h="593948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Inficon (India EMS / Specialized EMS)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Complex PCB assembly (PCBA), embedded controller architectures, system monitoring firmware, and structural signal diagnostics.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Steady Technical Rise: Increasing complexity of internal controller logic to track real-time liquid flow, pressure, and thermal loads.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High-reliability Intelligent PDU controllers, multi-layer CCU control boards, and micro-controller assembly lines.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0596676"/>
                  </a:ext>
                </a:extLst>
              </a:tr>
              <a:tr h="593948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Flex / Major Global EMS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Full turnkey box-builds, mechatronics integration, power shelves, and complex fluid-handling chassis builds.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Consolidating Power: Acting as the primary outsourced assembly backbone for massive global infrastructure brands on Indian soil.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Turnkey backup electronics assembly for PDUs/CCUs; high-tolerance structural liquid-cooling sub-chassis frames.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8676822"/>
                  </a:ext>
                </a:extLst>
              </a:tr>
              <a:tr h="722996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Grundfos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High-reliability fluid circulation pumps and dedicated pump-motor blocks designed for continuous data-center cooling loops.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Critical Demand: Shifting from standard HVAC infrastructure to manufacturing precision variable-speed pumps for localized liquid-cooling manifolds.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High-pressure, leak-free CCU coolant circulation pump components and variable-frequency drive (VFD) enclosures.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9095359"/>
                  </a:ext>
                </a:extLst>
              </a:tr>
              <a:tr h="722996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Modine / Boyd Corporation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Liquid-to-Air/Liquid-to-Liquid plate-frame and tube-fin heat exchangers, micro-channel cold plates, and vapor chambers.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 Density Supercycle: Traditional heat sinks are obsolete. Demand for micro-machined copper cold plates and rear-door heat exchangers (RDHx) has surged.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Cold plate core machining, complex vapor chamber stamping, and multi-tier radiator structural frames.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3311697"/>
                  </a:ext>
                </a:extLst>
              </a:tr>
              <a:tr h="593948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Submer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Modular liquid immersion cooling tanks and proprietary eco-friendly dielectric fluids for heavy multi-megawatt AI farms.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Niche to Mainstream: Shifting from experimental pilots to active deployments in dedicated "AI Factories" (such as RackBank's Raipur campus).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Heavy-gauge steel Phase-3 liquid immersion tanks, custom fluid sealing gaskets, and busbar isolation panels.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853657"/>
                  </a:ext>
                </a:extLst>
              </a:tr>
              <a:tr h="593948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Honeywell / ABB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Industrial-grade IoT smart sensors, flow meters, differential pressure gauges, and automated digital controls.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Hyper-Automation: AI facilities require strict, millisecond-level telemetry monitoring to instantly detect micro-leaks or localized thermal spikes.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High-precision digital temperature, pressure, and fluid-flow sensor sub-assemblies integrated into PDUs and tanks.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767148"/>
                  </a:ext>
                </a:extLst>
              </a:tr>
              <a:tr h="722996">
                <a:tc>
                  <a:txBody>
                    <a:bodyPr/>
                    <a:lstStyle/>
                    <a:p>
                      <a:pPr rtl="0"/>
                      <a:r>
                        <a:rPr lang="en-IN" sz="1100">
                          <a:effectLst/>
                        </a:rPr>
                        <a:t>Parker Hannifin / Danfoss</a:t>
                      </a:r>
                      <a:endParaRPr lang="en-IN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High-performance fluid-handling components: ultra-reliable braided hoses, quick-disconnect (QD) couplings, and control valves.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>
                          <a:effectLst/>
                        </a:rPr>
                        <a:t>Zero-Tolerance Quality Play: Quick-disconnect couplings must be completely drip-free to prevent fluid from destroying adjacent high-value GPU silicon.</a:t>
                      </a:r>
                      <a:endParaRPr lang="en-US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100" dirty="0">
                          <a:effectLst/>
                        </a:rPr>
                        <a:t>High-precision CNC-machined CCU hydraulic loop fittings, quick-disconnect internal valves, and distribution manifold joints.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8401" marR="18401" marT="12267" marB="122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333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2328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8EA33D-9825-42FD-BBBA-0202B491ED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89" y="159025"/>
            <a:ext cx="10915990" cy="6162261"/>
          </a:xfrm>
        </p:spPr>
      </p:pic>
    </p:spTree>
    <p:extLst>
      <p:ext uri="{BB962C8B-B14F-4D97-AF65-F5344CB8AC3E}">
        <p14:creationId xmlns:p14="http://schemas.microsoft.com/office/powerpoint/2010/main" val="3794159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955-3D1C-49D1-A843-A4B69238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081" y="0"/>
            <a:ext cx="8911687" cy="608342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</a:rPr>
              <a:t>AI Infra | India Summits &amp; Exhibition (2026) </a:t>
            </a:r>
            <a:br>
              <a:rPr lang="en-US" sz="2800" dirty="0">
                <a:latin typeface="Poppins" panose="02000000000000000000" pitchFamily="2" charset="0"/>
                <a:ea typeface="PMingLiU" panose="02020500000000000000" pitchFamily="18" charset="-120"/>
                <a:cs typeface="Calibri" panose="020F0502020204030204" pitchFamily="34" charset="0"/>
                <a:sym typeface="SF Hello Thin"/>
              </a:rPr>
            </a:b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800E49-FF18-4A84-B07F-C457C2BB62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0823690"/>
              </p:ext>
            </p:extLst>
          </p:nvPr>
        </p:nvGraphicFramePr>
        <p:xfrm>
          <a:off x="499081" y="939646"/>
          <a:ext cx="11343859" cy="5663094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1967431">
                  <a:extLst>
                    <a:ext uri="{9D8B030D-6E8A-4147-A177-3AD203B41FA5}">
                      <a16:colId xmlns:a16="http://schemas.microsoft.com/office/drawing/2014/main" val="2215721026"/>
                    </a:ext>
                  </a:extLst>
                </a:gridCol>
                <a:gridCol w="1145593">
                  <a:extLst>
                    <a:ext uri="{9D8B030D-6E8A-4147-A177-3AD203B41FA5}">
                      <a16:colId xmlns:a16="http://schemas.microsoft.com/office/drawing/2014/main" val="2943511418"/>
                    </a:ext>
                  </a:extLst>
                </a:gridCol>
                <a:gridCol w="1232758">
                  <a:extLst>
                    <a:ext uri="{9D8B030D-6E8A-4147-A177-3AD203B41FA5}">
                      <a16:colId xmlns:a16="http://schemas.microsoft.com/office/drawing/2014/main" val="2826289992"/>
                    </a:ext>
                  </a:extLst>
                </a:gridCol>
                <a:gridCol w="4731957">
                  <a:extLst>
                    <a:ext uri="{9D8B030D-6E8A-4147-A177-3AD203B41FA5}">
                      <a16:colId xmlns:a16="http://schemas.microsoft.com/office/drawing/2014/main" val="22096472"/>
                    </a:ext>
                  </a:extLst>
                </a:gridCol>
                <a:gridCol w="2266120">
                  <a:extLst>
                    <a:ext uri="{9D8B030D-6E8A-4147-A177-3AD203B41FA5}">
                      <a16:colId xmlns:a16="http://schemas.microsoft.com/office/drawing/2014/main" val="3406800729"/>
                    </a:ext>
                  </a:extLst>
                </a:gridCol>
              </a:tblGrid>
              <a:tr h="527848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Event Name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Exact / Projected Timeline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Location &amp; Host Venue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Primary Strategic Focus &amp; Tech Shift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Weblinks</a:t>
                      </a: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8083083"/>
                  </a:ext>
                </a:extLst>
              </a:tr>
              <a:tr h="85650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3rd Annual Data Centre Conclave 2026 (Nexgen)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August 21, 2026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Holiday Inn, Mumbai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Powering the AI Revolution through Infrastructure: High-performance computing (HPC) environments, high-density server rack architecture, and next-generation green tech.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nexgenconferences.com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4866935"/>
                  </a:ext>
                </a:extLst>
              </a:tr>
              <a:tr h="856504">
                <a:tc>
                  <a:txBody>
                    <a:bodyPr/>
                    <a:lstStyle/>
                    <a:p>
                      <a:pPr rtl="0"/>
                      <a:r>
                        <a:rPr lang="it-IT" sz="1200">
                          <a:effectLst/>
                        </a:rPr>
                        <a:t>AI Data Centre Conference 2026</a:t>
                      </a:r>
                      <a:endParaRPr lang="it-IT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Late October 2026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Courtyard by Marriott, Mumbai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The Megawatt-to-Gigawatt Grid Realignment: Focused explicitly on the engineering mechanics of handling 30 kW to 100 kW per rack server density constraints and scaling liquid cooling components.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nexgenconferences.com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4342261"/>
                  </a:ext>
                </a:extLst>
              </a:tr>
              <a:tr h="856504"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World Datacentre Summit – India 2026 (TraiCon)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December 6, 2026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Mumbai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Sovereign Clouds &amp; Advanced Liquid Loops: Dedicated to high-performance storage array enclosures, direct-to-chip interfaces, and compliance tracking under the active DPDP Act.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traiconconferences.com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3509689"/>
                  </a:ext>
                </a:extLst>
              </a:tr>
              <a:tr h="856504"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8th CII Datacenter Blueprint Summit 2027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March 2027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Jio World Convention Centre, Mumbai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Building Next-Gen Foundations for AI Factories: The flagship industry policy summit focusing on sustainable structural blueprints, modular/scalable architectures, and green microgrid integration.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cii.in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07958"/>
                  </a:ext>
                </a:extLst>
              </a:tr>
              <a:tr h="809814"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11th ASSOCHAM Smart Datacenters &amp; AI Summit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May 2027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HICC, Hyderabad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>
                          <a:effectLst/>
                        </a:rPr>
                        <a:t>Regional Infrastructure Incentives &amp; Tech Clusters: Showcasing the real-world execution of the ₹40,000 Crore Component Scheme (ECMS) and state-level power/land waivers.</a:t>
                      </a:r>
                      <a:endParaRPr lang="en-US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assocham.org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6121556"/>
                  </a:ext>
                </a:extLst>
              </a:tr>
              <a:tr h="856504">
                <a:tc>
                  <a:txBody>
                    <a:bodyPr/>
                    <a:lstStyle/>
                    <a:p>
                      <a:pPr rtl="0"/>
                      <a:r>
                        <a:rPr lang="pt-BR" sz="1200">
                          <a:effectLst/>
                        </a:rPr>
                        <a:t>Data Center Asia &amp; Pacific Expo 2027 (Global DCW Portfolio Expansion)</a:t>
                      </a:r>
                      <a:endParaRPr lang="pt-BR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Mid-2027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200">
                          <a:effectLst/>
                        </a:rPr>
                        <a:t>Mumbai / Hong Kong Hub</a:t>
                      </a:r>
                      <a:endParaRPr lang="en-IN" sz="12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dirty="0">
                          <a:effectLst/>
                        </a:rPr>
                        <a:t>The Pan-Asian Hyperscale Corridor: Data Center World's new dedicated expansion into the Indian market, tracking the massive influx of self-build hyperscale nodes from AWS, Microsoft, and Meta.</a:t>
                      </a:r>
                      <a:endParaRPr lang="en-US" sz="12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IN" sz="12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datacentreworldasia.com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16591" marR="16591" marT="11060" marB="110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10660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4651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894E3-0AA3-42F2-B7DE-63E2CECE3F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9473" y="3243470"/>
            <a:ext cx="4063378" cy="1461052"/>
          </a:xfrm>
        </p:spPr>
        <p:txBody>
          <a:bodyPr>
            <a:normAutofit fontScale="90000"/>
          </a:bodyPr>
          <a:lstStyle/>
          <a:p>
            <a:r>
              <a:rPr lang="en-US" altLang="en-US" sz="8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Edwardian Script ITC" panose="030303020407070D0804" pitchFamily="66" charset="0"/>
                <a:ea typeface="DejaVu Math TeX Gyre" panose="02000503000000000000" pitchFamily="2" charset="0"/>
                <a:cs typeface="DejaVu Math TeX Gyre" panose="02000503000000000000" pitchFamily="2" charset="0"/>
              </a:rPr>
              <a:t>Thank you</a:t>
            </a:r>
            <a:br>
              <a:rPr lang="en-US" alt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Edwardian Script ITC" panose="030303020407070D0804" pitchFamily="66" charset="0"/>
                <a:cs typeface="DejaVu Math TeX Gyre" panose="02000503000000000000" pitchFamily="2" charset="0"/>
              </a:rPr>
            </a:br>
            <a:endParaRPr lang="en-IN" dirty="0"/>
          </a:p>
        </p:txBody>
      </p:sp>
      <p:pic>
        <p:nvPicPr>
          <p:cNvPr id="4" name="图片 5">
            <a:extLst>
              <a:ext uri="{FF2B5EF4-FFF2-40B4-BE49-F238E27FC236}">
                <a16:creationId xmlns:a16="http://schemas.microsoft.com/office/drawing/2014/main" id="{040C9EBC-BE3F-47B6-BDAE-EC0A8545E0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" t="40093" r="59520" b="48610"/>
          <a:stretch>
            <a:fillRect/>
          </a:stretch>
        </p:blipFill>
        <p:spPr>
          <a:xfrm>
            <a:off x="5772858" y="1277699"/>
            <a:ext cx="6300746" cy="120108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82731036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311</TotalTime>
  <Words>4842</Words>
  <Application>Microsoft Office PowerPoint</Application>
  <PresentationFormat>Widescreen</PresentationFormat>
  <Paragraphs>760</Paragraphs>
  <Slides>18</Slides>
  <Notes>3</Notes>
  <HiddenSlides>5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Arial</vt:lpstr>
      <vt:lpstr>Calibri</vt:lpstr>
      <vt:lpstr>Cambria Math</vt:lpstr>
      <vt:lpstr>Century Gothic</vt:lpstr>
      <vt:lpstr>DejaVu Math TeX Gyre</vt:lpstr>
      <vt:lpstr>Edwardian Script ITC</vt:lpstr>
      <vt:lpstr>Google Sans Text</vt:lpstr>
      <vt:lpstr>Poppins</vt:lpstr>
      <vt:lpstr>Wingdings 3</vt:lpstr>
      <vt:lpstr>Wisp</vt:lpstr>
      <vt:lpstr>AI Infrastructure Opportunities in India </vt:lpstr>
      <vt:lpstr>Al Infrastructure: Key Strategic Pillars</vt:lpstr>
      <vt:lpstr>AI Infra | Products &amp; Layout </vt:lpstr>
      <vt:lpstr>AI Infra | Potential Products portfolio  </vt:lpstr>
      <vt:lpstr>South India Data Center &amp; Tech Investment Tracker </vt:lpstr>
      <vt:lpstr>AI Infra | Global Players </vt:lpstr>
      <vt:lpstr>PowerPoint Presentation</vt:lpstr>
      <vt:lpstr>Market Opportunity</vt:lpstr>
      <vt:lpstr>Market Opportunity</vt:lpstr>
      <vt:lpstr>PowerPoint Presentation</vt:lpstr>
      <vt:lpstr>Global Market Opportunity</vt:lpstr>
      <vt:lpstr>India Data Center Market: Upcoming Mega-Investments &amp; Projections</vt:lpstr>
      <vt:lpstr>Global Supply Chain</vt:lpstr>
      <vt:lpstr>PowerPoint Presentation</vt:lpstr>
      <vt:lpstr>AI Infra | Core manufacturers vs what they make ( India focus ) </vt:lpstr>
      <vt:lpstr>PowerPoint Presentation</vt:lpstr>
      <vt:lpstr>AI Infra | India Summits &amp; Exhibition (2026)  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Infrastructure Opportunities in India </dc:title>
  <dc:creator>India Sales (Salcomp/Chennai)</dc:creator>
  <cp:lastModifiedBy>Harishankar vel</cp:lastModifiedBy>
  <cp:revision>24</cp:revision>
  <dcterms:created xsi:type="dcterms:W3CDTF">2026-06-11T07:58:49Z</dcterms:created>
  <dcterms:modified xsi:type="dcterms:W3CDTF">2026-06-14T06:33:25Z</dcterms:modified>
</cp:coreProperties>
</file>