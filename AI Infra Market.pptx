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0"/>
  </p:notesMasterIdLst>
  <p:sldIdLst>
    <p:sldId id="256" r:id="rId2"/>
    <p:sldId id="257" r:id="rId3"/>
    <p:sldId id="258" r:id="rId4"/>
    <p:sldId id="263" r:id="rId5"/>
    <p:sldId id="259" r:id="rId6"/>
    <p:sldId id="273" r:id="rId7"/>
    <p:sldId id="260" r:id="rId8"/>
    <p:sldId id="261" r:id="rId9"/>
    <p:sldId id="262" r:id="rId10"/>
    <p:sldId id="264" r:id="rId11"/>
    <p:sldId id="265" r:id="rId12"/>
    <p:sldId id="267" r:id="rId13"/>
    <p:sldId id="266" r:id="rId14"/>
    <p:sldId id="268" r:id="rId15"/>
    <p:sldId id="269" r:id="rId16"/>
    <p:sldId id="270" r:id="rId17"/>
    <p:sldId id="271" r:id="rId18"/>
    <p:sldId id="272" r:id="rId1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D113A9D2-9D6B-4929-AA2D-F23B5EE8CBE7}" styleName="Themed Style 2 - Accent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20"/>
    <p:restoredTop sz="86188" autoAdjust="0"/>
  </p:normalViewPr>
  <p:slideViewPr>
    <p:cSldViewPr snapToGrid="0">
      <p:cViewPr varScale="1">
        <p:scale>
          <a:sx n="72" d="100"/>
          <a:sy n="72" d="100"/>
        </p:scale>
        <p:origin x="636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0BBB0DB-58EC-468F-97A2-BF672CC637CB}" type="datetimeFigureOut">
              <a:rPr lang="en-IN" smtClean="0"/>
              <a:t>12-06-2026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B269FDA-9DD6-458C-878D-BD794D1B605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618399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Green- already invested and certain companies are about to deploy(Microsoft India) </a:t>
            </a:r>
          </a:p>
          <a:p>
            <a:r>
              <a:rPr lang="en-US" dirty="0"/>
              <a:t>Brown- new and upcoming investors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B269FDA-9DD6-458C-878D-BD794D1B605C}" type="slidenum">
              <a:rPr lang="en-IN" smtClean="0"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7040781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The Localization Triumph:</a:t>
            </a:r>
            <a:r>
              <a:rPr lang="en-US" dirty="0"/>
              <a:t> Import dependency across servers and compute has plummeted from nearly 80% down to 45–50%. Major supply chains have shifted to local electronics manufacturing services (EMS) providers based in tech hubs like Chennai and Bengaluru.</a:t>
            </a:r>
          </a:p>
          <a:p>
            <a:r>
              <a:rPr lang="en-US" b="1" dirty="0"/>
              <a:t>Cooling is the Ultimate Bottleneck:</a:t>
            </a:r>
            <a:r>
              <a:rPr lang="en-US" dirty="0"/>
              <a:t> Advanced liquid cooling has flipped from an experimental addition to the fastest-growing sub-sector in the entire ecosystem ($1.2B to over $7.5B by 2034), with a staggering </a:t>
            </a:r>
            <a:r>
              <a:rPr lang="en-US" b="1" dirty="0"/>
              <a:t>28.4% CAGR</a:t>
            </a:r>
            <a:r>
              <a:rPr lang="en-US" dirty="0"/>
              <a:t> outperforming raw compute growth.</a:t>
            </a:r>
          </a:p>
          <a:p>
            <a:r>
              <a:rPr lang="en-US" b="1" dirty="0"/>
              <a:t>The Power Grid Crunch:</a:t>
            </a:r>
            <a:r>
              <a:rPr lang="en-US" dirty="0"/>
              <a:t> Power infrastructure demands have moved toward intelligent, solid-state green energy modules as facilities scale past the 100 MW per campus mark, requiring heavy multi-megawatt backup topologies.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B269FDA-9DD6-458C-878D-BD794D1B605C}" type="slidenum">
              <a:rPr lang="en-IN" smtClean="0"/>
              <a:t>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4558635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The Thermal &amp; Power Surge:</a:t>
            </a:r>
            <a:r>
              <a:rPr lang="en-US" dirty="0"/>
              <a:t> Notice how the CAGR for companies like </a:t>
            </a:r>
            <a:r>
              <a:rPr lang="en-US" b="1" dirty="0" err="1"/>
              <a:t>Vertiv</a:t>
            </a:r>
            <a:r>
              <a:rPr lang="en-US" b="1" dirty="0"/>
              <a:t>, Schneider Electric, and STULZ</a:t>
            </a:r>
            <a:r>
              <a:rPr lang="en-US" dirty="0"/>
              <a:t> has surged way past the older estimates (now tracking at 24–28%). This is because high-density AI clusters generate extreme heat footprints that legacy air-conditioning units literally cannot cool, causing a massive, urgent cash injection into liquid infrastructure components.</a:t>
            </a:r>
          </a:p>
          <a:p>
            <a:r>
              <a:rPr lang="en-US" b="1" dirty="0"/>
              <a:t>Refined EMS Target Points:</a:t>
            </a:r>
            <a:r>
              <a:rPr lang="en-US" dirty="0"/>
              <a:t> For an expert contract assembler, the primary value add is no longer just standard plastic housings. The margins have moved squarely to building high-density, hot-swappable </a:t>
            </a:r>
            <a:r>
              <a:rPr lang="en-US" b="1" dirty="0"/>
              <a:t>CRPS units (up to 4000W)</a:t>
            </a:r>
            <a:r>
              <a:rPr lang="en-US" dirty="0"/>
              <a:t>, precision fluid manifolds for liquid distribution loops, and solid-state power shelf enclosures that hold dense GPU computing arrays securely.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B269FDA-9DD6-458C-878D-BD794D1B605C}" type="slidenum">
              <a:rPr lang="en-IN" smtClean="0"/>
              <a:t>12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7432093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FA26FF-DE90-43CC-B550-45EA60008A1B}" type="datetimeFigureOut">
              <a:rPr lang="en-IN" smtClean="0"/>
              <a:t>12-06-2026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CD65D1F1-FCF6-4074-BFB4-65514227D17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100541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FA26FF-DE90-43CC-B550-45EA60008A1B}" type="datetimeFigureOut">
              <a:rPr lang="en-IN" smtClean="0"/>
              <a:t>12-06-2026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65D1F1-FCF6-4074-BFB4-65514227D17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796704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FA26FF-DE90-43CC-B550-45EA60008A1B}" type="datetimeFigureOut">
              <a:rPr lang="en-IN" smtClean="0"/>
              <a:t>12-06-2026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CD65D1F1-FCF6-4074-BFB4-65514227D17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098622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FA26FF-DE90-43CC-B550-45EA60008A1B}" type="datetimeFigureOut">
              <a:rPr lang="en-IN" smtClean="0"/>
              <a:t>12-06-2026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CD65D1F1-FCF6-4074-BFB4-65514227D17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344278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FA26FF-DE90-43CC-B550-45EA60008A1B}" type="datetimeFigureOut">
              <a:rPr lang="en-IN" smtClean="0"/>
              <a:t>12-06-2026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CD65D1F1-FCF6-4074-BFB4-65514227D17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830462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FA26FF-DE90-43CC-B550-45EA60008A1B}" type="datetimeFigureOut">
              <a:rPr lang="en-IN" smtClean="0"/>
              <a:t>12-06-2026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65D1F1-FCF6-4074-BFB4-65514227D17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519557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FA26FF-DE90-43CC-B550-45EA60008A1B}" type="datetimeFigureOut">
              <a:rPr lang="en-IN" smtClean="0"/>
              <a:t>12-06-2026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65D1F1-FCF6-4074-BFB4-65514227D17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003084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FA26FF-DE90-43CC-B550-45EA60008A1B}" type="datetimeFigureOut">
              <a:rPr lang="en-IN" smtClean="0"/>
              <a:t>12-06-2026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65D1F1-FCF6-4074-BFB4-65514227D17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260926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FA26FF-DE90-43CC-B550-45EA60008A1B}" type="datetimeFigureOut">
              <a:rPr lang="en-IN" smtClean="0"/>
              <a:t>12-06-2026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CD65D1F1-FCF6-4074-BFB4-65514227D17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353430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FA26FF-DE90-43CC-B550-45EA60008A1B}" type="datetimeFigureOut">
              <a:rPr lang="en-IN" smtClean="0"/>
              <a:t>12-06-2026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CD65D1F1-FCF6-4074-BFB4-65514227D17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120915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FA26FF-DE90-43CC-B550-45EA60008A1B}" type="datetimeFigureOut">
              <a:rPr lang="en-IN" smtClean="0"/>
              <a:t>12-06-2026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CD65D1F1-FCF6-4074-BFB4-65514227D171}" type="slidenum">
              <a:rPr lang="en-IN" smtClean="0"/>
              <a:t>‹#›</a:t>
            </a:fld>
            <a:endParaRPr lang="en-IN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76941223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FA26FF-DE90-43CC-B550-45EA60008A1B}" type="datetimeFigureOut">
              <a:rPr lang="en-IN" smtClean="0"/>
              <a:t>12-06-2026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CD65D1F1-FCF6-4074-BFB4-65514227D17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7127526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FA26FF-DE90-43CC-B550-45EA60008A1B}" type="datetimeFigureOut">
              <a:rPr lang="en-IN" smtClean="0"/>
              <a:t>12-06-2026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CD65D1F1-FCF6-4074-BFB4-65514227D171}" type="slidenum">
              <a:rPr lang="en-IN" smtClean="0"/>
              <a:t>‹#›</a:t>
            </a:fld>
            <a:endParaRPr lang="en-IN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9283743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FA26FF-DE90-43CC-B550-45EA60008A1B}" type="datetimeFigureOut">
              <a:rPr lang="en-IN" smtClean="0"/>
              <a:t>12-06-2026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CD65D1F1-FCF6-4074-BFB4-65514227D17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5554128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FA26FF-DE90-43CC-B550-45EA60008A1B}" type="datetimeFigureOut">
              <a:rPr lang="en-IN" smtClean="0"/>
              <a:t>12-06-2026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65D1F1-FCF6-4074-BFB4-65514227D17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2730975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FA26FF-DE90-43CC-B550-45EA60008A1B}" type="datetimeFigureOut">
              <a:rPr lang="en-IN" smtClean="0"/>
              <a:t>12-06-2026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65D1F1-FCF6-4074-BFB4-65514227D17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234289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-786"/>
            <a:ext cx="2356674" cy="6854039"/>
            <a:chOff x="6627813" y="194833"/>
            <a:chExt cx="1952625" cy="5678918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3FA26FF-DE90-43CC-B550-45EA60008A1B}" type="datetimeFigureOut">
              <a:rPr lang="en-IN" smtClean="0"/>
              <a:t>12-06-2026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CD65D1F1-FCF6-4074-BFB4-65514227D17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441186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8.jpeg"/><Relationship Id="rId4" Type="http://schemas.openxmlformats.org/officeDocument/2006/relationships/image" Target="../media/image7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google.com/search?q=https://traiconconferences.com/" TargetMode="External"/><Relationship Id="rId2" Type="http://schemas.openxmlformats.org/officeDocument/2006/relationships/hyperlink" Target="https://www.nexgenconferences.com/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datacentreworldasia.com/" TargetMode="External"/><Relationship Id="rId5" Type="http://schemas.openxmlformats.org/officeDocument/2006/relationships/hyperlink" Target="https://www.assocham.org/" TargetMode="External"/><Relationship Id="rId4" Type="http://schemas.openxmlformats.org/officeDocument/2006/relationships/hyperlink" Target="https://www.cii.in/" TargetMode="Externa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4999AD-FC40-405F-9BBE-F995AB753B5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095649" y="2977081"/>
            <a:ext cx="8915399" cy="1468310"/>
          </a:xfrm>
        </p:spPr>
        <p:txBody>
          <a:bodyPr>
            <a:normAutofit fontScale="90000"/>
          </a:bodyPr>
          <a:lstStyle/>
          <a:p>
            <a:r>
              <a:rPr lang="en-IN" sz="4400" dirty="0"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AI Infrastructure Opportunities in India</a:t>
            </a:r>
            <a:br>
              <a:rPr lang="en-US" altLang="zh-TW" dirty="0"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</a:br>
            <a:endParaRPr lang="en-IN" dirty="0"/>
          </a:p>
        </p:txBody>
      </p:sp>
      <p:grpSp>
        <p:nvGrpSpPr>
          <p:cNvPr id="4" name="组合 7">
            <a:extLst>
              <a:ext uri="{FF2B5EF4-FFF2-40B4-BE49-F238E27FC236}">
                <a16:creationId xmlns:a16="http://schemas.microsoft.com/office/drawing/2014/main" id="{7B7D424F-10F9-4A54-A04E-16EBC240FA3E}"/>
              </a:ext>
            </a:extLst>
          </p:cNvPr>
          <p:cNvGrpSpPr/>
          <p:nvPr/>
        </p:nvGrpSpPr>
        <p:grpSpPr>
          <a:xfrm>
            <a:off x="5366060" y="713421"/>
            <a:ext cx="6300746" cy="1339579"/>
            <a:chOff x="1913163" y="2659238"/>
            <a:chExt cx="6300746" cy="1339579"/>
          </a:xfrm>
        </p:grpSpPr>
        <p:pic>
          <p:nvPicPr>
            <p:cNvPr id="5" name="图片 5">
              <a:extLst>
                <a:ext uri="{FF2B5EF4-FFF2-40B4-BE49-F238E27FC236}">
                  <a16:creationId xmlns:a16="http://schemas.microsoft.com/office/drawing/2014/main" id="{B16D089A-B70C-47FD-A490-EB93081E8A1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211" t="40093" r="59520" b="48610"/>
            <a:stretch>
              <a:fillRect/>
            </a:stretch>
          </p:blipFill>
          <p:spPr>
            <a:xfrm>
              <a:off x="1913163" y="2659238"/>
              <a:ext cx="6300746" cy="1201080"/>
            </a:xfrm>
            <a:prstGeom prst="rect">
              <a:avLst/>
            </a:prstGeom>
            <a:effectLst/>
          </p:spPr>
        </p:pic>
        <p:sp>
          <p:nvSpPr>
            <p:cNvPr id="6" name="文本框 6">
              <a:extLst>
                <a:ext uri="{FF2B5EF4-FFF2-40B4-BE49-F238E27FC236}">
                  <a16:creationId xmlns:a16="http://schemas.microsoft.com/office/drawing/2014/main" id="{2688A5E2-262B-4EFB-B4A4-4F8C0ABDC97D}"/>
                </a:ext>
              </a:extLst>
            </p:cNvPr>
            <p:cNvSpPr txBox="1"/>
            <p:nvPr/>
          </p:nvSpPr>
          <p:spPr>
            <a:xfrm>
              <a:off x="3765167" y="3721818"/>
              <a:ext cx="286009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dist"/>
              <a:r>
                <a:rPr lang="en-US" altLang="en-US" sz="1200" dirty="0">
                  <a:latin typeface="DejaVu Math TeX Gyre" panose="02000503000000000000" pitchFamily="2" charset="0"/>
                  <a:ea typeface="DejaVu Math TeX Gyre" panose="02000503000000000000" pitchFamily="2" charset="0"/>
                  <a:cs typeface="DejaVu Math TeX Gyre" panose="02000503000000000000" pitchFamily="2" charset="0"/>
                </a:rPr>
                <a:t>POWERING THE SMART WORLD</a:t>
              </a:r>
              <a:endParaRPr lang="en-US" altLang="en-US" sz="1200" dirty="0">
                <a:latin typeface="DejaVu Math TeX Gyre" panose="02000503000000000000" pitchFamily="2" charset="0"/>
                <a:cs typeface="DejaVu Math TeX Gyre" panose="02000503000000000000" pitchFamily="2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2286053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0759BD-63A4-4114-A55E-451625C772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41233" y="464008"/>
            <a:ext cx="8911687" cy="965539"/>
          </a:xfrm>
        </p:spPr>
        <p:txBody>
          <a:bodyPr/>
          <a:lstStyle/>
          <a:p>
            <a:r>
              <a:rPr lang="en-IN" dirty="0"/>
              <a:t>Al Infrastructure: Key Strategic Pillars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0D0696-001C-47A2-A9C2-2E6E85BB7D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77107" y="1157793"/>
            <a:ext cx="4745502" cy="3775500"/>
          </a:xfrm>
        </p:spPr>
        <p:txBody>
          <a:bodyPr/>
          <a:lstStyle/>
          <a:p>
            <a:r>
              <a:rPr lang="en-IN" dirty="0"/>
              <a:t>Gigawatt Scaling: Moving beyond MW-scale colocation to massive self-build Al compute hubs. </a:t>
            </a:r>
          </a:p>
          <a:p>
            <a:r>
              <a:rPr lang="en-IN" dirty="0"/>
              <a:t> Thermal Mastery: Transitioning from legacy air cooling to 4OkW+ liquid immersion and D2C systems.</a:t>
            </a:r>
          </a:p>
          <a:p>
            <a:r>
              <a:rPr lang="en-IN" dirty="0"/>
              <a:t> Silicon-First Power: Specialized PSUs designed for Blackwell (B200) and Neoverse (ARM) densities. </a:t>
            </a:r>
          </a:p>
          <a:p>
            <a:r>
              <a:rPr lang="en-IN" dirty="0"/>
              <a:t>Energy Sovereignty: Captive 24/7 renewable loops + Energy Storage Systems (ESS) integrated at source.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942B77A-38AA-4D44-A4DB-F95BFBDBD3C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87825" y="4037428"/>
            <a:ext cx="3262848" cy="257438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A4F6A5B-3D40-4785-AAC9-A6324339C78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21452" y="1178895"/>
            <a:ext cx="5395594" cy="26826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29890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6D1C6B-9F62-4B99-8600-87C81E330E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40156" y="589670"/>
            <a:ext cx="8911687" cy="577949"/>
          </a:xfrm>
        </p:spPr>
        <p:txBody>
          <a:bodyPr>
            <a:normAutofit fontScale="90000"/>
          </a:bodyPr>
          <a:lstStyle/>
          <a:p>
            <a:r>
              <a:rPr lang="en-US" dirty="0">
                <a:latin typeface="Poppins" panose="02000000000000000000" pitchFamily="2" charset="0"/>
                <a:ea typeface="PMingLiU" panose="02020500000000000000" pitchFamily="18" charset="-120"/>
                <a:cs typeface="Calibri" panose="020F0502020204030204" pitchFamily="34" charset="0"/>
              </a:rPr>
              <a:t>AI Infra | Products &amp; Layout</a:t>
            </a:r>
            <a:br>
              <a:rPr lang="en-US" dirty="0">
                <a:latin typeface="Poppins" panose="02000000000000000000" pitchFamily="2" charset="0"/>
                <a:sym typeface="SF Hello Thin"/>
              </a:rPr>
            </a:br>
            <a:endParaRPr lang="en-IN" dirty="0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EF3E1164-D36D-4DAC-B190-6E8E09A6AB8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l="667" t="2009"/>
          <a:stretch/>
        </p:blipFill>
        <p:spPr>
          <a:xfrm>
            <a:off x="1167619" y="1300089"/>
            <a:ext cx="10438228" cy="512884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413100503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CDBAAC-1459-4306-8FCE-BE735C2A7B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50390" y="126609"/>
            <a:ext cx="5889894" cy="534573"/>
          </a:xfrm>
        </p:spPr>
        <p:txBody>
          <a:bodyPr>
            <a:normAutofit fontScale="90000"/>
          </a:bodyPr>
          <a:lstStyle/>
          <a:p>
            <a:r>
              <a:rPr lang="en-US" sz="3100" dirty="0">
                <a:latin typeface="Poppins" panose="02000000000000000000" pitchFamily="2" charset="0"/>
                <a:ea typeface="PMingLiU" panose="02020500000000000000" pitchFamily="18" charset="-120"/>
                <a:cs typeface="Calibri" panose="020F0502020204030204" pitchFamily="34" charset="0"/>
              </a:rPr>
              <a:t>AI Infra | Potential Products portfolio </a:t>
            </a:r>
            <a:br>
              <a:rPr lang="en-US" dirty="0">
                <a:latin typeface="Poppins" panose="02000000000000000000" pitchFamily="2" charset="0"/>
                <a:sym typeface="SF Hello Thin"/>
              </a:rPr>
            </a:br>
            <a:endParaRPr lang="en-IN" dirty="0"/>
          </a:p>
        </p:txBody>
      </p:sp>
      <p:pic>
        <p:nvPicPr>
          <p:cNvPr id="4" name="Picture 2" descr="Understanding direct-to-chip cooling in HPC infrastructure: A deep dive  into liquid cooling">
            <a:extLst>
              <a:ext uri="{FF2B5EF4-FFF2-40B4-BE49-F238E27FC236}">
                <a16:creationId xmlns:a16="http://schemas.microsoft.com/office/drawing/2014/main" id="{16A57503-E043-4092-A06A-4F6C4EC40D44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4784" y="1673275"/>
            <a:ext cx="2524980" cy="14139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4296B19B-AC33-4FB8-9CAC-6812718ADB95}"/>
              </a:ext>
            </a:extLst>
          </p:cNvPr>
          <p:cNvSpPr txBox="1"/>
          <p:nvPr/>
        </p:nvSpPr>
        <p:spPr>
          <a:xfrm>
            <a:off x="967069" y="1223891"/>
            <a:ext cx="222269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Thermal Solutions</a:t>
            </a:r>
          </a:p>
          <a:p>
            <a:endParaRPr lang="en-IN" dirty="0"/>
          </a:p>
        </p:txBody>
      </p:sp>
      <p:pic>
        <p:nvPicPr>
          <p:cNvPr id="6" name="Picture 12" descr="High-efficiency isolation transformers for data centres in Asia">
            <a:extLst>
              <a:ext uri="{FF2B5EF4-FFF2-40B4-BE49-F238E27FC236}">
                <a16:creationId xmlns:a16="http://schemas.microsoft.com/office/drawing/2014/main" id="{D9311384-3854-4811-8B7C-5EA80501F78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6547"/>
          <a:stretch/>
        </p:blipFill>
        <p:spPr bwMode="auto">
          <a:xfrm>
            <a:off x="4099057" y="1588429"/>
            <a:ext cx="3441227" cy="14988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AF49F659-1982-4593-A764-140F8D287B91}"/>
              </a:ext>
            </a:extLst>
          </p:cNvPr>
          <p:cNvSpPr txBox="1"/>
          <p:nvPr/>
        </p:nvSpPr>
        <p:spPr>
          <a:xfrm>
            <a:off x="3003434" y="946537"/>
            <a:ext cx="506872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High efficiency isolation transformer systems</a:t>
            </a:r>
          </a:p>
          <a:p>
            <a:endParaRPr lang="en-IN" dirty="0"/>
          </a:p>
        </p:txBody>
      </p:sp>
      <p:pic>
        <p:nvPicPr>
          <p:cNvPr id="8" name="Picture 16" descr="Switchboards vs. Switchgears: What's Best for Data Centers?">
            <a:extLst>
              <a:ext uri="{FF2B5EF4-FFF2-40B4-BE49-F238E27FC236}">
                <a16:creationId xmlns:a16="http://schemas.microsoft.com/office/drawing/2014/main" id="{56407423-8CDE-44F2-8780-6190AC0F54B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417" t="11020" r="8333" b="20296"/>
          <a:stretch/>
        </p:blipFill>
        <p:spPr bwMode="auto">
          <a:xfrm>
            <a:off x="8604031" y="1459983"/>
            <a:ext cx="3272145" cy="18405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2AFDA9E1-7803-486F-8E0A-2A0B84DD9EB3}"/>
              </a:ext>
            </a:extLst>
          </p:cNvPr>
          <p:cNvSpPr txBox="1"/>
          <p:nvPr/>
        </p:nvSpPr>
        <p:spPr>
          <a:xfrm>
            <a:off x="8210250" y="1036267"/>
            <a:ext cx="405970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Switch board/Switch gear systems</a:t>
            </a:r>
          </a:p>
          <a:p>
            <a:endParaRPr lang="en-IN" dirty="0"/>
          </a:p>
        </p:txBody>
      </p:sp>
      <p:pic>
        <p:nvPicPr>
          <p:cNvPr id="10" name="Picture 4" descr="Data Center Power Distribution Basics - Articles - TestGuy Electrical  Testing Network">
            <a:extLst>
              <a:ext uri="{FF2B5EF4-FFF2-40B4-BE49-F238E27FC236}">
                <a16:creationId xmlns:a16="http://schemas.microsoft.com/office/drawing/2014/main" id="{F12BA647-30FF-481B-8E8C-5FF46D1AACF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157" t="16894" r="2242" b="17154"/>
          <a:stretch/>
        </p:blipFill>
        <p:spPr bwMode="auto">
          <a:xfrm>
            <a:off x="1062709" y="4143653"/>
            <a:ext cx="5267754" cy="22302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5CDE1DE9-8D59-44FC-9CE7-8D4E2669199C}"/>
              </a:ext>
            </a:extLst>
          </p:cNvPr>
          <p:cNvSpPr txBox="1"/>
          <p:nvPr/>
        </p:nvSpPr>
        <p:spPr>
          <a:xfrm>
            <a:off x="1366038" y="3546416"/>
            <a:ext cx="466109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Power distribution System</a:t>
            </a:r>
          </a:p>
          <a:p>
            <a:endParaRPr lang="en-IN" dirty="0"/>
          </a:p>
        </p:txBody>
      </p:sp>
      <p:pic>
        <p:nvPicPr>
          <p:cNvPr id="12" name="Picture 6" descr="Liquid Data Center Cooling Solutions for HPC Clusters | Aspen Systems">
            <a:extLst>
              <a:ext uri="{FF2B5EF4-FFF2-40B4-BE49-F238E27FC236}">
                <a16:creationId xmlns:a16="http://schemas.microsoft.com/office/drawing/2014/main" id="{5F331530-8810-445A-8181-92862663F7E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04031" y="4364104"/>
            <a:ext cx="2478686" cy="20098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F582A36F-84E2-40D8-ABF2-69A8DCC6C6DC}"/>
              </a:ext>
            </a:extLst>
          </p:cNvPr>
          <p:cNvSpPr txBox="1"/>
          <p:nvPr/>
        </p:nvSpPr>
        <p:spPr>
          <a:xfrm>
            <a:off x="8604030" y="3713871"/>
            <a:ext cx="301588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Cooling system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4267636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78E51A-9FE7-46D9-B6F1-8A574CBFC1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88123" y="0"/>
            <a:ext cx="10381957" cy="895201"/>
          </a:xfrm>
        </p:spPr>
        <p:txBody>
          <a:bodyPr>
            <a:noAutofit/>
          </a:bodyPr>
          <a:lstStyle/>
          <a:p>
            <a:r>
              <a:rPr lang="en-US" sz="2800" dirty="0"/>
              <a:t>India Data Center Market: Upcoming Mega-Investments &amp; Projections</a:t>
            </a:r>
            <a:endParaRPr lang="en-IN" sz="2800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CA70408F-7558-4153-BBEF-478E4A811A6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005062925"/>
              </p:ext>
            </p:extLst>
          </p:nvPr>
        </p:nvGraphicFramePr>
        <p:xfrm>
          <a:off x="339255" y="895201"/>
          <a:ext cx="11513489" cy="5741994"/>
        </p:xfrm>
        <a:graphic>
          <a:graphicData uri="http://schemas.openxmlformats.org/drawingml/2006/table">
            <a:tbl>
              <a:tblPr>
                <a:tableStyleId>{D113A9D2-9D6B-4929-AA2D-F23B5EE8CBE7}</a:tableStyleId>
              </a:tblPr>
              <a:tblGrid>
                <a:gridCol w="788786">
                  <a:extLst>
                    <a:ext uri="{9D8B030D-6E8A-4147-A177-3AD203B41FA5}">
                      <a16:colId xmlns:a16="http://schemas.microsoft.com/office/drawing/2014/main" val="1511938116"/>
                    </a:ext>
                  </a:extLst>
                </a:gridCol>
                <a:gridCol w="2269485">
                  <a:extLst>
                    <a:ext uri="{9D8B030D-6E8A-4147-A177-3AD203B41FA5}">
                      <a16:colId xmlns:a16="http://schemas.microsoft.com/office/drawing/2014/main" val="2449590952"/>
                    </a:ext>
                  </a:extLst>
                </a:gridCol>
                <a:gridCol w="1195677">
                  <a:extLst>
                    <a:ext uri="{9D8B030D-6E8A-4147-A177-3AD203B41FA5}">
                      <a16:colId xmlns:a16="http://schemas.microsoft.com/office/drawing/2014/main" val="4083497486"/>
                    </a:ext>
                  </a:extLst>
                </a:gridCol>
                <a:gridCol w="1881809">
                  <a:extLst>
                    <a:ext uri="{9D8B030D-6E8A-4147-A177-3AD203B41FA5}">
                      <a16:colId xmlns:a16="http://schemas.microsoft.com/office/drawing/2014/main" val="282860634"/>
                    </a:ext>
                  </a:extLst>
                </a:gridCol>
                <a:gridCol w="1793607">
                  <a:extLst>
                    <a:ext uri="{9D8B030D-6E8A-4147-A177-3AD203B41FA5}">
                      <a16:colId xmlns:a16="http://schemas.microsoft.com/office/drawing/2014/main" val="2687789023"/>
                    </a:ext>
                  </a:extLst>
                </a:gridCol>
                <a:gridCol w="3584125">
                  <a:extLst>
                    <a:ext uri="{9D8B030D-6E8A-4147-A177-3AD203B41FA5}">
                      <a16:colId xmlns:a16="http://schemas.microsoft.com/office/drawing/2014/main" val="2526404173"/>
                    </a:ext>
                  </a:extLst>
                </a:gridCol>
              </a:tblGrid>
              <a:tr h="551674">
                <a:tc>
                  <a:txBody>
                    <a:bodyPr/>
                    <a:lstStyle/>
                    <a:p>
                      <a:pPr rtl="0"/>
                      <a:r>
                        <a:rPr lang="en-IN" sz="1200" dirty="0">
                          <a:effectLst/>
                        </a:rPr>
                        <a:t>Projected Rank (By 2034)</a:t>
                      </a:r>
                      <a:endParaRPr lang="en-IN" sz="12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8942" marR="18942" marT="12628" marB="1262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IN" sz="1200" dirty="0">
                          <a:effectLst/>
                        </a:rPr>
                        <a:t>Upcoming / Investing Company</a:t>
                      </a:r>
                      <a:endParaRPr lang="en-IN" sz="12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8942" marR="18942" marT="12628" marB="1262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IN" sz="1200" dirty="0">
                          <a:effectLst/>
                        </a:rPr>
                        <a:t>Projected 2030–2034 Capacity (GW)</a:t>
                      </a:r>
                      <a:endParaRPr lang="en-IN" sz="12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8942" marR="18942" marT="12628" marB="1262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200" dirty="0"/>
                        <a:t>Projected Market Share (By 2034 Pipeline CapEx)</a:t>
                      </a:r>
                      <a:endParaRPr lang="en-IN" sz="12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8942" marR="18942" marT="12628" marB="1262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200">
                          <a:effectLst/>
                        </a:rPr>
                        <a:t>Latest Investment Commitment ($M / ₹ Crore)</a:t>
                      </a:r>
                      <a:endParaRPr lang="en-US" sz="12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8942" marR="18942" marT="12628" marB="1262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200" dirty="0">
                          <a:effectLst/>
                        </a:rPr>
                        <a:t>Primary Strategic Focus &amp; AI Tech Shift</a:t>
                      </a:r>
                      <a:endParaRPr lang="en-US" sz="12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8942" marR="18942" marT="12628" marB="1262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56843611"/>
                  </a:ext>
                </a:extLst>
              </a:tr>
              <a:tr h="375876">
                <a:tc>
                  <a:txBody>
                    <a:bodyPr/>
                    <a:lstStyle/>
                    <a:p>
                      <a:pPr rtl="0"/>
                      <a:r>
                        <a:rPr lang="en-IN" sz="1200">
                          <a:effectLst/>
                        </a:rPr>
                        <a:t>1</a:t>
                      </a:r>
                      <a:endParaRPr lang="en-IN" sz="12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8942" marR="18942" marT="12628" marB="1262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IN" sz="1200" dirty="0" err="1">
                          <a:effectLst/>
                        </a:rPr>
                        <a:t>AirTrunk</a:t>
                      </a:r>
                      <a:r>
                        <a:rPr lang="en-IN" sz="1200" dirty="0">
                          <a:effectLst/>
                        </a:rPr>
                        <a:t> (Global Hyperscale Entrant)</a:t>
                      </a:r>
                      <a:endParaRPr lang="en-IN" sz="12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8942" marR="18942" marT="12628" marB="1262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IN" sz="1200">
                          <a:effectLst/>
                        </a:rPr>
                        <a:t>5.0 GW</a:t>
                      </a:r>
                      <a:endParaRPr lang="en-IN" sz="12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8942" marR="18942" marT="12628" marB="1262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en-IN" sz="1600" dirty="0"/>
                        <a:t>22% to 25%</a:t>
                      </a:r>
                      <a:endParaRPr lang="en-IN" sz="16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8942" marR="18942" marT="12628" marB="1262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IN" sz="1200" dirty="0">
                          <a:effectLst/>
                        </a:rPr>
                        <a:t>$36,000 M</a:t>
                      </a:r>
                    </a:p>
                    <a:p>
                      <a:pPr rtl="0"/>
                      <a:r>
                        <a:rPr lang="en-IN" sz="1200" dirty="0">
                          <a:effectLst/>
                        </a:rPr>
                        <a:t>(₹3,00,000 Crore)</a:t>
                      </a:r>
                      <a:endParaRPr lang="en-IN" sz="12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8942" marR="18942" marT="12628" marB="1262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IN" sz="1200">
                          <a:effectLst/>
                        </a:rPr>
                        <a:t>Massive hyper-scale AI infrastructure corridors across major metro regions.</a:t>
                      </a:r>
                      <a:endParaRPr lang="en-IN" sz="12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8942" marR="18942" marT="12628" marB="1262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159912772"/>
                  </a:ext>
                </a:extLst>
              </a:tr>
              <a:tr h="551674">
                <a:tc>
                  <a:txBody>
                    <a:bodyPr/>
                    <a:lstStyle/>
                    <a:p>
                      <a:pPr rtl="0"/>
                      <a:r>
                        <a:rPr lang="en-IN" sz="1200">
                          <a:effectLst/>
                        </a:rPr>
                        <a:t>2</a:t>
                      </a:r>
                      <a:endParaRPr lang="en-IN" sz="12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8942" marR="18942" marT="12628" marB="1262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IN" sz="1200" dirty="0" err="1">
                          <a:effectLst/>
                        </a:rPr>
                        <a:t>AdaniConex</a:t>
                      </a:r>
                      <a:r>
                        <a:rPr lang="en-IN" sz="1200" dirty="0">
                          <a:effectLst/>
                        </a:rPr>
                        <a:t> (Adani + </a:t>
                      </a:r>
                      <a:r>
                        <a:rPr lang="en-IN" sz="1200" dirty="0" err="1">
                          <a:effectLst/>
                        </a:rPr>
                        <a:t>EdgeConex</a:t>
                      </a:r>
                      <a:r>
                        <a:rPr lang="en-IN" sz="1200" dirty="0">
                          <a:effectLst/>
                        </a:rPr>
                        <a:t> JV)</a:t>
                      </a:r>
                      <a:endParaRPr lang="en-IN" sz="12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8942" marR="18942" marT="12628" marB="1262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IN" sz="1200">
                          <a:effectLst/>
                        </a:rPr>
                        <a:t>2.5 to 3.0 GW</a:t>
                      </a:r>
                      <a:endParaRPr lang="en-IN" sz="12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8942" marR="18942" marT="12628" marB="1262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en-IN" sz="1600" dirty="0"/>
                        <a:t>18% to 20%</a:t>
                      </a:r>
                      <a:endParaRPr lang="en-IN" sz="16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8942" marR="18942" marT="12628" marB="1262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200" dirty="0">
                          <a:effectLst/>
                        </a:rPr>
                        <a:t>$23,333 M</a:t>
                      </a:r>
                    </a:p>
                    <a:p>
                      <a:pPr rtl="0"/>
                      <a:r>
                        <a:rPr lang="en-US" sz="1200" dirty="0">
                          <a:effectLst/>
                        </a:rPr>
                        <a:t>(Part of $16.7B Google Tie-up)</a:t>
                      </a:r>
                      <a:endParaRPr lang="en-US" sz="12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8942" marR="18942" marT="12628" marB="1262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200" dirty="0">
                          <a:effectLst/>
                        </a:rPr>
                        <a:t>High-density GPU clustering, massive greenfield sites with backward-integrated captive renewable energy.</a:t>
                      </a:r>
                      <a:endParaRPr lang="en-US" sz="12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8942" marR="18942" marT="12628" marB="1262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21460862"/>
                  </a:ext>
                </a:extLst>
              </a:tr>
              <a:tr h="551674">
                <a:tc>
                  <a:txBody>
                    <a:bodyPr/>
                    <a:lstStyle/>
                    <a:p>
                      <a:pPr rtl="0"/>
                      <a:r>
                        <a:rPr lang="en-IN" sz="1200">
                          <a:effectLst/>
                        </a:rPr>
                        <a:t>3</a:t>
                      </a:r>
                      <a:endParaRPr lang="en-IN" sz="12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8942" marR="18942" marT="12628" marB="1262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IN" sz="1200">
                          <a:effectLst/>
                        </a:rPr>
                        <a:t>Reliance Industries</a:t>
                      </a:r>
                      <a:endParaRPr lang="en-IN" sz="12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8942" marR="18942" marT="12628" marB="1262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IN" sz="1200">
                          <a:effectLst/>
                        </a:rPr>
                        <a:t>3.0 GW</a:t>
                      </a:r>
                      <a:endParaRPr lang="en-IN" sz="12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8942" marR="18942" marT="12628" marB="1262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en-IN" sz="1600" dirty="0"/>
                        <a:t>15% to 17%</a:t>
                      </a:r>
                      <a:endParaRPr lang="en-IN" sz="16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8942" marR="18942" marT="12628" marB="1262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it-IT" sz="1200" dirty="0">
                          <a:effectLst/>
                        </a:rPr>
                        <a:t>$22,222 M</a:t>
                      </a:r>
                    </a:p>
                    <a:p>
                      <a:pPr rtl="0"/>
                      <a:br>
                        <a:rPr lang="it-IT" sz="1200" dirty="0">
                          <a:effectLst/>
                        </a:rPr>
                      </a:br>
                      <a:r>
                        <a:rPr lang="it-IT" sz="1200" dirty="0">
                          <a:effectLst/>
                        </a:rPr>
                        <a:t>(₹1.8 Lakh Crore)</a:t>
                      </a:r>
                      <a:endParaRPr lang="it-IT" sz="12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8942" marR="18942" marT="12628" marB="1262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IN" sz="1200" dirty="0">
                          <a:effectLst/>
                        </a:rPr>
                        <a:t>Gigawatt-scale mega campuses in Jamnagar &amp; Visakhapatnam integrated with local 5G FWA edge deployment.</a:t>
                      </a:r>
                      <a:endParaRPr lang="en-IN" sz="12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8942" marR="18942" marT="12628" marB="1262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7155887"/>
                  </a:ext>
                </a:extLst>
              </a:tr>
              <a:tr h="551674">
                <a:tc>
                  <a:txBody>
                    <a:bodyPr/>
                    <a:lstStyle/>
                    <a:p>
                      <a:pPr rtl="0"/>
                      <a:r>
                        <a:rPr lang="en-IN" sz="1200">
                          <a:effectLst/>
                        </a:rPr>
                        <a:t>4</a:t>
                      </a:r>
                      <a:endParaRPr lang="en-IN" sz="12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8942" marR="18942" marT="12628" marB="1262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IN" sz="1200">
                          <a:effectLst/>
                        </a:rPr>
                        <a:t>Amazon Web Services (AWS)</a:t>
                      </a:r>
                      <a:endParaRPr lang="en-IN" sz="12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8942" marR="18942" marT="12628" marB="1262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IN" sz="1200">
                          <a:effectLst/>
                        </a:rPr>
                        <a:t>1.5 to 2.0 GW</a:t>
                      </a:r>
                      <a:endParaRPr lang="en-IN" sz="12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8942" marR="18942" marT="12628" marB="1262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en-IN" sz="1600" dirty="0"/>
                        <a:t>10% to 12%</a:t>
                      </a:r>
                      <a:endParaRPr lang="en-IN" sz="16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8942" marR="18942" marT="12628" marB="1262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IN" sz="1200" dirty="0">
                          <a:effectLst/>
                        </a:rPr>
                        <a:t>$12,700 M</a:t>
                      </a:r>
                      <a:endParaRPr lang="en-IN" sz="12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8942" marR="18942" marT="12628" marB="1262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200">
                          <a:effectLst/>
                        </a:rPr>
                        <a:t>Sovereign public cloud expansion and dedicated regional cloud nodes (massive footprint in Hyderabad).</a:t>
                      </a:r>
                      <a:endParaRPr lang="en-US" sz="12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8942" marR="18942" marT="12628" marB="1262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593843948"/>
                  </a:ext>
                </a:extLst>
              </a:tr>
              <a:tr h="375876">
                <a:tc>
                  <a:txBody>
                    <a:bodyPr/>
                    <a:lstStyle/>
                    <a:p>
                      <a:pPr rtl="0"/>
                      <a:r>
                        <a:rPr lang="en-IN" sz="1200" dirty="0">
                          <a:effectLst/>
                        </a:rPr>
                        <a:t>5</a:t>
                      </a:r>
                      <a:endParaRPr lang="en-IN" sz="12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8942" marR="18942" marT="12628" marB="1262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IN" sz="1200">
                          <a:effectLst/>
                        </a:rPr>
                        <a:t>Microsoft India</a:t>
                      </a:r>
                      <a:endParaRPr lang="en-IN" sz="12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8942" marR="18942" marT="12628" marB="1262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IN" sz="1200">
                          <a:effectLst/>
                        </a:rPr>
                        <a:t>1.2 to 1.5 GW</a:t>
                      </a:r>
                      <a:endParaRPr lang="en-IN" sz="12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8942" marR="18942" marT="12628" marB="1262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en-IN" sz="1600" dirty="0"/>
                        <a:t>11% to 13%</a:t>
                      </a:r>
                      <a:endParaRPr lang="en-IN" sz="16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8942" marR="18942" marT="12628" marB="1262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IN" sz="1200">
                          <a:effectLst/>
                        </a:rPr>
                        <a:t>$17,500 M</a:t>
                      </a:r>
                      <a:endParaRPr lang="en-IN" sz="12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8942" marR="18942" marT="12628" marB="1262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200" dirty="0">
                          <a:effectLst/>
                        </a:rPr>
                        <a:t>AI-exclusive self-build data estates explicitly designed for high-density Azure AI workloads.</a:t>
                      </a:r>
                      <a:endParaRPr lang="en-US" sz="12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8942" marR="18942" marT="12628" marB="1262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41936667"/>
                  </a:ext>
                </a:extLst>
              </a:tr>
              <a:tr h="551674">
                <a:tc>
                  <a:txBody>
                    <a:bodyPr/>
                    <a:lstStyle/>
                    <a:p>
                      <a:pPr rtl="0"/>
                      <a:r>
                        <a:rPr lang="en-IN" sz="1200">
                          <a:effectLst/>
                        </a:rPr>
                        <a:t>6</a:t>
                      </a:r>
                      <a:endParaRPr lang="en-IN" sz="12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8942" marR="18942" marT="12628" marB="1262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IN" sz="1200" dirty="0">
                          <a:effectLst/>
                        </a:rPr>
                        <a:t>TCS </a:t>
                      </a:r>
                      <a:r>
                        <a:rPr lang="en-IN" sz="1200" dirty="0" err="1">
                          <a:effectLst/>
                        </a:rPr>
                        <a:t>HyperVault</a:t>
                      </a:r>
                      <a:endParaRPr lang="en-IN" sz="12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8942" marR="18942" marT="12628" marB="1262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IN" sz="1200">
                          <a:effectLst/>
                        </a:rPr>
                        <a:t>1.2 GW</a:t>
                      </a:r>
                      <a:endParaRPr lang="en-IN" sz="12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8942" marR="18942" marT="12628" marB="1262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en-IN" sz="1600" dirty="0"/>
                        <a:t>3% to 5%</a:t>
                      </a:r>
                      <a:endParaRPr lang="en-IN" sz="16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8942" marR="18942" marT="12628" marB="1262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IN" sz="1200">
                          <a:effectLst/>
                        </a:rPr>
                        <a:t>$6,667 M</a:t>
                      </a:r>
                      <a:endParaRPr lang="en-IN" sz="12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8942" marR="18942" marT="12628" marB="1262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200">
                          <a:effectLst/>
                        </a:rPr>
                        <a:t>Sovereign cloud frameworks for BFSI &amp; Government sectors complying with strict DPDP localization rules.</a:t>
                      </a:r>
                      <a:endParaRPr lang="en-US" sz="12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8942" marR="18942" marT="12628" marB="1262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242062006"/>
                  </a:ext>
                </a:extLst>
              </a:tr>
              <a:tr h="375876">
                <a:tc>
                  <a:txBody>
                    <a:bodyPr/>
                    <a:lstStyle/>
                    <a:p>
                      <a:pPr rtl="0"/>
                      <a:r>
                        <a:rPr lang="en-IN" sz="1200">
                          <a:effectLst/>
                        </a:rPr>
                        <a:t>7</a:t>
                      </a:r>
                      <a:endParaRPr lang="en-IN" sz="12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8942" marR="18942" marT="12628" marB="1262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IN" sz="1200">
                          <a:effectLst/>
                        </a:rPr>
                        <a:t>Google Cloud India</a:t>
                      </a:r>
                      <a:endParaRPr lang="en-IN" sz="12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8942" marR="18942" marT="12628" marB="1262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IN" sz="1200">
                          <a:effectLst/>
                        </a:rPr>
                        <a:t>1.0 GW</a:t>
                      </a:r>
                      <a:endParaRPr lang="en-IN" sz="12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8942" marR="18942" marT="12628" marB="1262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en-IN" sz="1600" dirty="0"/>
                        <a:t>6% to 8%</a:t>
                      </a:r>
                      <a:endParaRPr lang="en-IN" sz="16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8942" marR="18942" marT="12628" marB="1262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IN" sz="1200">
                          <a:effectLst/>
                        </a:rPr>
                        <a:t>$6,000 M</a:t>
                      </a:r>
                      <a:endParaRPr lang="en-IN" sz="12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8942" marR="18942" marT="12628" marB="1262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200">
                          <a:effectLst/>
                        </a:rPr>
                        <a:t>Greenfield hyperscale facility in Andhra Pradesh and AI cloud localization.</a:t>
                      </a:r>
                      <a:endParaRPr lang="en-US" sz="12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8942" marR="18942" marT="12628" marB="1262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218006843"/>
                  </a:ext>
                </a:extLst>
              </a:tr>
              <a:tr h="551674">
                <a:tc>
                  <a:txBody>
                    <a:bodyPr/>
                    <a:lstStyle/>
                    <a:p>
                      <a:pPr rtl="0"/>
                      <a:r>
                        <a:rPr lang="en-IN" sz="1200">
                          <a:effectLst/>
                        </a:rPr>
                        <a:t>8</a:t>
                      </a:r>
                      <a:endParaRPr lang="en-IN" sz="12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8942" marR="18942" marT="12628" marB="1262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IN" sz="1200">
                          <a:effectLst/>
                        </a:rPr>
                        <a:t>NTT Data &amp; Neysa Networks</a:t>
                      </a:r>
                      <a:endParaRPr lang="en-IN" sz="12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8942" marR="18942" marT="12628" marB="1262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IN" sz="1200">
                          <a:effectLst/>
                        </a:rPr>
                        <a:t>0.8 to 1.0 GW</a:t>
                      </a:r>
                      <a:endParaRPr lang="en-IN" sz="12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8942" marR="18942" marT="12628" marB="1262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en-IN" sz="1600" dirty="0"/>
                        <a:t>8% to 10%</a:t>
                      </a:r>
                      <a:endParaRPr lang="en-IN" sz="16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8942" marR="18942" marT="12628" marB="1262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IN" sz="1200">
                          <a:effectLst/>
                        </a:rPr>
                        <a:t>$1,260 M</a:t>
                      </a:r>
                    </a:p>
                    <a:p>
                      <a:pPr rtl="0"/>
                      <a:br>
                        <a:rPr lang="en-IN" sz="1200">
                          <a:effectLst/>
                        </a:rPr>
                      </a:br>
                      <a:r>
                        <a:rPr lang="en-IN" sz="1200">
                          <a:effectLst/>
                        </a:rPr>
                        <a:t>(₹10,500 Crore MoU)</a:t>
                      </a:r>
                      <a:endParaRPr lang="en-IN" sz="12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8942" marR="18942" marT="12628" marB="1262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IN" sz="1200" dirty="0">
                          <a:effectLst/>
                        </a:rPr>
                        <a:t>Co-developed specialized liquid-cooled AI data </a:t>
                      </a:r>
                      <a:r>
                        <a:rPr lang="en-IN" sz="1200" dirty="0" err="1">
                          <a:effectLst/>
                        </a:rPr>
                        <a:t>center</a:t>
                      </a:r>
                      <a:r>
                        <a:rPr lang="en-IN" sz="1200" dirty="0">
                          <a:effectLst/>
                        </a:rPr>
                        <a:t> clusters in Telangana.</a:t>
                      </a:r>
                      <a:endParaRPr lang="en-IN" sz="12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8942" marR="18942" marT="12628" marB="1262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1210199"/>
                  </a:ext>
                </a:extLst>
              </a:tr>
              <a:tr h="551674">
                <a:tc>
                  <a:txBody>
                    <a:bodyPr/>
                    <a:lstStyle/>
                    <a:p>
                      <a:pPr rtl="0"/>
                      <a:r>
                        <a:rPr lang="en-IN" sz="1200">
                          <a:effectLst/>
                        </a:rPr>
                        <a:t>9</a:t>
                      </a:r>
                      <a:endParaRPr lang="en-IN" sz="12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8942" marR="18942" marT="12628" marB="1262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200">
                          <a:effectLst/>
                        </a:rPr>
                        <a:t>ST Telemedia Global Service (STT GDC)</a:t>
                      </a:r>
                      <a:endParaRPr lang="en-US" sz="12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8942" marR="18942" marT="12628" marB="1262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IN" sz="1200">
                          <a:effectLst/>
                        </a:rPr>
                        <a:t>0.6 to 0.8 GW</a:t>
                      </a:r>
                      <a:endParaRPr lang="en-IN" sz="12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8942" marR="18942" marT="12628" marB="1262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en-US" sz="1600" dirty="0">
                          <a:solidFill>
                            <a:schemeClr val="bg1"/>
                          </a:solidFill>
                          <a:effectLst/>
                          <a:latin typeface="Google Sans Text"/>
                        </a:rPr>
                        <a:t> 6% to-8%</a:t>
                      </a:r>
                      <a:endParaRPr lang="en-IN" sz="1600" dirty="0">
                        <a:solidFill>
                          <a:schemeClr val="bg1"/>
                        </a:solidFill>
                        <a:effectLst/>
                        <a:latin typeface="Google Sans Text"/>
                      </a:endParaRPr>
                    </a:p>
                  </a:txBody>
                  <a:tcPr marL="18942" marR="18942" marT="12628" marB="1262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IN" sz="1200">
                          <a:effectLst/>
                        </a:rPr>
                        <a:t>$1,500 M</a:t>
                      </a:r>
                      <a:endParaRPr lang="en-IN" sz="12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8942" marR="18942" marT="12628" marB="1262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200">
                          <a:effectLst/>
                        </a:rPr>
                        <a:t>Direct-to-chip liquid cooling deployments, expanding into Eastern India (Kolkata Campus).</a:t>
                      </a:r>
                      <a:endParaRPr lang="en-US" sz="12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8942" marR="18942" marT="12628" marB="1262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988959507"/>
                  </a:ext>
                </a:extLst>
              </a:tr>
              <a:tr h="551674">
                <a:tc>
                  <a:txBody>
                    <a:bodyPr/>
                    <a:lstStyle/>
                    <a:p>
                      <a:pPr rtl="0"/>
                      <a:r>
                        <a:rPr lang="en-IN" sz="1200">
                          <a:effectLst/>
                        </a:rPr>
                        <a:t>10</a:t>
                      </a:r>
                      <a:endParaRPr lang="en-IN" sz="12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8942" marR="18942" marT="12628" marB="1262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IN" sz="1200">
                          <a:effectLst/>
                        </a:rPr>
                        <a:t>CtrlS Datacenters</a:t>
                      </a:r>
                      <a:endParaRPr lang="en-IN" sz="12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8942" marR="18942" marT="12628" marB="1262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IN" sz="1200">
                          <a:effectLst/>
                        </a:rPr>
                        <a:t>0.5 to 0.8 GW</a:t>
                      </a:r>
                      <a:endParaRPr lang="en-IN" sz="12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8942" marR="18942" marT="12628" marB="1262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en-IN" sz="1600" dirty="0"/>
                        <a:t>5% to 7%</a:t>
                      </a:r>
                      <a:endParaRPr lang="en-IN" sz="16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8942" marR="18942" marT="12628" marB="1262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IN" sz="1200" dirty="0">
                          <a:effectLst/>
                        </a:rPr>
                        <a:t>$1,200 M</a:t>
                      </a:r>
                      <a:endParaRPr lang="en-IN" sz="12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8942" marR="18942" marT="12628" marB="1262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200" dirty="0">
                          <a:effectLst/>
                        </a:rPr>
                        <a:t>40 kW high-density racks using advanced immersion cooling to host NVIDIA H100/B200 clusters.</a:t>
                      </a:r>
                      <a:endParaRPr lang="en-US" sz="12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8942" marR="18942" marT="12628" marB="1262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3310253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34883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8A3D74-D82F-4570-BC8B-75F8064D10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4070" y="0"/>
            <a:ext cx="11080543" cy="543339"/>
          </a:xfrm>
        </p:spPr>
        <p:txBody>
          <a:bodyPr>
            <a:normAutofit/>
          </a:bodyPr>
          <a:lstStyle/>
          <a:p>
            <a:r>
              <a:rPr lang="en-US" sz="2800" dirty="0"/>
              <a:t>South India Data Center &amp; Tech Investment Tracker </a:t>
            </a:r>
            <a:endParaRPr lang="en-IN" sz="2800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DC75A958-A46F-4234-8BAC-99FF36D8A2D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293542569"/>
              </p:ext>
            </p:extLst>
          </p:nvPr>
        </p:nvGraphicFramePr>
        <p:xfrm>
          <a:off x="424070" y="689112"/>
          <a:ext cx="11080543" cy="5974920"/>
        </p:xfrm>
        <a:graphic>
          <a:graphicData uri="http://schemas.openxmlformats.org/drawingml/2006/table">
            <a:tbl>
              <a:tblPr firstRow="1" bandRow="1">
                <a:tableStyleId>{D113A9D2-9D6B-4929-AA2D-F23B5EE8CBE7}</a:tableStyleId>
              </a:tblPr>
              <a:tblGrid>
                <a:gridCol w="1239691">
                  <a:extLst>
                    <a:ext uri="{9D8B030D-6E8A-4147-A177-3AD203B41FA5}">
                      <a16:colId xmlns:a16="http://schemas.microsoft.com/office/drawing/2014/main" val="2920894725"/>
                    </a:ext>
                  </a:extLst>
                </a:gridCol>
                <a:gridCol w="6786354">
                  <a:extLst>
                    <a:ext uri="{9D8B030D-6E8A-4147-A177-3AD203B41FA5}">
                      <a16:colId xmlns:a16="http://schemas.microsoft.com/office/drawing/2014/main" val="1948455877"/>
                    </a:ext>
                  </a:extLst>
                </a:gridCol>
                <a:gridCol w="1546420">
                  <a:extLst>
                    <a:ext uri="{9D8B030D-6E8A-4147-A177-3AD203B41FA5}">
                      <a16:colId xmlns:a16="http://schemas.microsoft.com/office/drawing/2014/main" val="644633013"/>
                    </a:ext>
                  </a:extLst>
                </a:gridCol>
                <a:gridCol w="1508078">
                  <a:extLst>
                    <a:ext uri="{9D8B030D-6E8A-4147-A177-3AD203B41FA5}">
                      <a16:colId xmlns:a16="http://schemas.microsoft.com/office/drawing/2014/main" val="141458567"/>
                    </a:ext>
                  </a:extLst>
                </a:gridCol>
              </a:tblGrid>
              <a:tr h="671400">
                <a:tc>
                  <a:txBody>
                    <a:bodyPr/>
                    <a:lstStyle/>
                    <a:p>
                      <a:r>
                        <a:rPr lang="en-IN" sz="1200" dirty="0"/>
                        <a:t>Company Name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Core Investment Focus &amp; Regional Footprint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200" dirty="0"/>
                        <a:t>Target Pipeline Capacity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200" dirty="0"/>
                        <a:t>Latest Investment Commitment / Scale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03243662"/>
                  </a:ext>
                </a:extLst>
              </a:tr>
              <a:tr h="1799692">
                <a:tc>
                  <a:txBody>
                    <a:bodyPr/>
                    <a:lstStyle/>
                    <a:p>
                      <a:r>
                        <a:rPr lang="en-IN" sz="1200" dirty="0"/>
                        <a:t>L&amp;T </a:t>
                      </a:r>
                      <a:r>
                        <a:rPr lang="en-IN" sz="1200" dirty="0" err="1"/>
                        <a:t>Vyoma</a:t>
                      </a:r>
                      <a:r>
                        <a:rPr lang="en-IN" sz="1200" dirty="0"/>
                        <a:t> &amp; L&amp;T Tech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200"/>
                        <a:t>Tamil Nadu (Kanchipuram, Coimbatore, Tiruvallur)</a:t>
                      </a:r>
                    </a:p>
                    <a:p>
                      <a:br>
                        <a:rPr lang="en-IN" sz="1200"/>
                      </a:br>
                      <a:r>
                        <a:rPr lang="en-IN" sz="1200"/>
                        <a:t>• Data Infrastructure: Massive ₹15,000 Cr hyperscale expansion in Kanchipuram with liquid-cooled, 80kW/rack AI architectures.</a:t>
                      </a:r>
                    </a:p>
                    <a:p>
                      <a:br>
                        <a:rPr lang="en-IN" sz="1200"/>
                      </a:br>
                      <a:r>
                        <a:rPr lang="en-IN" sz="1200"/>
                        <a:t>• Hardware Supply Chain: ₹2,500 Cr advanced electronics manufacturing unit in Coimbatore.</a:t>
                      </a:r>
                    </a:p>
                    <a:p>
                      <a:br>
                        <a:rPr lang="en-IN" sz="1200"/>
                      </a:br>
                      <a:r>
                        <a:rPr lang="en-IN" sz="1200"/>
                        <a:t>• Green Energy Integration: ₹1,100 Cr Kattupalli Shipyard expansion for offshore wind fabrication.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200" dirty="0"/>
                        <a:t>250 MW – 370 MW+ (National pipeline total)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₹18,600 Crore (Total consolidated state MoU)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62421270"/>
                  </a:ext>
                </a:extLst>
              </a:tr>
              <a:tr h="771296">
                <a:tc>
                  <a:txBody>
                    <a:bodyPr/>
                    <a:lstStyle/>
                    <a:p>
                      <a:r>
                        <a:rPr lang="en-IN" sz="1200"/>
                        <a:t>Yotta Data Services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200" dirty="0"/>
                        <a:t>(Navi Mumbai, Greater Noida, Gift City)</a:t>
                      </a:r>
                    </a:p>
                    <a:p>
                      <a:br>
                        <a:rPr lang="en-IN" sz="1200" dirty="0"/>
                      </a:br>
                      <a:r>
                        <a:rPr lang="en-IN" sz="1200" dirty="0"/>
                        <a:t>• Actively deploying thousands of NVIDIA H100/B200 clusters via the dedicated Shakti Cloud platform for deep learning workloads.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200"/>
                        <a:t>350 MW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200" dirty="0"/>
                        <a:t>NVIDIA Strategic Partnership Ecosystem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57819677"/>
                  </a:ext>
                </a:extLst>
              </a:tr>
              <a:tr h="604073">
                <a:tc>
                  <a:txBody>
                    <a:bodyPr/>
                    <a:lstStyle/>
                    <a:p>
                      <a:r>
                        <a:rPr lang="en-IN" sz="1200"/>
                        <a:t>Digital Connexion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200" dirty="0"/>
                        <a:t>Tamil Nadu (Chennai - Ambattur Corridor)</a:t>
                      </a:r>
                    </a:p>
                    <a:p>
                      <a:r>
                        <a:rPr lang="en-IN" sz="1200" dirty="0"/>
                        <a:t>• High-profile JV between Brookfield, Reliance Industries, and Digital Realty. Fully operationalized its premier 100 MW MAA10 campus.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200"/>
                        <a:t>250 MW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200" dirty="0"/>
                        <a:t>Institutional Asset Backing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5047698"/>
                  </a:ext>
                </a:extLst>
              </a:tr>
              <a:tr h="604073">
                <a:tc>
                  <a:txBody>
                    <a:bodyPr/>
                    <a:lstStyle/>
                    <a:p>
                      <a:r>
                        <a:rPr lang="en-US" sz="1200"/>
                        <a:t>Iron Mountain Data Centers (Web Werks)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200" dirty="0"/>
                        <a:t>Tamil Nadu &amp; Maharashtra (Chennai, Mumbai, Pune)</a:t>
                      </a:r>
                    </a:p>
                    <a:p>
                      <a:r>
                        <a:rPr lang="en-IN" sz="1200" dirty="0"/>
                        <a:t>• Transitioning from localized colocation into high-capacity hyperscale hubs via a massive capital infusion strategy.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200"/>
                        <a:t>152 MW – 200 MW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200" dirty="0"/>
                        <a:t>₹7,500 Crore (Consolidated expansion funnel)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11048513"/>
                  </a:ext>
                </a:extLst>
              </a:tr>
              <a:tr h="604073">
                <a:tc>
                  <a:txBody>
                    <a:bodyPr/>
                    <a:lstStyle/>
                    <a:p>
                      <a:r>
                        <a:rPr lang="en-IN" sz="1200"/>
                        <a:t>Sify Infinit Spaces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200" dirty="0"/>
                        <a:t>Andhra Pradesh &amp; Tier-2 South (Vizag, Bhopal, Lucknow)</a:t>
                      </a:r>
                    </a:p>
                    <a:p>
                      <a:r>
                        <a:rPr lang="en-IN" sz="1200" dirty="0"/>
                        <a:t>• Creating localized AI-Hubs and an alternative eastern subsea landing gateway via a new 50 MW critical IT load facility in Visakhapatnam.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200"/>
                        <a:t>200 MW+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200" dirty="0"/>
                        <a:t>Distributed Corporate Capital Injection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916341"/>
                  </a:ext>
                </a:extLst>
              </a:tr>
              <a:tr h="604073">
                <a:tc>
                  <a:txBody>
                    <a:bodyPr/>
                    <a:lstStyle/>
                    <a:p>
                      <a:r>
                        <a:rPr lang="en-IN" sz="1200"/>
                        <a:t>Princeton Digital Group (PDG)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200" dirty="0"/>
                        <a:t>Maharashtra &amp; Tamil Nadu (Navi Mumbai, Chennai Expansion)</a:t>
                      </a:r>
                    </a:p>
                    <a:p>
                      <a:r>
                        <a:rPr lang="en-IN" sz="1200" dirty="0"/>
                        <a:t>• Scaling up high-density hyper-dense rack spacing to host multi-tenant cloud architectures for global internet giants.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200"/>
                        <a:t>100 MW – 150 MW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200" dirty="0"/>
                        <a:t>Pan-Asian Institutional Funding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8901513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5391712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15FD2C-9368-439B-9572-0266DFC0A1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448" y="0"/>
            <a:ext cx="4004824" cy="492369"/>
          </a:xfrm>
        </p:spPr>
        <p:txBody>
          <a:bodyPr>
            <a:normAutofit fontScale="90000"/>
          </a:bodyPr>
          <a:lstStyle/>
          <a:p>
            <a:r>
              <a:rPr lang="en-US" sz="3100" dirty="0">
                <a:latin typeface="Poppins" panose="02000000000000000000" pitchFamily="2" charset="0"/>
                <a:ea typeface="PMingLiU" panose="02020500000000000000" pitchFamily="18" charset="-120"/>
                <a:cs typeface="Calibri" panose="020F0502020204030204" pitchFamily="34" charset="0"/>
              </a:rPr>
              <a:t>AI Infra | Global Players</a:t>
            </a:r>
            <a:br>
              <a:rPr lang="en-US" dirty="0">
                <a:latin typeface="Poppins" panose="02000000000000000000" pitchFamily="2" charset="0"/>
                <a:sym typeface="SF Hello Thin"/>
              </a:rPr>
            </a:br>
            <a:endParaRPr lang="en-IN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F2AAE902-83FA-4727-B3C4-988B6BB8A6F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066326910"/>
              </p:ext>
            </p:extLst>
          </p:nvPr>
        </p:nvGraphicFramePr>
        <p:xfrm>
          <a:off x="318866" y="492369"/>
          <a:ext cx="11774660" cy="6251602"/>
        </p:xfrm>
        <a:graphic>
          <a:graphicData uri="http://schemas.openxmlformats.org/drawingml/2006/table">
            <a:tbl>
              <a:tblPr>
                <a:tableStyleId>{D113A9D2-9D6B-4929-AA2D-F23B5EE8CBE7}</a:tableStyleId>
              </a:tblPr>
              <a:tblGrid>
                <a:gridCol w="1265047">
                  <a:extLst>
                    <a:ext uri="{9D8B030D-6E8A-4147-A177-3AD203B41FA5}">
                      <a16:colId xmlns:a16="http://schemas.microsoft.com/office/drawing/2014/main" val="3590691520"/>
                    </a:ext>
                  </a:extLst>
                </a:gridCol>
                <a:gridCol w="1180821">
                  <a:extLst>
                    <a:ext uri="{9D8B030D-6E8A-4147-A177-3AD203B41FA5}">
                      <a16:colId xmlns:a16="http://schemas.microsoft.com/office/drawing/2014/main" val="2620012593"/>
                    </a:ext>
                  </a:extLst>
                </a:gridCol>
                <a:gridCol w="1019112">
                  <a:extLst>
                    <a:ext uri="{9D8B030D-6E8A-4147-A177-3AD203B41FA5}">
                      <a16:colId xmlns:a16="http://schemas.microsoft.com/office/drawing/2014/main" val="2624438982"/>
                    </a:ext>
                  </a:extLst>
                </a:gridCol>
                <a:gridCol w="1207256">
                  <a:extLst>
                    <a:ext uri="{9D8B030D-6E8A-4147-A177-3AD203B41FA5}">
                      <a16:colId xmlns:a16="http://schemas.microsoft.com/office/drawing/2014/main" val="2852874166"/>
                    </a:ext>
                  </a:extLst>
                </a:gridCol>
                <a:gridCol w="3214120">
                  <a:extLst>
                    <a:ext uri="{9D8B030D-6E8A-4147-A177-3AD203B41FA5}">
                      <a16:colId xmlns:a16="http://schemas.microsoft.com/office/drawing/2014/main" val="3721431916"/>
                    </a:ext>
                  </a:extLst>
                </a:gridCol>
                <a:gridCol w="3888304">
                  <a:extLst>
                    <a:ext uri="{9D8B030D-6E8A-4147-A177-3AD203B41FA5}">
                      <a16:colId xmlns:a16="http://schemas.microsoft.com/office/drawing/2014/main" val="1155727004"/>
                    </a:ext>
                  </a:extLst>
                </a:gridCol>
              </a:tblGrid>
              <a:tr h="335284">
                <a:tc>
                  <a:txBody>
                    <a:bodyPr/>
                    <a:lstStyle/>
                    <a:p>
                      <a:pPr rtl="0"/>
                      <a:r>
                        <a:rPr lang="en-IN" sz="1100">
                          <a:effectLst/>
                        </a:rPr>
                        <a:t>Category</a:t>
                      </a:r>
                      <a:endParaRPr lang="en-IN" sz="11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0186" marR="10186" marT="6791" marB="679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IN" sz="1100">
                          <a:effectLst/>
                        </a:rPr>
                        <a:t>Company Name</a:t>
                      </a:r>
                      <a:endParaRPr lang="en-IN" sz="11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0186" marR="10186" marT="6791" marB="679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IN" sz="1100">
                          <a:effectLst/>
                        </a:rPr>
                        <a:t>Headquarters</a:t>
                      </a:r>
                      <a:endParaRPr lang="en-IN" sz="11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0186" marR="10186" marT="6791" marB="679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IN" sz="1100">
                          <a:effectLst/>
                        </a:rPr>
                        <a:t>Primary Operating Model</a:t>
                      </a:r>
                      <a:endParaRPr lang="en-IN" sz="11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0186" marR="10186" marT="6791" marB="679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IN" sz="1100">
                          <a:effectLst/>
                        </a:rPr>
                        <a:t>Presence in India</a:t>
                      </a:r>
                      <a:endParaRPr lang="en-IN" sz="11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0186" marR="10186" marT="6791" marB="679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100" dirty="0">
                          <a:effectLst/>
                        </a:rPr>
                        <a:t>AI / High-Density Focus (Rack Cooling Limit)</a:t>
                      </a:r>
                      <a:endParaRPr lang="en-US" sz="11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0186" marR="10186" marT="6791" marB="679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29735417"/>
                  </a:ext>
                </a:extLst>
              </a:tr>
              <a:tr h="533292">
                <a:tc>
                  <a:txBody>
                    <a:bodyPr/>
                    <a:lstStyle/>
                    <a:p>
                      <a:pPr rtl="0"/>
                      <a:r>
                        <a:rPr lang="en-IN" sz="1100" dirty="0" err="1">
                          <a:effectLst/>
                        </a:rPr>
                        <a:t>Hyperscaler</a:t>
                      </a:r>
                      <a:endParaRPr lang="en-IN" sz="11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0186" marR="10186" marT="6791" marB="679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IN" sz="1100">
                          <a:effectLst/>
                        </a:rPr>
                        <a:t>Amazon Web Services (AWS)</a:t>
                      </a:r>
                      <a:endParaRPr lang="en-IN" sz="11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0186" marR="10186" marT="6791" marB="679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IN" sz="1100">
                          <a:effectLst/>
                        </a:rPr>
                        <a:t>United States</a:t>
                      </a:r>
                      <a:endParaRPr lang="en-IN" sz="11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0186" marR="10186" marT="6791" marB="679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it-IT" sz="1100">
                          <a:effectLst/>
                        </a:rPr>
                        <a:t>Cloud &amp; AI platform service provider</a:t>
                      </a:r>
                      <a:endParaRPr lang="it-IT" sz="11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0186" marR="10186" marT="6791" marB="679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100">
                          <a:effectLst/>
                        </a:rPr>
                        <a:t>Massive / Self-Build Owner</a:t>
                      </a:r>
                    </a:p>
                    <a:p>
                      <a:pPr rtl="0"/>
                      <a:br>
                        <a:rPr lang="en-US" sz="1100">
                          <a:effectLst/>
                        </a:rPr>
                      </a:br>
                      <a:r>
                        <a:rPr lang="en-US" sz="1100">
                          <a:effectLst/>
                        </a:rPr>
                        <a:t>(Moving away from 3rd-party tenancy)</a:t>
                      </a:r>
                      <a:endParaRPr lang="en-US" sz="11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0186" marR="10186" marT="6791" marB="679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100">
                          <a:effectLst/>
                        </a:rPr>
                        <a:t>Very High</a:t>
                      </a:r>
                    </a:p>
                    <a:p>
                      <a:pPr rtl="0"/>
                      <a:br>
                        <a:rPr lang="en-US" sz="1100">
                          <a:effectLst/>
                        </a:rPr>
                      </a:br>
                      <a:r>
                        <a:rPr lang="en-US" sz="1100">
                          <a:effectLst/>
                        </a:rPr>
                        <a:t>(Liquid-assist &amp; direct-to-chip models)</a:t>
                      </a:r>
                      <a:endParaRPr lang="en-US" sz="11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0186" marR="10186" marT="6791" marB="679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68599622"/>
                  </a:ext>
                </a:extLst>
              </a:tr>
              <a:tr h="533292">
                <a:tc>
                  <a:txBody>
                    <a:bodyPr/>
                    <a:lstStyle/>
                    <a:p>
                      <a:pPr rtl="0"/>
                      <a:r>
                        <a:rPr lang="en-IN" sz="1100">
                          <a:effectLst/>
                        </a:rPr>
                        <a:t>Hyperscaler</a:t>
                      </a:r>
                      <a:endParaRPr lang="en-IN" sz="11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0186" marR="10186" marT="6791" marB="679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IN" sz="1100">
                          <a:effectLst/>
                        </a:rPr>
                        <a:t>Microsoft Azure</a:t>
                      </a:r>
                      <a:endParaRPr lang="en-IN" sz="11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0186" marR="10186" marT="6791" marB="679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IN" sz="1100">
                          <a:effectLst/>
                        </a:rPr>
                        <a:t>United States</a:t>
                      </a:r>
                      <a:endParaRPr lang="en-IN" sz="11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0186" marR="10186" marT="6791" marB="679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it-IT" sz="1100">
                          <a:effectLst/>
                        </a:rPr>
                        <a:t>Cloud &amp; AI platform service provider</a:t>
                      </a:r>
                      <a:endParaRPr lang="it-IT" sz="11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0186" marR="10186" marT="6791" marB="679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100">
                          <a:effectLst/>
                        </a:rPr>
                        <a:t>Massive / Self-Build Owner</a:t>
                      </a:r>
                    </a:p>
                    <a:p>
                      <a:pPr rtl="0"/>
                      <a:br>
                        <a:rPr lang="en-US" sz="1100">
                          <a:effectLst/>
                        </a:rPr>
                      </a:br>
                      <a:r>
                        <a:rPr lang="en-US" sz="1100">
                          <a:effectLst/>
                        </a:rPr>
                        <a:t>(Hyderabad region live mid-2026)</a:t>
                      </a:r>
                      <a:endParaRPr lang="en-US" sz="11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0186" marR="10186" marT="6791" marB="679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100" dirty="0">
                          <a:effectLst/>
                        </a:rPr>
                        <a:t>Very High</a:t>
                      </a:r>
                    </a:p>
                    <a:p>
                      <a:pPr rtl="0"/>
                      <a:br>
                        <a:rPr lang="en-US" sz="1100" dirty="0">
                          <a:effectLst/>
                        </a:rPr>
                      </a:br>
                      <a:r>
                        <a:rPr lang="en-US" sz="1100" dirty="0">
                          <a:effectLst/>
                        </a:rPr>
                        <a:t>(Air-cooled chillers with zero water consumption)</a:t>
                      </a:r>
                      <a:endParaRPr lang="en-US" sz="11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0186" marR="10186" marT="6791" marB="679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02442120"/>
                  </a:ext>
                </a:extLst>
              </a:tr>
              <a:tr h="496399">
                <a:tc>
                  <a:txBody>
                    <a:bodyPr/>
                    <a:lstStyle/>
                    <a:p>
                      <a:pPr rtl="0"/>
                      <a:r>
                        <a:rPr lang="en-IN" sz="1100">
                          <a:effectLst/>
                        </a:rPr>
                        <a:t>Hyperscaler</a:t>
                      </a:r>
                      <a:endParaRPr lang="en-IN" sz="11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0186" marR="10186" marT="6791" marB="679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IN" sz="1100">
                          <a:effectLst/>
                        </a:rPr>
                        <a:t>Google Cloud Platform</a:t>
                      </a:r>
                      <a:endParaRPr lang="en-IN" sz="11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0186" marR="10186" marT="6791" marB="679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IN" sz="1100">
                          <a:effectLst/>
                        </a:rPr>
                        <a:t>United States</a:t>
                      </a:r>
                      <a:endParaRPr lang="en-IN" sz="11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0186" marR="10186" marT="6791" marB="679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it-IT" sz="1100">
                          <a:effectLst/>
                        </a:rPr>
                        <a:t>Cloud &amp; AI platform service provider</a:t>
                      </a:r>
                      <a:endParaRPr lang="it-IT" sz="11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0186" marR="10186" marT="6791" marB="679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IN" sz="1100">
                          <a:effectLst/>
                        </a:rPr>
                        <a:t>Hybrid Expansion</a:t>
                      </a:r>
                    </a:p>
                    <a:p>
                      <a:pPr rtl="0"/>
                      <a:br>
                        <a:rPr lang="en-IN" sz="1100">
                          <a:effectLst/>
                        </a:rPr>
                      </a:br>
                      <a:r>
                        <a:rPr lang="en-IN" sz="1100">
                          <a:effectLst/>
                        </a:rPr>
                        <a:t>(Owns 1 GW AP site + Adani JV)</a:t>
                      </a:r>
                      <a:endParaRPr lang="en-IN" sz="11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0186" marR="10186" marT="6791" marB="679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100">
                          <a:effectLst/>
                        </a:rPr>
                        <a:t>Very High</a:t>
                      </a:r>
                    </a:p>
                    <a:p>
                      <a:pPr rtl="0"/>
                      <a:br>
                        <a:rPr lang="en-US" sz="1100">
                          <a:effectLst/>
                        </a:rPr>
                      </a:br>
                      <a:r>
                        <a:rPr lang="en-US" sz="1100">
                          <a:effectLst/>
                        </a:rPr>
                        <a:t>(Dedicated Vertex AI tensor clusters)</a:t>
                      </a:r>
                      <a:endParaRPr lang="en-US" sz="11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0186" marR="10186" marT="6791" marB="679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08594726"/>
                  </a:ext>
                </a:extLst>
              </a:tr>
              <a:tr h="657515">
                <a:tc>
                  <a:txBody>
                    <a:bodyPr/>
                    <a:lstStyle/>
                    <a:p>
                      <a:pPr rtl="0"/>
                      <a:r>
                        <a:rPr lang="en-IN" sz="1100" dirty="0" err="1">
                          <a:effectLst/>
                        </a:rPr>
                        <a:t>Hyperscaler</a:t>
                      </a:r>
                      <a:endParaRPr lang="en-IN" sz="11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0186" marR="10186" marT="6791" marB="679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IN" sz="1100">
                          <a:effectLst/>
                        </a:rPr>
                        <a:t>Meta Platforms</a:t>
                      </a:r>
                      <a:endParaRPr lang="en-IN" sz="11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0186" marR="10186" marT="6791" marB="679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IN" sz="1100">
                          <a:effectLst/>
                        </a:rPr>
                        <a:t>United States</a:t>
                      </a:r>
                      <a:endParaRPr lang="en-IN" sz="11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0186" marR="10186" marT="6791" marB="679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IN" sz="1100">
                          <a:effectLst/>
                        </a:rPr>
                        <a:t>Social &amp; AI compute cluster builder</a:t>
                      </a:r>
                      <a:endParaRPr lang="en-IN" sz="11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0186" marR="10186" marT="6791" marB="679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100">
                          <a:effectLst/>
                        </a:rPr>
                        <a:t>First Dedicated Site Live</a:t>
                      </a:r>
                    </a:p>
                    <a:p>
                      <a:pPr rtl="0"/>
                      <a:br>
                        <a:rPr lang="en-US" sz="1100">
                          <a:effectLst/>
                        </a:rPr>
                      </a:br>
                      <a:r>
                        <a:rPr lang="en-US" sz="1100">
                          <a:effectLst/>
                        </a:rPr>
                        <a:t>(Leasing 168 MW custom node from Reliance)</a:t>
                      </a:r>
                      <a:endParaRPr lang="en-US" sz="11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0186" marR="10186" marT="6791" marB="679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100">
                          <a:effectLst/>
                        </a:rPr>
                        <a:t>Very High</a:t>
                      </a:r>
                    </a:p>
                    <a:p>
                      <a:pPr rtl="0"/>
                      <a:br>
                        <a:rPr lang="en-US" sz="1100">
                          <a:effectLst/>
                        </a:rPr>
                      </a:br>
                      <a:r>
                        <a:rPr lang="en-US" sz="1100">
                          <a:effectLst/>
                        </a:rPr>
                        <a:t>(Desalinated seawater cooling for custom Llama LLM workloads)</a:t>
                      </a:r>
                      <a:endParaRPr lang="en-US" sz="11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0186" marR="10186" marT="6791" marB="679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82905913"/>
                  </a:ext>
                </a:extLst>
              </a:tr>
              <a:tr h="657515">
                <a:tc>
                  <a:txBody>
                    <a:bodyPr/>
                    <a:lstStyle/>
                    <a:p>
                      <a:pPr rtl="0"/>
                      <a:r>
                        <a:rPr lang="en-IN" sz="1100">
                          <a:effectLst/>
                        </a:rPr>
                        <a:t>Hyperscaler</a:t>
                      </a:r>
                      <a:endParaRPr lang="en-IN" sz="11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0186" marR="10186" marT="6791" marB="679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IN" sz="1100">
                          <a:effectLst/>
                        </a:rPr>
                        <a:t>Oracle Cloud (OCI)</a:t>
                      </a:r>
                      <a:endParaRPr lang="en-IN" sz="11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0186" marR="10186" marT="6791" marB="679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IN" sz="1100">
                          <a:effectLst/>
                        </a:rPr>
                        <a:t>United States</a:t>
                      </a:r>
                      <a:endParaRPr lang="en-IN" sz="11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0186" marR="10186" marT="6791" marB="679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IN" sz="1100">
                          <a:effectLst/>
                        </a:rPr>
                        <a:t>Enterprise Database &amp; Cloud Infrastructure</a:t>
                      </a:r>
                      <a:endParaRPr lang="en-IN" sz="11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0186" marR="10186" marT="6791" marB="679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100">
                          <a:effectLst/>
                        </a:rPr>
                        <a:t>Expanding Baseline</a:t>
                      </a:r>
                    </a:p>
                    <a:p>
                      <a:pPr rtl="0"/>
                      <a:br>
                        <a:rPr lang="en-US" sz="1100">
                          <a:effectLst/>
                        </a:rPr>
                      </a:br>
                      <a:r>
                        <a:rPr lang="en-US" sz="1100">
                          <a:effectLst/>
                        </a:rPr>
                        <a:t>(Dedicated sovereign region nodes)</a:t>
                      </a:r>
                      <a:endParaRPr lang="en-US" sz="11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0186" marR="10186" marT="6791" marB="679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IN" sz="1100">
                          <a:effectLst/>
                        </a:rPr>
                        <a:t>High</a:t>
                      </a:r>
                    </a:p>
                    <a:p>
                      <a:pPr rtl="0"/>
                      <a:br>
                        <a:rPr lang="en-IN" sz="1100">
                          <a:effectLst/>
                        </a:rPr>
                      </a:br>
                      <a:r>
                        <a:rPr lang="en-IN" sz="1100">
                          <a:effectLst/>
                        </a:rPr>
                        <a:t>(High-density database clustering)</a:t>
                      </a:r>
                      <a:endParaRPr lang="en-IN" sz="11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0186" marR="10186" marT="6791" marB="679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9957167"/>
                  </a:ext>
                </a:extLst>
              </a:tr>
              <a:tr h="496399">
                <a:tc>
                  <a:txBody>
                    <a:bodyPr/>
                    <a:lstStyle/>
                    <a:p>
                      <a:pPr rtl="0"/>
                      <a:r>
                        <a:rPr lang="en-IN" sz="1100">
                          <a:effectLst/>
                        </a:rPr>
                        <a:t>Hyperscaler</a:t>
                      </a:r>
                      <a:endParaRPr lang="en-IN" sz="11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0186" marR="10186" marT="6791" marB="679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IN" sz="1100">
                          <a:effectLst/>
                        </a:rPr>
                        <a:t>Alibaba / Tencent Cloud</a:t>
                      </a:r>
                      <a:endParaRPr lang="en-IN" sz="11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0186" marR="10186" marT="6791" marB="679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IN" sz="1100">
                          <a:effectLst/>
                        </a:rPr>
                        <a:t>China</a:t>
                      </a:r>
                      <a:endParaRPr lang="en-IN" sz="11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0186" marR="10186" marT="6791" marB="679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IN" sz="1100">
                          <a:effectLst/>
                        </a:rPr>
                        <a:t>Cloud platform service provider</a:t>
                      </a:r>
                      <a:endParaRPr lang="en-IN" sz="11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0186" marR="10186" marT="6791" marB="679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IN" sz="1100">
                          <a:effectLst/>
                        </a:rPr>
                        <a:t>Frozen / Exit</a:t>
                      </a:r>
                      <a:endParaRPr lang="en-IN" sz="11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0186" marR="10186" marT="6791" marB="679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IN" sz="1100">
                          <a:effectLst/>
                        </a:rPr>
                        <a:t>None</a:t>
                      </a:r>
                    </a:p>
                    <a:p>
                      <a:pPr rtl="0"/>
                      <a:br>
                        <a:rPr lang="en-IN" sz="1100">
                          <a:effectLst/>
                        </a:rPr>
                      </a:br>
                      <a:r>
                        <a:rPr lang="en-IN" sz="1100">
                          <a:effectLst/>
                        </a:rPr>
                        <a:t>(Geopolitical restrictions)</a:t>
                      </a:r>
                      <a:endParaRPr lang="en-IN" sz="11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0186" marR="10186" marT="6791" marB="679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78428239"/>
                  </a:ext>
                </a:extLst>
              </a:tr>
              <a:tr h="657515">
                <a:tc>
                  <a:txBody>
                    <a:bodyPr/>
                    <a:lstStyle/>
                    <a:p>
                      <a:pPr rtl="0"/>
                      <a:r>
                        <a:rPr lang="en-IN" sz="1100">
                          <a:effectLst/>
                        </a:rPr>
                        <a:t>Colocation Operator</a:t>
                      </a:r>
                      <a:endParaRPr lang="en-IN" sz="11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0186" marR="10186" marT="6791" marB="679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IN" sz="1100">
                          <a:effectLst/>
                        </a:rPr>
                        <a:t>AirTrunk (Blackstone)</a:t>
                      </a:r>
                      <a:endParaRPr lang="en-IN" sz="11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0186" marR="10186" marT="6791" marB="679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IN" sz="1100" dirty="0">
                          <a:effectLst/>
                        </a:rPr>
                        <a:t>Australia / US</a:t>
                      </a:r>
                      <a:endParaRPr lang="en-IN" sz="11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0186" marR="10186" marT="6791" marB="679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IN" sz="1100">
                          <a:effectLst/>
                        </a:rPr>
                        <a:t>Wholesale Hyperscale Developer</a:t>
                      </a:r>
                      <a:endParaRPr lang="en-IN" sz="11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0186" marR="10186" marT="6791" marB="679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IN" sz="1100">
                          <a:effectLst/>
                        </a:rPr>
                        <a:t>Aggressive Entrant</a:t>
                      </a:r>
                    </a:p>
                    <a:p>
                      <a:pPr rtl="0"/>
                      <a:br>
                        <a:rPr lang="en-IN" sz="1100">
                          <a:effectLst/>
                        </a:rPr>
                      </a:br>
                      <a:r>
                        <a:rPr lang="en-IN" sz="1100">
                          <a:effectLst/>
                        </a:rPr>
                        <a:t>(Acquired Lumina; targeting 5 GW footprint)</a:t>
                      </a:r>
                      <a:endParaRPr lang="en-IN" sz="11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0186" marR="10186" marT="6791" marB="679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100" dirty="0">
                          <a:effectLst/>
                        </a:rPr>
                        <a:t>Extremely High</a:t>
                      </a:r>
                    </a:p>
                    <a:p>
                      <a:pPr rtl="0"/>
                      <a:br>
                        <a:rPr lang="en-US" sz="1100" dirty="0">
                          <a:effectLst/>
                        </a:rPr>
                      </a:br>
                      <a:r>
                        <a:rPr lang="en-US" sz="1100" dirty="0">
                          <a:effectLst/>
                        </a:rPr>
                        <a:t>(Custom megawatt modular blocks for external AI leases)</a:t>
                      </a:r>
                      <a:endParaRPr lang="en-US" sz="11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0186" marR="10186" marT="6791" marB="679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76485551"/>
                  </a:ext>
                </a:extLst>
              </a:tr>
              <a:tr h="533292">
                <a:tc>
                  <a:txBody>
                    <a:bodyPr/>
                    <a:lstStyle/>
                    <a:p>
                      <a:pPr rtl="0"/>
                      <a:r>
                        <a:rPr lang="en-IN" sz="1100">
                          <a:effectLst/>
                        </a:rPr>
                        <a:t>Colocation Operator</a:t>
                      </a:r>
                      <a:endParaRPr lang="en-IN" sz="11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0186" marR="10186" marT="6791" marB="679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IN" sz="1100">
                          <a:effectLst/>
                        </a:rPr>
                        <a:t>Equinix</a:t>
                      </a:r>
                      <a:endParaRPr lang="en-IN" sz="11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0186" marR="10186" marT="6791" marB="679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IN" sz="1100">
                          <a:effectLst/>
                        </a:rPr>
                        <a:t>United States</a:t>
                      </a:r>
                      <a:endParaRPr lang="en-IN" sz="11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0186" marR="10186" marT="6791" marB="679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IN" sz="1100">
                          <a:effectLst/>
                        </a:rPr>
                        <a:t>Carrier-Neutral Interconnection Provider</a:t>
                      </a:r>
                      <a:endParaRPr lang="en-IN" sz="11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0186" marR="10186" marT="6791" marB="679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100">
                          <a:effectLst/>
                        </a:rPr>
                        <a:t>High-Density Mesh</a:t>
                      </a:r>
                    </a:p>
                    <a:p>
                      <a:pPr rtl="0"/>
                      <a:br>
                        <a:rPr lang="en-US" sz="1100">
                          <a:effectLst/>
                        </a:rPr>
                      </a:br>
                      <a:r>
                        <a:rPr lang="en-US" sz="1100">
                          <a:effectLst/>
                        </a:rPr>
                        <a:t>(Active MB3 in Mumbai &amp; CN1 in Chennai)</a:t>
                      </a:r>
                      <a:endParaRPr lang="en-US" sz="11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0186" marR="10186" marT="6791" marB="679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IN" sz="1100">
                          <a:effectLst/>
                        </a:rPr>
                        <a:t>High</a:t>
                      </a:r>
                    </a:p>
                    <a:p>
                      <a:pPr rtl="0"/>
                      <a:br>
                        <a:rPr lang="en-IN" sz="1100">
                          <a:effectLst/>
                        </a:rPr>
                      </a:br>
                      <a:r>
                        <a:rPr lang="en-IN" sz="1100">
                          <a:effectLst/>
                        </a:rPr>
                        <a:t>(Interconnected multi-cloud AI private network nodes)</a:t>
                      </a:r>
                      <a:endParaRPr lang="en-IN" sz="11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0186" marR="10186" marT="6791" marB="679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2639417"/>
                  </a:ext>
                </a:extLst>
              </a:tr>
              <a:tr h="657515">
                <a:tc>
                  <a:txBody>
                    <a:bodyPr/>
                    <a:lstStyle/>
                    <a:p>
                      <a:pPr rtl="0"/>
                      <a:r>
                        <a:rPr lang="en-IN" sz="1100">
                          <a:effectLst/>
                        </a:rPr>
                        <a:t>Colocation Operator</a:t>
                      </a:r>
                      <a:endParaRPr lang="en-IN" sz="11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0186" marR="10186" marT="6791" marB="679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IN" sz="1100">
                          <a:effectLst/>
                        </a:rPr>
                        <a:t>Digital Realty (BAM Digital)</a:t>
                      </a:r>
                      <a:endParaRPr lang="en-IN" sz="11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0186" marR="10186" marT="6791" marB="679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IN" sz="1100">
                          <a:effectLst/>
                        </a:rPr>
                        <a:t>United States</a:t>
                      </a:r>
                      <a:endParaRPr lang="en-IN" sz="11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0186" marR="10186" marT="6791" marB="679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100">
                          <a:effectLst/>
                        </a:rPr>
                        <a:t>Wholesaler &amp; Real Estate Investment Trust</a:t>
                      </a:r>
                      <a:endParaRPr lang="en-US" sz="11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0186" marR="10186" marT="6791" marB="679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IN" sz="1100" dirty="0">
                          <a:effectLst/>
                        </a:rPr>
                        <a:t>Active Mega-Scale</a:t>
                      </a:r>
                    </a:p>
                    <a:p>
                      <a:pPr rtl="0"/>
                      <a:br>
                        <a:rPr lang="en-IN" sz="1100" dirty="0">
                          <a:effectLst/>
                        </a:rPr>
                      </a:br>
                      <a:r>
                        <a:rPr lang="en-IN" sz="1100" dirty="0">
                          <a:effectLst/>
                        </a:rPr>
                        <a:t>(100MW MAA10 Ambattur, Chennai campus live)</a:t>
                      </a:r>
                      <a:endParaRPr lang="en-IN" sz="11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0186" marR="10186" marT="6791" marB="679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100">
                          <a:effectLst/>
                        </a:rPr>
                        <a:t>High</a:t>
                      </a:r>
                    </a:p>
                    <a:p>
                      <a:pPr rtl="0"/>
                      <a:br>
                        <a:rPr lang="en-US" sz="1100">
                          <a:effectLst/>
                        </a:rPr>
                      </a:br>
                      <a:r>
                        <a:rPr lang="en-US" sz="1100">
                          <a:effectLst/>
                        </a:rPr>
                        <a:t>(IGBC Platinum certified high-thermal chassis architecture)</a:t>
                      </a:r>
                      <a:endParaRPr lang="en-US" sz="11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0186" marR="10186" marT="6791" marB="679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14859036"/>
                  </a:ext>
                </a:extLst>
              </a:tr>
              <a:tr h="533292">
                <a:tc>
                  <a:txBody>
                    <a:bodyPr/>
                    <a:lstStyle/>
                    <a:p>
                      <a:pPr rtl="0"/>
                      <a:r>
                        <a:rPr lang="en-IN" sz="1100">
                          <a:effectLst/>
                        </a:rPr>
                        <a:t>Colocation Operator</a:t>
                      </a:r>
                      <a:endParaRPr lang="en-IN" sz="11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0186" marR="10186" marT="6791" marB="679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IN" sz="1100">
                          <a:effectLst/>
                        </a:rPr>
                        <a:t>CyrusOne / GDS Holdings</a:t>
                      </a:r>
                      <a:endParaRPr lang="en-IN" sz="11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0186" marR="10186" marT="6791" marB="679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IN" sz="1100">
                          <a:effectLst/>
                        </a:rPr>
                        <a:t>US / China</a:t>
                      </a:r>
                      <a:endParaRPr lang="en-IN" sz="11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0186" marR="10186" marT="6791" marB="679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IN" sz="1100">
                          <a:effectLst/>
                        </a:rPr>
                        <a:t>International wholesale colocation</a:t>
                      </a:r>
                      <a:endParaRPr lang="en-IN" sz="11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0186" marR="10186" marT="6791" marB="679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IN" sz="1100">
                          <a:effectLst/>
                        </a:rPr>
                        <a:t>No Direct Operations</a:t>
                      </a:r>
                      <a:endParaRPr lang="en-IN" sz="11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0186" marR="10186" marT="6791" marB="679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100" dirty="0">
                          <a:effectLst/>
                        </a:rPr>
                        <a:t>Low</a:t>
                      </a:r>
                    </a:p>
                    <a:p>
                      <a:pPr rtl="0"/>
                      <a:br>
                        <a:rPr lang="en-US" sz="1100" dirty="0">
                          <a:effectLst/>
                        </a:rPr>
                      </a:br>
                      <a:r>
                        <a:rPr lang="en-US" sz="1100" dirty="0">
                          <a:effectLst/>
                        </a:rPr>
                        <a:t>(Focus shifted entirely to other APAC/EMEA regions)</a:t>
                      </a:r>
                      <a:endParaRPr lang="en-US" sz="11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0186" marR="10186" marT="6791" marB="679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5491666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4046779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D46DFD1C-EDE1-412D-868E-BEDAB02507E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13549394"/>
              </p:ext>
            </p:extLst>
          </p:nvPr>
        </p:nvGraphicFramePr>
        <p:xfrm>
          <a:off x="293078" y="323558"/>
          <a:ext cx="11605843" cy="6413291"/>
        </p:xfrm>
        <a:graphic>
          <a:graphicData uri="http://schemas.openxmlformats.org/drawingml/2006/table">
            <a:tbl>
              <a:tblPr>
                <a:tableStyleId>{D113A9D2-9D6B-4929-AA2D-F23B5EE8CBE7}</a:tableStyleId>
              </a:tblPr>
              <a:tblGrid>
                <a:gridCol w="1598132">
                  <a:extLst>
                    <a:ext uri="{9D8B030D-6E8A-4147-A177-3AD203B41FA5}">
                      <a16:colId xmlns:a16="http://schemas.microsoft.com/office/drawing/2014/main" val="4120769012"/>
                    </a:ext>
                  </a:extLst>
                </a:gridCol>
                <a:gridCol w="1830869">
                  <a:extLst>
                    <a:ext uri="{9D8B030D-6E8A-4147-A177-3AD203B41FA5}">
                      <a16:colId xmlns:a16="http://schemas.microsoft.com/office/drawing/2014/main" val="1320216718"/>
                    </a:ext>
                  </a:extLst>
                </a:gridCol>
                <a:gridCol w="1629162">
                  <a:extLst>
                    <a:ext uri="{9D8B030D-6E8A-4147-A177-3AD203B41FA5}">
                      <a16:colId xmlns:a16="http://schemas.microsoft.com/office/drawing/2014/main" val="1772210491"/>
                    </a:ext>
                  </a:extLst>
                </a:gridCol>
                <a:gridCol w="2187733">
                  <a:extLst>
                    <a:ext uri="{9D8B030D-6E8A-4147-A177-3AD203B41FA5}">
                      <a16:colId xmlns:a16="http://schemas.microsoft.com/office/drawing/2014/main" val="3463224723"/>
                    </a:ext>
                  </a:extLst>
                </a:gridCol>
                <a:gridCol w="2063606">
                  <a:extLst>
                    <a:ext uri="{9D8B030D-6E8A-4147-A177-3AD203B41FA5}">
                      <a16:colId xmlns:a16="http://schemas.microsoft.com/office/drawing/2014/main" val="2814652135"/>
                    </a:ext>
                  </a:extLst>
                </a:gridCol>
                <a:gridCol w="2296341">
                  <a:extLst>
                    <a:ext uri="{9D8B030D-6E8A-4147-A177-3AD203B41FA5}">
                      <a16:colId xmlns:a16="http://schemas.microsoft.com/office/drawing/2014/main" val="1376773509"/>
                    </a:ext>
                  </a:extLst>
                </a:gridCol>
              </a:tblGrid>
              <a:tr h="883374">
                <a:tc>
                  <a:txBody>
                    <a:bodyPr/>
                    <a:lstStyle/>
                    <a:p>
                      <a:pPr rtl="0"/>
                      <a:r>
                        <a:rPr lang="en-IN" sz="1200" dirty="0">
                          <a:effectLst/>
                        </a:rPr>
                        <a:t>India – Domestic Operator</a:t>
                      </a:r>
                      <a:endParaRPr lang="en-IN" sz="12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0186" marR="10186" marT="6791" marB="679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IN" sz="1200">
                          <a:effectLst/>
                        </a:rPr>
                        <a:t>ST Telemedia Global Data Centres (STT GDC)</a:t>
                      </a:r>
                      <a:endParaRPr lang="en-IN" sz="12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0186" marR="10186" marT="6791" marB="679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IN" sz="1200">
                          <a:effectLst/>
                        </a:rPr>
                        <a:t>India / Singapore</a:t>
                      </a:r>
                      <a:endParaRPr lang="en-IN" sz="12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0186" marR="10186" marT="6791" marB="679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IN" sz="1200">
                          <a:effectLst/>
                        </a:rPr>
                        <a:t>Pure-play carrier-neutral colocation</a:t>
                      </a:r>
                      <a:endParaRPr lang="en-IN" sz="12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0186" marR="10186" marT="6791" marB="679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IN" sz="1200">
                          <a:effectLst/>
                        </a:rPr>
                        <a:t>Market Co-Leader</a:t>
                      </a:r>
                    </a:p>
                    <a:p>
                      <a:pPr rtl="0"/>
                      <a:br>
                        <a:rPr lang="en-IN" sz="1200">
                          <a:effectLst/>
                        </a:rPr>
                      </a:br>
                      <a:r>
                        <a:rPr lang="en-IN" sz="1200">
                          <a:effectLst/>
                        </a:rPr>
                        <a:t>(Expanding footprint + Kolkata expansion)</a:t>
                      </a:r>
                      <a:endParaRPr lang="en-IN" sz="12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0186" marR="10186" marT="6791" marB="679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200" dirty="0">
                          <a:effectLst/>
                        </a:rPr>
                        <a:t>High</a:t>
                      </a:r>
                    </a:p>
                    <a:p>
                      <a:pPr rtl="0"/>
                      <a:br>
                        <a:rPr lang="en-US" sz="1200" dirty="0">
                          <a:effectLst/>
                        </a:rPr>
                      </a:br>
                      <a:r>
                        <a:rPr lang="en-US" sz="1200" dirty="0">
                          <a:effectLst/>
                        </a:rPr>
                        <a:t>(Active multi-million dollar retrofit for direct-to-chip cooling)</a:t>
                      </a:r>
                      <a:endParaRPr lang="en-US" sz="12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0186" marR="10186" marT="6791" marB="679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25821005"/>
                  </a:ext>
                </a:extLst>
              </a:tr>
              <a:tr h="709285">
                <a:tc>
                  <a:txBody>
                    <a:bodyPr/>
                    <a:lstStyle/>
                    <a:p>
                      <a:pPr rtl="0"/>
                      <a:r>
                        <a:rPr lang="en-IN" sz="1200" dirty="0">
                          <a:effectLst/>
                        </a:rPr>
                        <a:t>India – Domestic Operator</a:t>
                      </a:r>
                      <a:endParaRPr lang="en-IN" sz="12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0186" marR="10186" marT="6791" marB="679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IN" sz="1200">
                          <a:effectLst/>
                        </a:rPr>
                        <a:t>NTT Global Data Centers</a:t>
                      </a:r>
                      <a:endParaRPr lang="en-IN" sz="12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0186" marR="10186" marT="6791" marB="679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IN" sz="1200">
                          <a:effectLst/>
                        </a:rPr>
                        <a:t>Japan / India</a:t>
                      </a:r>
                      <a:endParaRPr lang="en-IN" sz="12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0186" marR="10186" marT="6791" marB="679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IN" sz="1200">
                          <a:effectLst/>
                        </a:rPr>
                        <a:t>Managed IT &amp; Wholesale colocation</a:t>
                      </a:r>
                      <a:endParaRPr lang="en-IN" sz="12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0186" marR="10186" marT="6791" marB="679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200">
                          <a:effectLst/>
                        </a:rPr>
                        <a:t>Market Co-Leader</a:t>
                      </a:r>
                    </a:p>
                    <a:p>
                      <a:pPr rtl="0"/>
                      <a:br>
                        <a:rPr lang="en-US" sz="1200">
                          <a:effectLst/>
                        </a:rPr>
                      </a:br>
                      <a:r>
                        <a:rPr lang="en-US" sz="1200">
                          <a:effectLst/>
                        </a:rPr>
                        <a:t>(Active 400 MW AI partnership with Neysa)</a:t>
                      </a:r>
                      <a:endParaRPr lang="en-US" sz="12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0186" marR="10186" marT="6791" marB="679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IN" sz="1200">
                          <a:effectLst/>
                        </a:rPr>
                        <a:t>High</a:t>
                      </a:r>
                    </a:p>
                    <a:p>
                      <a:pPr rtl="0"/>
                      <a:br>
                        <a:rPr lang="en-IN" sz="1200">
                          <a:effectLst/>
                        </a:rPr>
                      </a:br>
                      <a:r>
                        <a:rPr lang="en-IN" sz="1200">
                          <a:effectLst/>
                        </a:rPr>
                        <a:t>(Enterprise liquid-cooling clusters)</a:t>
                      </a:r>
                      <a:endParaRPr lang="en-IN" sz="12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0186" marR="10186" marT="6791" marB="679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04725673"/>
                  </a:ext>
                </a:extLst>
              </a:tr>
              <a:tr h="762445">
                <a:tc>
                  <a:txBody>
                    <a:bodyPr/>
                    <a:lstStyle/>
                    <a:p>
                      <a:pPr rtl="0"/>
                      <a:r>
                        <a:rPr lang="en-IN" sz="1200">
                          <a:effectLst/>
                        </a:rPr>
                        <a:t>India – Domestic Operator</a:t>
                      </a:r>
                      <a:endParaRPr lang="en-IN" sz="12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0186" marR="10186" marT="6791" marB="679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IN" sz="1200">
                          <a:effectLst/>
                        </a:rPr>
                        <a:t>CtrlS Datacenters</a:t>
                      </a:r>
                      <a:endParaRPr lang="en-IN" sz="12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0186" marR="10186" marT="6791" marB="679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IN" sz="1200">
                          <a:effectLst/>
                        </a:rPr>
                        <a:t>India</a:t>
                      </a:r>
                      <a:endParaRPr lang="en-IN" sz="12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0186" marR="10186" marT="6791" marB="679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IN" sz="1200">
                          <a:effectLst/>
                        </a:rPr>
                        <a:t>Enterprise &amp; Tier-4 premium operator</a:t>
                      </a:r>
                      <a:endParaRPr lang="en-IN" sz="12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0186" marR="10186" marT="6791" marB="679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200">
                          <a:effectLst/>
                        </a:rPr>
                        <a:t>Strong Defensive Expansion</a:t>
                      </a:r>
                    </a:p>
                    <a:p>
                      <a:pPr rtl="0"/>
                      <a:br>
                        <a:rPr lang="en-US" sz="1200">
                          <a:effectLst/>
                        </a:rPr>
                      </a:br>
                      <a:r>
                        <a:rPr lang="en-US" sz="1200">
                          <a:effectLst/>
                        </a:rPr>
                        <a:t>(612 MW flagship facility in Hyderabad)</a:t>
                      </a:r>
                      <a:endParaRPr lang="en-US" sz="12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0186" marR="10186" marT="6791" marB="679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200">
                          <a:effectLst/>
                        </a:rPr>
                        <a:t>High</a:t>
                      </a:r>
                    </a:p>
                    <a:p>
                      <a:pPr rtl="0"/>
                      <a:br>
                        <a:rPr lang="en-US" sz="1200">
                          <a:effectLst/>
                        </a:rPr>
                      </a:br>
                      <a:r>
                        <a:rPr lang="en-US" sz="1200">
                          <a:effectLst/>
                        </a:rPr>
                        <a:t>(40 kW to 80 kW high-density racks with immersion loops)</a:t>
                      </a:r>
                      <a:endParaRPr lang="en-US" sz="12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0186" marR="10186" marT="6791" marB="679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961025"/>
                  </a:ext>
                </a:extLst>
              </a:tr>
              <a:tr h="762445">
                <a:tc>
                  <a:txBody>
                    <a:bodyPr/>
                    <a:lstStyle/>
                    <a:p>
                      <a:pPr rtl="0"/>
                      <a:r>
                        <a:rPr lang="en-IN" sz="1200" dirty="0">
                          <a:effectLst/>
                        </a:rPr>
                        <a:t>India – Domestic Operator</a:t>
                      </a:r>
                      <a:endParaRPr lang="en-IN" sz="12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0186" marR="10186" marT="6791" marB="679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IN" sz="1200">
                          <a:effectLst/>
                        </a:rPr>
                        <a:t>AdaniConEx</a:t>
                      </a:r>
                      <a:endParaRPr lang="en-IN" sz="12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0186" marR="10186" marT="6791" marB="679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IN" sz="1200">
                          <a:effectLst/>
                        </a:rPr>
                        <a:t>India</a:t>
                      </a:r>
                      <a:endParaRPr lang="en-IN" sz="12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0186" marR="10186" marT="6791" marB="679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IN" sz="1200">
                          <a:effectLst/>
                        </a:rPr>
                        <a:t>Greenfield Infrastructure &amp; Energy JV</a:t>
                      </a:r>
                      <a:endParaRPr lang="en-IN" sz="12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0186" marR="10186" marT="6791" marB="679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200">
                          <a:effectLst/>
                        </a:rPr>
                        <a:t>Massive Scaling Threat</a:t>
                      </a:r>
                    </a:p>
                    <a:p>
                      <a:pPr rtl="0"/>
                      <a:br>
                        <a:rPr lang="en-US" sz="1200">
                          <a:effectLst/>
                        </a:rPr>
                      </a:br>
                      <a:r>
                        <a:rPr lang="en-US" sz="1200">
                          <a:effectLst/>
                        </a:rPr>
                        <a:t>(Building up a multi-decade $100B footprint)</a:t>
                      </a:r>
                      <a:endParaRPr lang="en-US" sz="12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0186" marR="10186" marT="6791" marB="679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200">
                          <a:effectLst/>
                        </a:rPr>
                        <a:t>High</a:t>
                      </a:r>
                    </a:p>
                    <a:p>
                      <a:pPr rtl="0"/>
                      <a:br>
                        <a:rPr lang="en-US" sz="1200">
                          <a:effectLst/>
                        </a:rPr>
                      </a:br>
                      <a:r>
                        <a:rPr lang="en-US" sz="1200">
                          <a:effectLst/>
                        </a:rPr>
                        <a:t>(100% backward-integrated green captive energy loops)</a:t>
                      </a:r>
                      <a:endParaRPr lang="en-US" sz="12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0186" marR="10186" marT="6791" marB="679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48753786"/>
                  </a:ext>
                </a:extLst>
              </a:tr>
              <a:tr h="762445">
                <a:tc>
                  <a:txBody>
                    <a:bodyPr/>
                    <a:lstStyle/>
                    <a:p>
                      <a:pPr rtl="0"/>
                      <a:r>
                        <a:rPr lang="en-IN" sz="1200">
                          <a:effectLst/>
                        </a:rPr>
                        <a:t>India – Domestic Operator</a:t>
                      </a:r>
                      <a:endParaRPr lang="en-IN" sz="12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0186" marR="10186" marT="6791" marB="679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IN" sz="1200">
                          <a:effectLst/>
                        </a:rPr>
                        <a:t>Reliance Industries (Jio)</a:t>
                      </a:r>
                      <a:endParaRPr lang="en-IN" sz="12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0186" marR="10186" marT="6791" marB="679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IN" sz="1200">
                          <a:effectLst/>
                        </a:rPr>
                        <a:t>India</a:t>
                      </a:r>
                      <a:endParaRPr lang="en-IN" sz="12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0186" marR="10186" marT="6791" marB="679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IN" sz="1200">
                          <a:effectLst/>
                        </a:rPr>
                        <a:t>Telecom-integrated platform owner</a:t>
                      </a:r>
                      <a:endParaRPr lang="en-IN" sz="12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0186" marR="10186" marT="6791" marB="679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200">
                          <a:effectLst/>
                        </a:rPr>
                        <a:t>Mega Infrastructure Engine</a:t>
                      </a:r>
                    </a:p>
                    <a:p>
                      <a:pPr rtl="0"/>
                      <a:br>
                        <a:rPr lang="en-US" sz="1200">
                          <a:effectLst/>
                        </a:rPr>
                      </a:br>
                      <a:r>
                        <a:rPr lang="en-US" sz="1200">
                          <a:effectLst/>
                        </a:rPr>
                        <a:t>(Building the Jamnagar and Vizag nodes)</a:t>
                      </a:r>
                      <a:endParaRPr lang="en-US" sz="12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0186" marR="10186" marT="6791" marB="679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200">
                          <a:effectLst/>
                        </a:rPr>
                        <a:t>Very High</a:t>
                      </a:r>
                    </a:p>
                    <a:p>
                      <a:pPr rtl="0"/>
                      <a:br>
                        <a:rPr lang="en-US" sz="1200">
                          <a:effectLst/>
                        </a:rPr>
                      </a:br>
                      <a:r>
                        <a:rPr lang="en-US" sz="1200">
                          <a:effectLst/>
                        </a:rPr>
                        <a:t>(Host to Meta’s primary Indian AI data core)</a:t>
                      </a:r>
                      <a:endParaRPr lang="en-US" sz="12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0186" marR="10186" marT="6791" marB="679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5998500"/>
                  </a:ext>
                </a:extLst>
              </a:tr>
              <a:tr h="883374">
                <a:tc>
                  <a:txBody>
                    <a:bodyPr/>
                    <a:lstStyle/>
                    <a:p>
                      <a:pPr rtl="0"/>
                      <a:r>
                        <a:rPr lang="en-IN" sz="1200">
                          <a:effectLst/>
                        </a:rPr>
                        <a:t>India – Domestic Operator</a:t>
                      </a:r>
                      <a:endParaRPr lang="en-IN" sz="12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0186" marR="10186" marT="6791" marB="679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IN" sz="1200">
                          <a:effectLst/>
                        </a:rPr>
                        <a:t>Yotta Data Services</a:t>
                      </a:r>
                      <a:endParaRPr lang="en-IN" sz="12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0186" marR="10186" marT="6791" marB="679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IN" sz="1200">
                          <a:effectLst/>
                        </a:rPr>
                        <a:t>India</a:t>
                      </a:r>
                      <a:endParaRPr lang="en-IN" sz="12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0186" marR="10186" marT="6791" marB="679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IN" sz="1200">
                          <a:effectLst/>
                        </a:rPr>
                        <a:t>High-Performance Sovereign Cloud</a:t>
                      </a:r>
                      <a:endParaRPr lang="en-IN" sz="12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0186" marR="10186" marT="6791" marB="679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IN" sz="1200">
                          <a:effectLst/>
                        </a:rPr>
                        <a:t>Specialized AI Cloud Provider</a:t>
                      </a:r>
                    </a:p>
                    <a:p>
                      <a:pPr rtl="0"/>
                      <a:br>
                        <a:rPr lang="en-IN" sz="1200">
                          <a:effectLst/>
                        </a:rPr>
                      </a:br>
                      <a:r>
                        <a:rPr lang="en-IN" sz="1200">
                          <a:effectLst/>
                        </a:rPr>
                        <a:t>(Preparing a $900M domestic IPO)</a:t>
                      </a:r>
                      <a:endParaRPr lang="en-IN" sz="12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0186" marR="10186" marT="6791" marB="679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200">
                          <a:effectLst/>
                        </a:rPr>
                        <a:t>Extremely High</a:t>
                      </a:r>
                    </a:p>
                    <a:p>
                      <a:pPr rtl="0"/>
                      <a:br>
                        <a:rPr lang="en-US" sz="1200">
                          <a:effectLst/>
                        </a:rPr>
                      </a:br>
                      <a:r>
                        <a:rPr lang="en-US" sz="1200">
                          <a:effectLst/>
                        </a:rPr>
                        <a:t>(One of the largest sovereign distributors of NVIDIA GPU setups)</a:t>
                      </a:r>
                      <a:endParaRPr lang="en-US" sz="12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0186" marR="10186" marT="6791" marB="679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13055598"/>
                  </a:ext>
                </a:extLst>
              </a:tr>
              <a:tr h="762445">
                <a:tc>
                  <a:txBody>
                    <a:bodyPr/>
                    <a:lstStyle/>
                    <a:p>
                      <a:pPr rtl="0"/>
                      <a:r>
                        <a:rPr lang="en-IN" sz="1200">
                          <a:effectLst/>
                        </a:rPr>
                        <a:t>India – Domestic Operator</a:t>
                      </a:r>
                      <a:endParaRPr lang="en-IN" sz="12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0186" marR="10186" marT="6791" marB="679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IN" sz="1200">
                          <a:effectLst/>
                        </a:rPr>
                        <a:t>Nxtra Data (Bharti Airtel)</a:t>
                      </a:r>
                      <a:endParaRPr lang="en-IN" sz="12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0186" marR="10186" marT="6791" marB="679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IN" sz="1200">
                          <a:effectLst/>
                        </a:rPr>
                        <a:t>India</a:t>
                      </a:r>
                      <a:endParaRPr lang="en-IN" sz="12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0186" marR="10186" marT="6791" marB="679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IN" sz="1200" dirty="0">
                          <a:effectLst/>
                        </a:rPr>
                        <a:t>Telecom-linked data infrastructure</a:t>
                      </a:r>
                      <a:endParaRPr lang="en-IN" sz="12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0186" marR="10186" marT="6791" marB="679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200">
                          <a:effectLst/>
                        </a:rPr>
                        <a:t>Edge-Network Leader</a:t>
                      </a:r>
                    </a:p>
                    <a:p>
                      <a:pPr rtl="0"/>
                      <a:br>
                        <a:rPr lang="en-US" sz="1200">
                          <a:effectLst/>
                        </a:rPr>
                      </a:br>
                      <a:r>
                        <a:rPr lang="en-US" sz="1200">
                          <a:effectLst/>
                        </a:rPr>
                        <a:t>(Active Tier-2/Tier-3 city edge node rollout)</a:t>
                      </a:r>
                      <a:endParaRPr lang="en-US" sz="12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0186" marR="10186" marT="6791" marB="679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200">
                          <a:effectLst/>
                        </a:rPr>
                        <a:t>Medium</a:t>
                      </a:r>
                    </a:p>
                    <a:p>
                      <a:pPr rtl="0"/>
                      <a:br>
                        <a:rPr lang="en-US" sz="1200">
                          <a:effectLst/>
                        </a:rPr>
                      </a:br>
                      <a:r>
                        <a:rPr lang="en-US" sz="1200">
                          <a:effectLst/>
                        </a:rPr>
                        <a:t>(Focused on 5G FWA and ultra-low latency data routing)</a:t>
                      </a:r>
                      <a:endParaRPr lang="en-US" sz="12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0186" marR="10186" marT="6791" marB="679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57329103"/>
                  </a:ext>
                </a:extLst>
              </a:tr>
              <a:tr h="762445">
                <a:tc>
                  <a:txBody>
                    <a:bodyPr/>
                    <a:lstStyle/>
                    <a:p>
                      <a:pPr rtl="0"/>
                      <a:r>
                        <a:rPr lang="en-IN" sz="1200">
                          <a:effectLst/>
                        </a:rPr>
                        <a:t>India – Domestic Operator</a:t>
                      </a:r>
                      <a:endParaRPr lang="en-IN" sz="12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0186" marR="10186" marT="6791" marB="679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IN" sz="1200">
                          <a:effectLst/>
                        </a:rPr>
                        <a:t>RackBank Datacenters</a:t>
                      </a:r>
                      <a:endParaRPr lang="en-IN" sz="12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0186" marR="10186" marT="6791" marB="679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IN" sz="1200">
                          <a:effectLst/>
                        </a:rPr>
                        <a:t>India</a:t>
                      </a:r>
                      <a:endParaRPr lang="en-IN" sz="12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0186" marR="10186" marT="6791" marB="679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IN" sz="1200" dirty="0">
                          <a:effectLst/>
                        </a:rPr>
                        <a:t>Custom Green AI Infrastructure</a:t>
                      </a:r>
                      <a:endParaRPr lang="en-IN" sz="12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0186" marR="10186" marT="6791" marB="679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200" dirty="0">
                          <a:effectLst/>
                        </a:rPr>
                        <a:t>Active Niche Disruptor</a:t>
                      </a:r>
                    </a:p>
                    <a:p>
                      <a:pPr rtl="0"/>
                      <a:br>
                        <a:rPr lang="en-US" sz="1200" dirty="0">
                          <a:effectLst/>
                        </a:rPr>
                      </a:br>
                      <a:r>
                        <a:rPr lang="en-US" sz="1200" dirty="0">
                          <a:effectLst/>
                        </a:rPr>
                        <a:t>(Building the AI Data Centre Park in Raipur)</a:t>
                      </a:r>
                      <a:endParaRPr lang="en-US" sz="12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0186" marR="10186" marT="6791" marB="679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200" dirty="0">
                          <a:effectLst/>
                        </a:rPr>
                        <a:t>Extremely High</a:t>
                      </a:r>
                    </a:p>
                    <a:p>
                      <a:pPr rtl="0"/>
                      <a:br>
                        <a:rPr lang="en-US" sz="1200" dirty="0">
                          <a:effectLst/>
                        </a:rPr>
                      </a:br>
                      <a:r>
                        <a:rPr lang="en-US" sz="1200" dirty="0">
                          <a:effectLst/>
                        </a:rPr>
                        <a:t>(Patented liquid immersion tech for 80kW+ server setups)</a:t>
                      </a:r>
                      <a:endParaRPr lang="en-US" sz="12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0186" marR="10186" marT="6791" marB="679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6742867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5775889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490E0E-9321-4B5A-9F81-7F63B6A599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7682" y="20179"/>
            <a:ext cx="8911687" cy="711341"/>
          </a:xfrm>
        </p:spPr>
        <p:txBody>
          <a:bodyPr>
            <a:normAutofit/>
          </a:bodyPr>
          <a:lstStyle/>
          <a:p>
            <a:pPr algn="ctr"/>
            <a:r>
              <a:rPr lang="en-US" dirty="0">
                <a:latin typeface="Poppins" panose="02000000000000000000" pitchFamily="2" charset="0"/>
                <a:ea typeface="PMingLiU" panose="02020500000000000000" pitchFamily="18" charset="-120"/>
                <a:cs typeface="Calibri" panose="020F0502020204030204" pitchFamily="34" charset="0"/>
              </a:rPr>
              <a:t>Market Opportunity</a:t>
            </a:r>
            <a:endParaRPr lang="en-IN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1848B797-E70E-42E8-94EC-DFAD2B63766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830069515"/>
              </p:ext>
            </p:extLst>
          </p:nvPr>
        </p:nvGraphicFramePr>
        <p:xfrm>
          <a:off x="405618" y="731521"/>
          <a:ext cx="11600850" cy="5762045"/>
        </p:xfrm>
        <a:graphic>
          <a:graphicData uri="http://schemas.openxmlformats.org/drawingml/2006/table">
            <a:tbl>
              <a:tblPr>
                <a:tableStyleId>{D113A9D2-9D6B-4929-AA2D-F23B5EE8CBE7}</a:tableStyleId>
              </a:tblPr>
              <a:tblGrid>
                <a:gridCol w="1144194">
                  <a:extLst>
                    <a:ext uri="{9D8B030D-6E8A-4147-A177-3AD203B41FA5}">
                      <a16:colId xmlns:a16="http://schemas.microsoft.com/office/drawing/2014/main" val="2896623315"/>
                    </a:ext>
                  </a:extLst>
                </a:gridCol>
                <a:gridCol w="1049785">
                  <a:extLst>
                    <a:ext uri="{9D8B030D-6E8A-4147-A177-3AD203B41FA5}">
                      <a16:colId xmlns:a16="http://schemas.microsoft.com/office/drawing/2014/main" val="2131608181"/>
                    </a:ext>
                  </a:extLst>
                </a:gridCol>
                <a:gridCol w="1147180">
                  <a:extLst>
                    <a:ext uri="{9D8B030D-6E8A-4147-A177-3AD203B41FA5}">
                      <a16:colId xmlns:a16="http://schemas.microsoft.com/office/drawing/2014/main" val="3910094595"/>
                    </a:ext>
                  </a:extLst>
                </a:gridCol>
                <a:gridCol w="1233217">
                  <a:extLst>
                    <a:ext uri="{9D8B030D-6E8A-4147-A177-3AD203B41FA5}">
                      <a16:colId xmlns:a16="http://schemas.microsoft.com/office/drawing/2014/main" val="2049020950"/>
                    </a:ext>
                  </a:extLst>
                </a:gridCol>
                <a:gridCol w="1190199">
                  <a:extLst>
                    <a:ext uri="{9D8B030D-6E8A-4147-A177-3AD203B41FA5}">
                      <a16:colId xmlns:a16="http://schemas.microsoft.com/office/drawing/2014/main" val="1008721714"/>
                    </a:ext>
                  </a:extLst>
                </a:gridCol>
                <a:gridCol w="1749448">
                  <a:extLst>
                    <a:ext uri="{9D8B030D-6E8A-4147-A177-3AD203B41FA5}">
                      <a16:colId xmlns:a16="http://schemas.microsoft.com/office/drawing/2014/main" val="1003449152"/>
                    </a:ext>
                  </a:extLst>
                </a:gridCol>
                <a:gridCol w="1347936">
                  <a:extLst>
                    <a:ext uri="{9D8B030D-6E8A-4147-A177-3AD203B41FA5}">
                      <a16:colId xmlns:a16="http://schemas.microsoft.com/office/drawing/2014/main" val="584386207"/>
                    </a:ext>
                  </a:extLst>
                </a:gridCol>
                <a:gridCol w="2738891">
                  <a:extLst>
                    <a:ext uri="{9D8B030D-6E8A-4147-A177-3AD203B41FA5}">
                      <a16:colId xmlns:a16="http://schemas.microsoft.com/office/drawing/2014/main" val="3382863761"/>
                    </a:ext>
                  </a:extLst>
                </a:gridCol>
              </a:tblGrid>
              <a:tr h="627004">
                <a:tc>
                  <a:txBody>
                    <a:bodyPr/>
                    <a:lstStyle/>
                    <a:p>
                      <a:pPr rtl="0"/>
                      <a:r>
                        <a:rPr lang="en-IN" sz="1200">
                          <a:effectLst/>
                        </a:rPr>
                        <a:t>Segment</a:t>
                      </a:r>
                      <a:endParaRPr lang="en-IN" sz="12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2516" marR="12516" marT="8344" marB="834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IN" sz="1200">
                          <a:effectLst/>
                        </a:rPr>
                        <a:t>Current Market Value (USD)</a:t>
                      </a:r>
                      <a:endParaRPr lang="en-IN" sz="12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2516" marR="12516" marT="8344" marB="834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200">
                          <a:effectLst/>
                        </a:rPr>
                        <a:t>Projected 2034 Market Value (USD)</a:t>
                      </a:r>
                      <a:endParaRPr lang="en-US" sz="12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2516" marR="12516" marT="8344" marB="834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IN" sz="1200">
                          <a:effectLst/>
                        </a:rPr>
                        <a:t>Adjusted CAGR (2026–2034)</a:t>
                      </a:r>
                      <a:endParaRPr lang="en-IN" sz="12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2516" marR="12516" marT="8344" marB="834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IN" sz="1200">
                          <a:effectLst/>
                        </a:rPr>
                        <a:t>Current Import Dependency</a:t>
                      </a:r>
                      <a:endParaRPr lang="en-IN" sz="12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2516" marR="12516" marT="8344" marB="834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IN" sz="1200">
                          <a:effectLst/>
                        </a:rPr>
                        <a:t>Dominant India-based Manufacturers / JVs</a:t>
                      </a:r>
                      <a:endParaRPr lang="en-IN" sz="12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2516" marR="12516" marT="8344" marB="834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200">
                          <a:effectLst/>
                        </a:rPr>
                        <a:t>Major Global Players (Import/Direct)</a:t>
                      </a:r>
                      <a:endParaRPr lang="en-US" sz="12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2516" marR="12516" marT="8344" marB="834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fr-FR" sz="1200" dirty="0" err="1">
                          <a:effectLst/>
                        </a:rPr>
                        <a:t>Current</a:t>
                      </a:r>
                      <a:r>
                        <a:rPr lang="fr-FR" sz="1200" dirty="0">
                          <a:effectLst/>
                        </a:rPr>
                        <a:t> </a:t>
                      </a:r>
                      <a:r>
                        <a:rPr lang="fr-FR" sz="1200" dirty="0" err="1">
                          <a:effectLst/>
                        </a:rPr>
                        <a:t>Market</a:t>
                      </a:r>
                      <a:r>
                        <a:rPr lang="fr-FR" sz="1200" dirty="0">
                          <a:effectLst/>
                        </a:rPr>
                        <a:t> Trends &amp; Structural Disruptions</a:t>
                      </a:r>
                      <a:endParaRPr lang="fr-FR" sz="12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2516" marR="12516" marT="8344" marB="834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72957062"/>
                  </a:ext>
                </a:extLst>
              </a:tr>
              <a:tr h="1308774">
                <a:tc>
                  <a:txBody>
                    <a:bodyPr/>
                    <a:lstStyle/>
                    <a:p>
                      <a:pPr rtl="0"/>
                      <a:r>
                        <a:rPr lang="it-IT" sz="1200" dirty="0">
                          <a:effectLst/>
                        </a:rPr>
                        <a:t>Data Centers (Servers &amp; AI Compute)</a:t>
                      </a:r>
                      <a:endParaRPr lang="it-IT" sz="12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2516" marR="12516" marT="8344" marB="834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IN" sz="1200" dirty="0">
                          <a:effectLst/>
                        </a:rPr>
                        <a:t>$10.5–11.2 Bn</a:t>
                      </a:r>
                      <a:endParaRPr lang="en-IN" sz="12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2516" marR="12516" marT="8344" marB="834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IN" sz="1200" dirty="0">
                          <a:effectLst/>
                        </a:rPr>
                        <a:t>$41.5–43.0 Bn</a:t>
                      </a:r>
                      <a:endParaRPr lang="en-IN" sz="12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2516" marR="12516" marT="8344" marB="834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200" dirty="0">
                          <a:effectLst/>
                        </a:rPr>
                        <a:t>25.5% (Driven by Gen-AI spike)</a:t>
                      </a:r>
                      <a:endParaRPr lang="en-US" sz="12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2516" marR="12516" marT="8344" marB="834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200">
                          <a:effectLst/>
                        </a:rPr>
                        <a:t>~45–50% (Dropped significantly due to local assembly)</a:t>
                      </a:r>
                      <a:endParaRPr lang="en-US" sz="12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2516" marR="12516" marT="8344" marB="834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IN" sz="1200">
                          <a:effectLst/>
                        </a:rPr>
                        <a:t>Netweb Technologies (Tyrone ARM &amp; liquid servers), VVDN Technologies (JVs with HPE), Kaynes Technology</a:t>
                      </a:r>
                      <a:endParaRPr lang="en-IN" sz="12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2516" marR="12516" marT="8344" marB="834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IN" sz="1200">
                          <a:effectLst/>
                        </a:rPr>
                        <a:t>NVIDIA, Dell Technologies, Supermicro, Hewlett Packard Enterprise (HPE), Lenovo</a:t>
                      </a:r>
                      <a:endParaRPr lang="en-IN" sz="12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2516" marR="12516" marT="8344" marB="834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200" dirty="0">
                          <a:effectLst/>
                        </a:rPr>
                        <a:t>The Local AI-Server </a:t>
                      </a:r>
                      <a:r>
                        <a:rPr lang="en-US" sz="1200" dirty="0" err="1">
                          <a:effectLst/>
                        </a:rPr>
                        <a:t>Supercycle</a:t>
                      </a:r>
                      <a:r>
                        <a:rPr lang="en-US" sz="1200" dirty="0">
                          <a:effectLst/>
                        </a:rPr>
                        <a:t>: </a:t>
                      </a:r>
                      <a:r>
                        <a:rPr lang="en-US" sz="1200" dirty="0" err="1">
                          <a:effectLst/>
                        </a:rPr>
                        <a:t>Hyperscalers</a:t>
                      </a:r>
                      <a:r>
                        <a:rPr lang="en-US" sz="1200" dirty="0">
                          <a:effectLst/>
                        </a:rPr>
                        <a:t> are buying specialized GPU clusters. Massive shift from standard x86 architectures to custom high-core ARM nodes assembled locally under PLI schemes.</a:t>
                      </a:r>
                      <a:endParaRPr lang="en-US" sz="12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2516" marR="12516" marT="8344" marB="834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71711191"/>
                  </a:ext>
                </a:extLst>
              </a:tr>
              <a:tr h="1124212">
                <a:tc>
                  <a:txBody>
                    <a:bodyPr/>
                    <a:lstStyle/>
                    <a:p>
                      <a:pPr rtl="0"/>
                      <a:r>
                        <a:rPr lang="en-IN" sz="1200" dirty="0">
                          <a:effectLst/>
                        </a:rPr>
                        <a:t>Networking (Switches/Routers/</a:t>
                      </a:r>
                      <a:r>
                        <a:rPr lang="en-IN" sz="1200" dirty="0" err="1">
                          <a:effectLst/>
                        </a:rPr>
                        <a:t>Fiber</a:t>
                      </a:r>
                      <a:r>
                        <a:rPr lang="en-IN" sz="1200" dirty="0">
                          <a:effectLst/>
                        </a:rPr>
                        <a:t>)</a:t>
                      </a:r>
                      <a:endParaRPr lang="en-IN" sz="12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2516" marR="12516" marT="8344" marB="834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IN" sz="1200">
                          <a:effectLst/>
                        </a:rPr>
                        <a:t>$1.85–2.10 Bn</a:t>
                      </a:r>
                      <a:endParaRPr lang="en-IN" sz="12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2516" marR="12516" marT="8344" marB="834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IN" sz="1200">
                          <a:effectLst/>
                        </a:rPr>
                        <a:t>$6.2–6.8 Bn</a:t>
                      </a:r>
                      <a:endParaRPr lang="en-IN" sz="12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2516" marR="12516" marT="8344" marB="834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IN" sz="1200">
                          <a:effectLst/>
                        </a:rPr>
                        <a:t>16.5%</a:t>
                      </a:r>
                      <a:endParaRPr lang="en-IN" sz="12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2516" marR="12516" marT="8344" marB="834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IN" sz="1200">
                          <a:effectLst/>
                        </a:rPr>
                        <a:t>~55%</a:t>
                      </a:r>
                      <a:endParaRPr lang="en-IN" sz="12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2516" marR="12516" marT="8344" marB="834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200">
                          <a:effectLst/>
                        </a:rPr>
                        <a:t>Tejas Networks (Tata Group), HFCL, Wistron India (expanding network manufacturing)</a:t>
                      </a:r>
                      <a:endParaRPr lang="en-US" sz="12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2516" marR="12516" marT="8344" marB="834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200">
                          <a:effectLst/>
                        </a:rPr>
                        <a:t>Cisco Systems, Arista Networks, Juniper Networks, Huawei</a:t>
                      </a:r>
                      <a:endParaRPr lang="en-US" sz="12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2516" marR="12516" marT="8344" marB="834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200">
                          <a:effectLst/>
                        </a:rPr>
                        <a:t>Ultra-Low Latency &amp; 5G FWA: High-speed interconnect architectures (Infiniband and 800G Ethernet switches) are surging to process distributed LLM token pipelines without data-routing bottlenecks.</a:t>
                      </a:r>
                      <a:endParaRPr lang="en-US" sz="12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2516" marR="12516" marT="8344" marB="834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23199027"/>
                  </a:ext>
                </a:extLst>
              </a:tr>
              <a:tr h="1308774">
                <a:tc>
                  <a:txBody>
                    <a:bodyPr/>
                    <a:lstStyle/>
                    <a:p>
                      <a:pPr rtl="0"/>
                      <a:r>
                        <a:rPr lang="en-US" sz="1200">
                          <a:effectLst/>
                        </a:rPr>
                        <a:t>Power Infrastructure (UPS, PDU, Clean Energy)</a:t>
                      </a:r>
                      <a:endParaRPr lang="en-US" sz="12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2516" marR="12516" marT="8344" marB="834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IN" sz="1200">
                          <a:effectLst/>
                        </a:rPr>
                        <a:t>$1.60–1.85 Bn</a:t>
                      </a:r>
                      <a:endParaRPr lang="en-IN" sz="12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2516" marR="12516" marT="8344" marB="834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IN" sz="1200">
                          <a:effectLst/>
                        </a:rPr>
                        <a:t>$5.8–6.4 Bn</a:t>
                      </a:r>
                      <a:endParaRPr lang="en-IN" sz="12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2516" marR="12516" marT="8344" marB="834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IN" sz="1200">
                          <a:effectLst/>
                        </a:rPr>
                        <a:t>18.2%</a:t>
                      </a:r>
                      <a:endParaRPr lang="en-IN" sz="12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2516" marR="12516" marT="8344" marB="834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IN" sz="1200">
                          <a:effectLst/>
                        </a:rPr>
                        <a:t>~35%</a:t>
                      </a:r>
                      <a:endParaRPr lang="en-IN" sz="12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2516" marR="12516" marT="8344" marB="834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200">
                          <a:effectLst/>
                        </a:rPr>
                        <a:t>Schneider Electric India (expanded local plants), Delta Electronics India, Kirloskar Oil Engines</a:t>
                      </a:r>
                      <a:endParaRPr lang="en-US" sz="12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2516" marR="12516" marT="8344" marB="834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IN" sz="1200">
                          <a:effectLst/>
                        </a:rPr>
                        <a:t>Vertiv, ABB, Eaton Corporation, Caterpillar</a:t>
                      </a:r>
                      <a:endParaRPr lang="en-IN" sz="12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2516" marR="12516" marT="8344" marB="834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200">
                          <a:effectLst/>
                        </a:rPr>
                        <a:t>Sovereign Microgrids &amp; ESG Mandates: Shift toward mega-scale modular busways and green intelligent PDUs. Driven by India's Green Open Access policy, facilities are connecting directly to captive solar/wind grids.</a:t>
                      </a:r>
                      <a:endParaRPr lang="en-US" sz="12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2516" marR="12516" marT="8344" marB="834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70256571"/>
                  </a:ext>
                </a:extLst>
              </a:tr>
              <a:tr h="1393281">
                <a:tc>
                  <a:txBody>
                    <a:bodyPr/>
                    <a:lstStyle/>
                    <a:p>
                      <a:pPr rtl="0"/>
                      <a:r>
                        <a:rPr lang="en-US" sz="1200">
                          <a:effectLst/>
                        </a:rPr>
                        <a:t>Cooling Solutions (Liquid, Direct-to-Chip, HVAC)</a:t>
                      </a:r>
                      <a:endParaRPr lang="en-US" sz="12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2516" marR="12516" marT="8344" marB="834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IN" sz="1200">
                          <a:effectLst/>
                        </a:rPr>
                        <a:t>$1.20–1.45 Bn</a:t>
                      </a:r>
                      <a:endParaRPr lang="en-IN" sz="12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2516" marR="12516" marT="8344" marB="834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IN" sz="1200">
                          <a:effectLst/>
                        </a:rPr>
                        <a:t>$7.5–8.2 Bn</a:t>
                      </a:r>
                      <a:endParaRPr lang="en-IN" sz="12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2516" marR="12516" marT="8344" marB="834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IN" sz="1200">
                          <a:effectLst/>
                        </a:rPr>
                        <a:t>28.4% (Highest growing segment)</a:t>
                      </a:r>
                      <a:endParaRPr lang="en-IN" sz="12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2516" marR="12516" marT="8344" marB="834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IN" sz="1200">
                          <a:effectLst/>
                        </a:rPr>
                        <a:t>~40%</a:t>
                      </a:r>
                      <a:endParaRPr lang="en-IN" sz="12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2516" marR="12516" marT="8344" marB="834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200">
                          <a:effectLst/>
                        </a:rPr>
                        <a:t>Blue Star, Voltas, Schneider India, Vertiv India (local thermal manufacturing)</a:t>
                      </a:r>
                      <a:endParaRPr lang="en-US" sz="12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2516" marR="12516" marT="8344" marB="834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200">
                          <a:effectLst/>
                        </a:rPr>
                        <a:t>STULZ, Rittal, Vertiv Global, Danfoss, Boyd Corporation</a:t>
                      </a:r>
                      <a:endParaRPr lang="en-US" sz="12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2516" marR="12516" marT="8344" marB="834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200" dirty="0">
                          <a:effectLst/>
                        </a:rPr>
                        <a:t>The Death of Traditional Air Cooling: Because AI chips generate intense thermal footprints, standard CRAC systems have been replaced. Massive capex is pouring into Direct-to-Chip (D2C) cold plates and rear-door heat exchangers.</a:t>
                      </a:r>
                      <a:endParaRPr lang="en-US" sz="12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2516" marR="12516" marT="8344" marB="834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1348174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5924240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067B74-49E4-48DE-85DC-1191408729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2666" y="146406"/>
            <a:ext cx="3463318" cy="582464"/>
          </a:xfrm>
        </p:spPr>
        <p:txBody>
          <a:bodyPr>
            <a:noAutofit/>
          </a:bodyPr>
          <a:lstStyle/>
          <a:p>
            <a:r>
              <a:rPr lang="en-US" sz="2800" b="1" dirty="0">
                <a:latin typeface="Poppins" panose="02000000000000000000" pitchFamily="2" charset="0"/>
                <a:ea typeface="PMingLiU" panose="02020500000000000000" pitchFamily="18" charset="-120"/>
                <a:cs typeface="Calibri" panose="020F0502020204030204" pitchFamily="34" charset="0"/>
              </a:rPr>
              <a:t>Market Opportunity</a:t>
            </a:r>
            <a:endParaRPr lang="en-IN" sz="2800" b="1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D06AF89F-11D6-4C67-915E-322EAC648B9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994364508"/>
              </p:ext>
            </p:extLst>
          </p:nvPr>
        </p:nvGraphicFramePr>
        <p:xfrm>
          <a:off x="371063" y="1132431"/>
          <a:ext cx="11728171" cy="5579163"/>
        </p:xfrm>
        <a:graphic>
          <a:graphicData uri="http://schemas.openxmlformats.org/drawingml/2006/table">
            <a:tbl>
              <a:tblPr>
                <a:tableStyleId>{D113A9D2-9D6B-4929-AA2D-F23B5EE8CBE7}</a:tableStyleId>
              </a:tblPr>
              <a:tblGrid>
                <a:gridCol w="516833">
                  <a:extLst>
                    <a:ext uri="{9D8B030D-6E8A-4147-A177-3AD203B41FA5}">
                      <a16:colId xmlns:a16="http://schemas.microsoft.com/office/drawing/2014/main" val="2599143748"/>
                    </a:ext>
                  </a:extLst>
                </a:gridCol>
                <a:gridCol w="861392">
                  <a:extLst>
                    <a:ext uri="{9D8B030D-6E8A-4147-A177-3AD203B41FA5}">
                      <a16:colId xmlns:a16="http://schemas.microsoft.com/office/drawing/2014/main" val="2594915008"/>
                    </a:ext>
                  </a:extLst>
                </a:gridCol>
                <a:gridCol w="1019779">
                  <a:extLst>
                    <a:ext uri="{9D8B030D-6E8A-4147-A177-3AD203B41FA5}">
                      <a16:colId xmlns:a16="http://schemas.microsoft.com/office/drawing/2014/main" val="1189297577"/>
                    </a:ext>
                  </a:extLst>
                </a:gridCol>
                <a:gridCol w="1254130">
                  <a:extLst>
                    <a:ext uri="{9D8B030D-6E8A-4147-A177-3AD203B41FA5}">
                      <a16:colId xmlns:a16="http://schemas.microsoft.com/office/drawing/2014/main" val="3518776138"/>
                    </a:ext>
                  </a:extLst>
                </a:gridCol>
                <a:gridCol w="826898">
                  <a:extLst>
                    <a:ext uri="{9D8B030D-6E8A-4147-A177-3AD203B41FA5}">
                      <a16:colId xmlns:a16="http://schemas.microsoft.com/office/drawing/2014/main" val="1841499764"/>
                    </a:ext>
                  </a:extLst>
                </a:gridCol>
                <a:gridCol w="882025">
                  <a:extLst>
                    <a:ext uri="{9D8B030D-6E8A-4147-A177-3AD203B41FA5}">
                      <a16:colId xmlns:a16="http://schemas.microsoft.com/office/drawing/2014/main" val="1186019336"/>
                    </a:ext>
                  </a:extLst>
                </a:gridCol>
                <a:gridCol w="964715">
                  <a:extLst>
                    <a:ext uri="{9D8B030D-6E8A-4147-A177-3AD203B41FA5}">
                      <a16:colId xmlns:a16="http://schemas.microsoft.com/office/drawing/2014/main" val="3803911074"/>
                    </a:ext>
                  </a:extLst>
                </a:gridCol>
                <a:gridCol w="2480696">
                  <a:extLst>
                    <a:ext uri="{9D8B030D-6E8A-4147-A177-3AD203B41FA5}">
                      <a16:colId xmlns:a16="http://schemas.microsoft.com/office/drawing/2014/main" val="798040289"/>
                    </a:ext>
                  </a:extLst>
                </a:gridCol>
                <a:gridCol w="2921703">
                  <a:extLst>
                    <a:ext uri="{9D8B030D-6E8A-4147-A177-3AD203B41FA5}">
                      <a16:colId xmlns:a16="http://schemas.microsoft.com/office/drawing/2014/main" val="53546940"/>
                    </a:ext>
                  </a:extLst>
                </a:gridCol>
              </a:tblGrid>
              <a:tr h="560626">
                <a:tc>
                  <a:txBody>
                    <a:bodyPr/>
                    <a:lstStyle/>
                    <a:p>
                      <a:pPr rtl="0"/>
                      <a:r>
                        <a:rPr lang="en-IN" sz="1200">
                          <a:effectLst/>
                        </a:rPr>
                        <a:t>Global Rank</a:t>
                      </a:r>
                      <a:endParaRPr lang="en-IN" sz="12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5872" marR="5872" marT="3914" marB="391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IN" sz="1200">
                          <a:effectLst/>
                        </a:rPr>
                        <a:t>Company</a:t>
                      </a:r>
                      <a:endParaRPr lang="en-IN" sz="12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5872" marR="5872" marT="3914" marB="391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IN" sz="1200">
                          <a:effectLst/>
                        </a:rPr>
                        <a:t>Origin</a:t>
                      </a:r>
                      <a:endParaRPr lang="en-IN" sz="12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5872" marR="5872" marT="3914" marB="391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IN" sz="1200">
                          <a:effectLst/>
                        </a:rPr>
                        <a:t>Core Segment Category</a:t>
                      </a:r>
                      <a:endParaRPr lang="en-IN" sz="12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5872" marR="5872" marT="3914" marB="391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IN" sz="1200">
                          <a:effectLst/>
                        </a:rPr>
                        <a:t>Est. India 2034 TAM (USD)</a:t>
                      </a:r>
                      <a:endParaRPr lang="en-IN" sz="12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5872" marR="5872" marT="3914" marB="391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IN" sz="1200">
                          <a:effectLst/>
                        </a:rPr>
                        <a:t>Est. India Market Share</a:t>
                      </a:r>
                      <a:endParaRPr lang="en-IN" sz="12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5872" marR="5872" marT="3914" marB="391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IN" sz="1200">
                          <a:effectLst/>
                        </a:rPr>
                        <a:t>Segment CAGR (2026–2034)</a:t>
                      </a:r>
                      <a:endParaRPr lang="en-IN" sz="12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5872" marR="5872" marT="3914" marB="391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IN" sz="1200">
                          <a:effectLst/>
                        </a:rPr>
                        <a:t>Current Strategic Focus</a:t>
                      </a:r>
                      <a:endParaRPr lang="en-IN" sz="12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5872" marR="5872" marT="3914" marB="391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200" dirty="0" err="1">
                          <a:effectLst/>
                        </a:rPr>
                        <a:t>Salcomp</a:t>
                      </a:r>
                      <a:r>
                        <a:rPr lang="en-US" sz="1200" dirty="0">
                          <a:effectLst/>
                        </a:rPr>
                        <a:t> Strategic Opportunity (Local EMS &amp; Component Play)</a:t>
                      </a:r>
                      <a:endParaRPr lang="en-US" sz="12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5872" marR="5872" marT="3914" marB="391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33320889"/>
                  </a:ext>
                </a:extLst>
              </a:tr>
              <a:tr h="1114477">
                <a:tc>
                  <a:txBody>
                    <a:bodyPr/>
                    <a:lstStyle/>
                    <a:p>
                      <a:pPr rtl="0"/>
                      <a:r>
                        <a:rPr lang="en-IN" sz="1200">
                          <a:effectLst/>
                        </a:rPr>
                        <a:t>1</a:t>
                      </a:r>
                      <a:endParaRPr lang="en-IN" sz="12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5872" marR="5872" marT="3914" marB="391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IN" sz="1200">
                          <a:effectLst/>
                        </a:rPr>
                        <a:t>Dell Technologies</a:t>
                      </a:r>
                      <a:endParaRPr lang="en-IN" sz="12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5872" marR="5872" marT="3914" marB="391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IN" sz="1200">
                          <a:effectLst/>
                        </a:rPr>
                        <a:t>Global (USA)</a:t>
                      </a:r>
                      <a:endParaRPr lang="en-IN" sz="12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5872" marR="5872" marT="3914" marB="391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IN" sz="1200" dirty="0">
                          <a:effectLst/>
                        </a:rPr>
                        <a:t>Servers, Storage, Core Enterprise &amp; Edge AI</a:t>
                      </a:r>
                      <a:endParaRPr lang="en-IN" sz="12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5872" marR="5872" marT="3914" marB="391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da-DK" sz="1200">
                          <a:effectLst/>
                        </a:rPr>
                        <a:t>Servers: $22B–$24B</a:t>
                      </a:r>
                    </a:p>
                    <a:p>
                      <a:pPr rtl="0"/>
                      <a:br>
                        <a:rPr lang="da-DK" sz="1200">
                          <a:effectLst/>
                        </a:rPr>
                      </a:br>
                      <a:r>
                        <a:rPr lang="da-DK" sz="1200">
                          <a:effectLst/>
                        </a:rPr>
                        <a:t>Storage: $7B</a:t>
                      </a:r>
                      <a:endParaRPr lang="da-DK" sz="12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5872" marR="5872" marT="3914" marB="391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IN" sz="1200">
                          <a:effectLst/>
                        </a:rPr>
                        <a:t>High</a:t>
                      </a:r>
                    </a:p>
                    <a:p>
                      <a:pPr rtl="0"/>
                      <a:br>
                        <a:rPr lang="en-IN" sz="1200">
                          <a:effectLst/>
                        </a:rPr>
                      </a:br>
                      <a:r>
                        <a:rPr lang="en-IN" sz="1200">
                          <a:effectLst/>
                        </a:rPr>
                        <a:t>(~26–28%)</a:t>
                      </a:r>
                      <a:endParaRPr lang="en-IN" sz="12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5872" marR="5872" marT="3914" marB="391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IN" sz="1200">
                          <a:effectLst/>
                        </a:rPr>
                        <a:t>22.5%</a:t>
                      </a:r>
                      <a:endParaRPr lang="en-IN" sz="12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5872" marR="5872" marT="3914" marB="391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200">
                          <a:effectLst/>
                        </a:rPr>
                        <a:t>Assembling AI-first mainstream server blocks locally via domestic manufacturing partners to meet strict public sector localization policies.</a:t>
                      </a:r>
                      <a:endParaRPr lang="en-US" sz="12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5872" marR="5872" marT="3914" marB="391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200">
                          <a:effectLst/>
                        </a:rPr>
                        <a:t>Box-Build Optimization: Mass PCBA assembly, sheet-metal server rack enclosures, and localization of high-wattage desktop and rack power adapters.</a:t>
                      </a:r>
                      <a:endParaRPr lang="en-US" sz="12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5872" marR="5872" marT="3914" marB="391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20573964"/>
                  </a:ext>
                </a:extLst>
              </a:tr>
              <a:tr h="1114477">
                <a:tc>
                  <a:txBody>
                    <a:bodyPr/>
                    <a:lstStyle/>
                    <a:p>
                      <a:pPr rtl="0"/>
                      <a:r>
                        <a:rPr lang="en-IN" sz="1200" dirty="0">
                          <a:effectLst/>
                        </a:rPr>
                        <a:t>2</a:t>
                      </a:r>
                      <a:endParaRPr lang="en-IN" sz="12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5872" marR="5872" marT="3914" marB="391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IN" sz="1200" dirty="0">
                          <a:effectLst/>
                        </a:rPr>
                        <a:t>Hewlett Packard Enterprise (HPE)</a:t>
                      </a:r>
                      <a:endParaRPr lang="en-IN" sz="12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5872" marR="5872" marT="3914" marB="391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IN" sz="1200">
                          <a:effectLst/>
                        </a:rPr>
                        <a:t>Global (USA)</a:t>
                      </a:r>
                      <a:endParaRPr lang="en-IN" sz="12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5872" marR="5872" marT="3914" marB="391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IN" sz="1200">
                          <a:effectLst/>
                        </a:rPr>
                        <a:t>Hyperscale Cloud, Storage &amp; High-Performance Compute</a:t>
                      </a:r>
                      <a:endParaRPr lang="en-IN" sz="12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5872" marR="5872" marT="3914" marB="391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da-DK" sz="1200">
                          <a:effectLst/>
                        </a:rPr>
                        <a:t>Servers: $22B–$24B</a:t>
                      </a:r>
                    </a:p>
                    <a:p>
                      <a:pPr rtl="0"/>
                      <a:br>
                        <a:rPr lang="da-DK" sz="1200">
                          <a:effectLst/>
                        </a:rPr>
                      </a:br>
                      <a:r>
                        <a:rPr lang="da-DK" sz="1200">
                          <a:effectLst/>
                        </a:rPr>
                        <a:t>Storage: $7B</a:t>
                      </a:r>
                      <a:endParaRPr lang="da-DK" sz="12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5872" marR="5872" marT="3914" marB="391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IN" sz="1200">
                          <a:effectLst/>
                        </a:rPr>
                        <a:t>High</a:t>
                      </a:r>
                    </a:p>
                    <a:p>
                      <a:pPr rtl="0"/>
                      <a:br>
                        <a:rPr lang="en-IN" sz="1200">
                          <a:effectLst/>
                        </a:rPr>
                      </a:br>
                      <a:r>
                        <a:rPr lang="en-IN" sz="1200">
                          <a:effectLst/>
                        </a:rPr>
                        <a:t>(~22–25%)</a:t>
                      </a:r>
                      <a:endParaRPr lang="en-IN" sz="12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5872" marR="5872" marT="3914" marB="391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IN" sz="1200">
                          <a:effectLst/>
                        </a:rPr>
                        <a:t>21.8%</a:t>
                      </a:r>
                      <a:endParaRPr lang="en-IN" sz="12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5872" marR="5872" marT="3914" marB="391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200">
                          <a:effectLst/>
                        </a:rPr>
                        <a:t>Executing massive domestic production through its active manufacturing JV with VVDN Technologies in Chennai.</a:t>
                      </a:r>
                      <a:endParaRPr lang="en-US" sz="12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5872" marR="5872" marT="3914" marB="391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200">
                          <a:effectLst/>
                        </a:rPr>
                        <a:t>Thermal Subsystems &amp; SMT Lines: Local SMT (Surface Mount Technology) assembly for server control boards, structural server chassis panels, and thermal chassis mounts.</a:t>
                      </a:r>
                      <a:endParaRPr lang="en-US" sz="12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5872" marR="5872" marT="3914" marB="391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95509645"/>
                  </a:ext>
                </a:extLst>
              </a:tr>
              <a:tr h="929861">
                <a:tc>
                  <a:txBody>
                    <a:bodyPr/>
                    <a:lstStyle/>
                    <a:p>
                      <a:pPr rtl="0"/>
                      <a:r>
                        <a:rPr lang="en-IN" sz="1200">
                          <a:effectLst/>
                        </a:rPr>
                        <a:t>3</a:t>
                      </a:r>
                      <a:endParaRPr lang="en-IN" sz="12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5872" marR="5872" marT="3914" marB="391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IN" sz="1200">
                          <a:effectLst/>
                        </a:rPr>
                        <a:t>Inspur Group</a:t>
                      </a:r>
                      <a:endParaRPr lang="en-IN" sz="12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5872" marR="5872" marT="3914" marB="391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IN" sz="1200">
                          <a:effectLst/>
                        </a:rPr>
                        <a:t>Global (China)</a:t>
                      </a:r>
                      <a:endParaRPr lang="en-IN" sz="12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5872" marR="5872" marT="3914" marB="391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200">
                          <a:effectLst/>
                        </a:rPr>
                        <a:t>Hyperscale Clouds &amp; ODM (Original Design Manufacturer) Server Blocks</a:t>
                      </a:r>
                      <a:endParaRPr lang="en-US" sz="12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5872" marR="5872" marT="3914" marB="391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IN" sz="1200">
                          <a:effectLst/>
                        </a:rPr>
                        <a:t>Restricted</a:t>
                      </a:r>
                      <a:endParaRPr lang="en-IN" sz="12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5872" marR="5872" marT="3914" marB="391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IN" sz="1200">
                          <a:effectLst/>
                        </a:rPr>
                        <a:t>Very Low</a:t>
                      </a:r>
                    </a:p>
                    <a:p>
                      <a:pPr rtl="0"/>
                      <a:br>
                        <a:rPr lang="en-IN" sz="1200">
                          <a:effectLst/>
                        </a:rPr>
                      </a:br>
                      <a:r>
                        <a:rPr lang="en-IN" sz="1200">
                          <a:effectLst/>
                        </a:rPr>
                        <a:t>(&lt;3%)</a:t>
                      </a:r>
                      <a:endParaRPr lang="en-IN" sz="12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5872" marR="5872" marT="3914" marB="391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IN" sz="1200">
                          <a:effectLst/>
                        </a:rPr>
                        <a:t>Flat / Dropping</a:t>
                      </a:r>
                      <a:endParaRPr lang="en-IN" sz="12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5872" marR="5872" marT="3914" marB="391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200">
                          <a:effectLst/>
                        </a:rPr>
                        <a:t>Geopolitical constraints have severely choked standard imports into Indian public data cores. Shifting strictly to minor private cloud leases.</a:t>
                      </a:r>
                      <a:endParaRPr lang="en-US" sz="12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5872" marR="5872" marT="3914" marB="391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200">
                          <a:effectLst/>
                        </a:rPr>
                        <a:t>Minimal Opportunity: Restricted expansion limits localized volume pipeline potential due to high regulatory risk.</a:t>
                      </a:r>
                      <a:endParaRPr lang="en-US" sz="12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5872" marR="5872" marT="3914" marB="391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40403201"/>
                  </a:ext>
                </a:extLst>
              </a:tr>
              <a:tr h="929861">
                <a:tc>
                  <a:txBody>
                    <a:bodyPr/>
                    <a:lstStyle/>
                    <a:p>
                      <a:pPr rtl="0"/>
                      <a:r>
                        <a:rPr lang="en-IN" sz="1200">
                          <a:effectLst/>
                        </a:rPr>
                        <a:t>4</a:t>
                      </a:r>
                      <a:endParaRPr lang="en-IN" sz="12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5872" marR="5872" marT="3914" marB="391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IN" sz="1200">
                          <a:effectLst/>
                        </a:rPr>
                        <a:t>Lenovo</a:t>
                      </a:r>
                      <a:endParaRPr lang="en-IN" sz="12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5872" marR="5872" marT="3914" marB="391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IN" sz="1200">
                          <a:effectLst/>
                        </a:rPr>
                        <a:t>Global (China)</a:t>
                      </a:r>
                      <a:endParaRPr lang="en-IN" sz="12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5872" marR="5872" marT="3914" marB="391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IN" sz="1200">
                          <a:effectLst/>
                        </a:rPr>
                        <a:t>Cost-Competitive Enterprise &amp; Edge AI Servers</a:t>
                      </a:r>
                      <a:endParaRPr lang="en-IN" sz="12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5872" marR="5872" marT="3914" marB="391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IN" sz="1200">
                          <a:effectLst/>
                        </a:rPr>
                        <a:t>Servers: $22B–$24B</a:t>
                      </a:r>
                      <a:endParaRPr lang="en-IN" sz="12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5872" marR="5872" marT="3914" marB="391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IN" sz="1200">
                          <a:effectLst/>
                        </a:rPr>
                        <a:t>Moderate</a:t>
                      </a:r>
                    </a:p>
                    <a:p>
                      <a:pPr rtl="0"/>
                      <a:br>
                        <a:rPr lang="en-IN" sz="1200">
                          <a:effectLst/>
                        </a:rPr>
                      </a:br>
                      <a:r>
                        <a:rPr lang="en-IN" sz="1200">
                          <a:effectLst/>
                        </a:rPr>
                        <a:t>(~14–16%)</a:t>
                      </a:r>
                      <a:endParaRPr lang="en-IN" sz="12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5872" marR="5872" marT="3914" marB="391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IN" sz="1200">
                          <a:effectLst/>
                        </a:rPr>
                        <a:t>18.2%</a:t>
                      </a:r>
                      <a:endParaRPr lang="en-IN" sz="12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5872" marR="5872" marT="3914" marB="391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200">
                          <a:effectLst/>
                        </a:rPr>
                        <a:t>Utilizing local assembly hubs to scale up cost-effective liquid-cooled rack options tailored for regional Tier-2/3 cloud providers.</a:t>
                      </a:r>
                      <a:endParaRPr lang="en-US" sz="12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5872" marR="5872" marT="3914" marB="391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200">
                          <a:effectLst/>
                        </a:rPr>
                        <a:t>High-Volume SMT Component Sourcing: Opportunity to handle plastic injection housings, local system integration (FATP), and power line cords.</a:t>
                      </a:r>
                      <a:endParaRPr lang="en-US" sz="12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5872" marR="5872" marT="3914" marB="391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33846638"/>
                  </a:ext>
                </a:extLst>
              </a:tr>
              <a:tr h="929861">
                <a:tc>
                  <a:txBody>
                    <a:bodyPr/>
                    <a:lstStyle/>
                    <a:p>
                      <a:pPr rtl="0"/>
                      <a:r>
                        <a:rPr lang="en-IN" sz="1200">
                          <a:effectLst/>
                        </a:rPr>
                        <a:t>5</a:t>
                      </a:r>
                      <a:endParaRPr lang="en-IN" sz="12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5872" marR="5872" marT="3914" marB="391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IN" sz="1200">
                          <a:effectLst/>
                        </a:rPr>
                        <a:t>Supermicro</a:t>
                      </a:r>
                      <a:endParaRPr lang="en-IN" sz="12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5872" marR="5872" marT="3914" marB="391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IN" sz="1200">
                          <a:effectLst/>
                        </a:rPr>
                        <a:t>Global (USA)</a:t>
                      </a:r>
                      <a:endParaRPr lang="en-IN" sz="12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5872" marR="5872" marT="3914" marB="391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200">
                          <a:effectLst/>
                        </a:rPr>
                        <a:t>High-Density, GPU-Optimized Custom AI Server Blocks</a:t>
                      </a:r>
                      <a:endParaRPr lang="en-US" sz="12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5872" marR="5872" marT="3914" marB="391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IN" sz="1200">
                          <a:effectLst/>
                        </a:rPr>
                        <a:t>Servers: $22B–$24B</a:t>
                      </a:r>
                      <a:endParaRPr lang="en-IN" sz="12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5872" marR="5872" marT="3914" marB="391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IN" sz="1200" dirty="0">
                          <a:effectLst/>
                        </a:rPr>
                        <a:t>Rapidly Rising</a:t>
                      </a:r>
                    </a:p>
                    <a:p>
                      <a:pPr rtl="0"/>
                      <a:br>
                        <a:rPr lang="en-IN" sz="1200" dirty="0">
                          <a:effectLst/>
                        </a:rPr>
                      </a:br>
                      <a:r>
                        <a:rPr lang="en-IN" sz="1200" dirty="0">
                          <a:effectLst/>
                        </a:rPr>
                        <a:t>(~15–18%)</a:t>
                      </a:r>
                      <a:endParaRPr lang="en-IN" sz="12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5872" marR="5872" marT="3914" marB="391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IN" sz="1200">
                          <a:effectLst/>
                        </a:rPr>
                        <a:t>29.4%</a:t>
                      </a:r>
                      <a:endParaRPr lang="en-IN" sz="12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5872" marR="5872" marT="3914" marB="391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200">
                          <a:effectLst/>
                        </a:rPr>
                        <a:t>Supplying raw, ultra-dense GPU architectures to major Indian operators (like Yotta and CtrlS) for heavy LLM training models.</a:t>
                      </a:r>
                      <a:endParaRPr lang="en-US" sz="12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5872" marR="5872" marT="3914" marB="391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200" dirty="0">
                          <a:effectLst/>
                        </a:rPr>
                        <a:t>High-Density Racks &amp; Custom Busbars: Building heavy metal structural server cages, complex internal structural cable integration, and high-efficiency power distribution assemblies.</a:t>
                      </a:r>
                      <a:endParaRPr lang="en-US" sz="12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5872" marR="5872" marT="3914" marB="391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6456141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8211193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C0B5E8CB-29B8-4B63-B4D1-E0A1FD26D1D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13893142"/>
              </p:ext>
            </p:extLst>
          </p:nvPr>
        </p:nvGraphicFramePr>
        <p:xfrm>
          <a:off x="430698" y="247930"/>
          <a:ext cx="11330604" cy="6362140"/>
        </p:xfrm>
        <a:graphic>
          <a:graphicData uri="http://schemas.openxmlformats.org/drawingml/2006/table">
            <a:tbl>
              <a:tblPr>
                <a:tableStyleId>{D113A9D2-9D6B-4929-AA2D-F23B5EE8CBE7}</a:tableStyleId>
              </a:tblPr>
              <a:tblGrid>
                <a:gridCol w="398693">
                  <a:extLst>
                    <a:ext uri="{9D8B030D-6E8A-4147-A177-3AD203B41FA5}">
                      <a16:colId xmlns:a16="http://schemas.microsoft.com/office/drawing/2014/main" val="62329665"/>
                    </a:ext>
                  </a:extLst>
                </a:gridCol>
                <a:gridCol w="1054608">
                  <a:extLst>
                    <a:ext uri="{9D8B030D-6E8A-4147-A177-3AD203B41FA5}">
                      <a16:colId xmlns:a16="http://schemas.microsoft.com/office/drawing/2014/main" val="3489876474"/>
                    </a:ext>
                  </a:extLst>
                </a:gridCol>
                <a:gridCol w="1067470">
                  <a:extLst>
                    <a:ext uri="{9D8B030D-6E8A-4147-A177-3AD203B41FA5}">
                      <a16:colId xmlns:a16="http://schemas.microsoft.com/office/drawing/2014/main" val="2752855129"/>
                    </a:ext>
                  </a:extLst>
                </a:gridCol>
                <a:gridCol w="1196080">
                  <a:extLst>
                    <a:ext uri="{9D8B030D-6E8A-4147-A177-3AD203B41FA5}">
                      <a16:colId xmlns:a16="http://schemas.microsoft.com/office/drawing/2014/main" val="1879940065"/>
                    </a:ext>
                  </a:extLst>
                </a:gridCol>
                <a:gridCol w="1543329">
                  <a:extLst>
                    <a:ext uri="{9D8B030D-6E8A-4147-A177-3AD203B41FA5}">
                      <a16:colId xmlns:a16="http://schemas.microsoft.com/office/drawing/2014/main" val="1380853149"/>
                    </a:ext>
                  </a:extLst>
                </a:gridCol>
                <a:gridCol w="1298968">
                  <a:extLst>
                    <a:ext uri="{9D8B030D-6E8A-4147-A177-3AD203B41FA5}">
                      <a16:colId xmlns:a16="http://schemas.microsoft.com/office/drawing/2014/main" val="948951193"/>
                    </a:ext>
                  </a:extLst>
                </a:gridCol>
                <a:gridCol w="696415">
                  <a:extLst>
                    <a:ext uri="{9D8B030D-6E8A-4147-A177-3AD203B41FA5}">
                      <a16:colId xmlns:a16="http://schemas.microsoft.com/office/drawing/2014/main" val="2637033482"/>
                    </a:ext>
                  </a:extLst>
                </a:gridCol>
                <a:gridCol w="1991552">
                  <a:extLst>
                    <a:ext uri="{9D8B030D-6E8A-4147-A177-3AD203B41FA5}">
                      <a16:colId xmlns:a16="http://schemas.microsoft.com/office/drawing/2014/main" val="106851398"/>
                    </a:ext>
                  </a:extLst>
                </a:gridCol>
                <a:gridCol w="2083489">
                  <a:extLst>
                    <a:ext uri="{9D8B030D-6E8A-4147-A177-3AD203B41FA5}">
                      <a16:colId xmlns:a16="http://schemas.microsoft.com/office/drawing/2014/main" val="1982854919"/>
                    </a:ext>
                  </a:extLst>
                </a:gridCol>
              </a:tblGrid>
              <a:tr h="1241267">
                <a:tc>
                  <a:txBody>
                    <a:bodyPr/>
                    <a:lstStyle/>
                    <a:p>
                      <a:pPr rtl="0"/>
                      <a:r>
                        <a:rPr lang="en-IN" sz="1200" dirty="0">
                          <a:effectLst/>
                        </a:rPr>
                        <a:t>6</a:t>
                      </a:r>
                      <a:endParaRPr lang="en-IN" sz="12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9782" marR="9782" marT="6521" marB="652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IN" sz="1200">
                          <a:effectLst/>
                        </a:rPr>
                        <a:t>IBM</a:t>
                      </a:r>
                      <a:endParaRPr lang="en-IN" sz="12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9782" marR="9782" marT="6521" marB="652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IN" sz="1200">
                          <a:effectLst/>
                        </a:rPr>
                        <a:t>Global (USA)</a:t>
                      </a:r>
                      <a:endParaRPr lang="en-IN" sz="12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9782" marR="9782" marT="6521" marB="652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IN" sz="1200">
                          <a:effectLst/>
                        </a:rPr>
                        <a:t>Legacy Enterprise Mainframes, Hybrid Cloud &amp; Secure Storage</a:t>
                      </a:r>
                      <a:endParaRPr lang="en-IN" sz="12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9782" marR="9782" marT="6521" marB="652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da-DK" sz="1200">
                          <a:effectLst/>
                        </a:rPr>
                        <a:t>Servers: $18B–$20B</a:t>
                      </a:r>
                    </a:p>
                    <a:p>
                      <a:pPr rtl="0"/>
                      <a:br>
                        <a:rPr lang="da-DK" sz="1200">
                          <a:effectLst/>
                        </a:rPr>
                      </a:br>
                      <a:r>
                        <a:rPr lang="da-DK" sz="1200">
                          <a:effectLst/>
                        </a:rPr>
                        <a:t>Storage: $7B</a:t>
                      </a:r>
                      <a:endParaRPr lang="da-DK" sz="12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9782" marR="9782" marT="6521" marB="652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IN" sz="1200">
                          <a:effectLst/>
                        </a:rPr>
                        <a:t>Low–Mid</a:t>
                      </a:r>
                    </a:p>
                    <a:p>
                      <a:pPr rtl="0"/>
                      <a:br>
                        <a:rPr lang="en-IN" sz="1200">
                          <a:effectLst/>
                        </a:rPr>
                      </a:br>
                      <a:r>
                        <a:rPr lang="en-IN" sz="1200">
                          <a:effectLst/>
                        </a:rPr>
                        <a:t>(~6–8%)</a:t>
                      </a:r>
                      <a:endParaRPr lang="en-IN" sz="12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9782" marR="9782" marT="6521" marB="652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IN" sz="1200">
                          <a:effectLst/>
                        </a:rPr>
                        <a:t>11.5%</a:t>
                      </a:r>
                      <a:endParaRPr lang="en-IN" sz="12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9782" marR="9782" marT="6521" marB="652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200">
                          <a:effectLst/>
                        </a:rPr>
                        <a:t>Migrating banking, financial services (BFSI), and enterprise mainframes into localized, ultra-secure hybrid cloud setups.</a:t>
                      </a:r>
                      <a:endParaRPr lang="en-US" sz="12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9782" marR="9782" marT="6521" marB="652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200">
                          <a:effectLst/>
                        </a:rPr>
                        <a:t>Selective High-Precision Integration: Manufacturing high-reliability multilayer PCBs, advanced copper-core wiring paths, and secure metal enclosures.</a:t>
                      </a:r>
                      <a:endParaRPr lang="en-US" sz="12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9782" marR="9782" marT="6521" marB="652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97618599"/>
                  </a:ext>
                </a:extLst>
              </a:tr>
              <a:tr h="1324476">
                <a:tc>
                  <a:txBody>
                    <a:bodyPr/>
                    <a:lstStyle/>
                    <a:p>
                      <a:pPr rtl="0"/>
                      <a:r>
                        <a:rPr lang="en-IN" sz="1200">
                          <a:effectLst/>
                        </a:rPr>
                        <a:t>7</a:t>
                      </a:r>
                      <a:endParaRPr lang="en-IN" sz="12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9782" marR="9782" marT="6521" marB="652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IN" sz="1200">
                          <a:effectLst/>
                        </a:rPr>
                        <a:t>Cisco Systems</a:t>
                      </a:r>
                      <a:endParaRPr lang="en-IN" sz="12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9782" marR="9782" marT="6521" marB="652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IN" sz="1200">
                          <a:effectLst/>
                        </a:rPr>
                        <a:t>Global (USA)</a:t>
                      </a:r>
                      <a:endParaRPr lang="en-IN" sz="12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9782" marR="9782" marT="6521" marB="652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200">
                          <a:effectLst/>
                        </a:rPr>
                        <a:t>Enterprise Networking, Intelligent AI Fabrics &amp; Core Switches</a:t>
                      </a:r>
                      <a:endParaRPr lang="en-US" sz="12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9782" marR="9782" marT="6521" marB="652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IN" sz="1200">
                          <a:effectLst/>
                        </a:rPr>
                        <a:t>Networking (TAM): $6.2B–$6.8B</a:t>
                      </a:r>
                      <a:endParaRPr lang="en-IN" sz="12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9782" marR="9782" marT="6521" marB="652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IN" sz="1200">
                          <a:effectLst/>
                        </a:rPr>
                        <a:t>High</a:t>
                      </a:r>
                    </a:p>
                    <a:p>
                      <a:pPr rtl="0"/>
                      <a:br>
                        <a:rPr lang="en-IN" sz="1200">
                          <a:effectLst/>
                        </a:rPr>
                      </a:br>
                      <a:r>
                        <a:rPr lang="en-IN" sz="1200">
                          <a:effectLst/>
                        </a:rPr>
                        <a:t>(~32–35%)</a:t>
                      </a:r>
                      <a:endParaRPr lang="en-IN" sz="12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9782" marR="9782" marT="6521" marB="652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IN" sz="1200">
                          <a:effectLst/>
                        </a:rPr>
                        <a:t>16.5%</a:t>
                      </a:r>
                      <a:endParaRPr lang="en-IN" sz="12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9782" marR="9782" marT="6521" marB="652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200">
                          <a:effectLst/>
                        </a:rPr>
                        <a:t>Moving production directly to India to build advanced 800G high-speed Ethernet fabrics to link massive GPU blocks without latency drops.</a:t>
                      </a:r>
                      <a:endParaRPr lang="en-US" sz="12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9782" marR="9782" marT="6521" marB="652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200">
                          <a:effectLst/>
                        </a:rPr>
                        <a:t>Redundant Power Supplies (CRPS): Supplying Salcomp's specialized CRPS Series (800W to 4000W) front-end power modules. Manufacturing mechanical subassemblies and shielding.</a:t>
                      </a:r>
                      <a:endParaRPr lang="en-US" sz="12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9782" marR="9782" marT="6521" marB="652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09888295"/>
                  </a:ext>
                </a:extLst>
              </a:tr>
              <a:tr h="1241267">
                <a:tc>
                  <a:txBody>
                    <a:bodyPr/>
                    <a:lstStyle/>
                    <a:p>
                      <a:pPr rtl="0"/>
                      <a:r>
                        <a:rPr lang="en-IN" sz="1200">
                          <a:effectLst/>
                        </a:rPr>
                        <a:t>8</a:t>
                      </a:r>
                      <a:endParaRPr lang="en-IN" sz="12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9782" marR="9782" marT="6521" marB="652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IN" sz="1200">
                          <a:effectLst/>
                        </a:rPr>
                        <a:t>Arista Networks</a:t>
                      </a:r>
                      <a:endParaRPr lang="en-IN" sz="12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9782" marR="9782" marT="6521" marB="652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IN" sz="1200">
                          <a:effectLst/>
                        </a:rPr>
                        <a:t>Global (USA)</a:t>
                      </a:r>
                      <a:endParaRPr lang="en-IN" sz="12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9782" marR="9782" marT="6521" marB="652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200">
                          <a:effectLst/>
                        </a:rPr>
                        <a:t>Hyperscale Data Center Switching &amp; Software Networks</a:t>
                      </a:r>
                      <a:endParaRPr lang="en-US" sz="12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9782" marR="9782" marT="6521" marB="652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IN" sz="1200">
                          <a:effectLst/>
                        </a:rPr>
                        <a:t>Networking (TAM): $6.2B–$6.8B</a:t>
                      </a:r>
                      <a:endParaRPr lang="en-IN" sz="12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9782" marR="9782" marT="6521" marB="652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IN" sz="1200">
                          <a:effectLst/>
                        </a:rPr>
                        <a:t>Moderate</a:t>
                      </a:r>
                    </a:p>
                    <a:p>
                      <a:pPr rtl="0"/>
                      <a:br>
                        <a:rPr lang="en-IN" sz="1200">
                          <a:effectLst/>
                        </a:rPr>
                      </a:br>
                      <a:r>
                        <a:rPr lang="en-IN" sz="1200">
                          <a:effectLst/>
                        </a:rPr>
                        <a:t>(~18–20%)</a:t>
                      </a:r>
                      <a:endParaRPr lang="en-IN" sz="12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9782" marR="9782" marT="6521" marB="652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IN" sz="1200">
                          <a:effectLst/>
                        </a:rPr>
                        <a:t>20.5%</a:t>
                      </a:r>
                      <a:endParaRPr lang="en-IN" sz="12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9782" marR="9782" marT="6521" marB="652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200">
                          <a:effectLst/>
                        </a:rPr>
                        <a:t>Capturing cloud-native spaces by deploying advanced AI spine-and-leaf network layouts for direct hyper-scaler estates.</a:t>
                      </a:r>
                      <a:endParaRPr lang="en-US" sz="12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9782" marR="9782" marT="6521" marB="652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200">
                          <a:effectLst/>
                        </a:rPr>
                        <a:t>Network Enclosures &amp; High-Precision EMS: Local structural casing assembly, complex connector overmolding, and intermediate power board layouts.</a:t>
                      </a:r>
                      <a:endParaRPr lang="en-US" sz="12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9782" marR="9782" marT="6521" marB="652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80186204"/>
                  </a:ext>
                </a:extLst>
              </a:tr>
              <a:tr h="1087480">
                <a:tc>
                  <a:txBody>
                    <a:bodyPr/>
                    <a:lstStyle/>
                    <a:p>
                      <a:pPr rtl="0"/>
                      <a:r>
                        <a:rPr lang="en-IN" sz="1200">
                          <a:effectLst/>
                        </a:rPr>
                        <a:t>9</a:t>
                      </a:r>
                      <a:endParaRPr lang="en-IN" sz="12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9782" marR="9782" marT="6521" marB="652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IN" sz="1200">
                          <a:effectLst/>
                        </a:rPr>
                        <a:t>NetApp</a:t>
                      </a:r>
                      <a:endParaRPr lang="en-IN" sz="12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9782" marR="9782" marT="6521" marB="652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IN" sz="1200">
                          <a:effectLst/>
                        </a:rPr>
                        <a:t>Global (USA)</a:t>
                      </a:r>
                      <a:endParaRPr lang="en-IN" sz="12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9782" marR="9782" marT="6521" marB="652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IN" sz="1200">
                          <a:effectLst/>
                        </a:rPr>
                        <a:t>High-Performance AI Data Management &amp; Flash Storage</a:t>
                      </a:r>
                      <a:endParaRPr lang="en-IN" sz="12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9782" marR="9782" marT="6521" marB="652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IN" sz="1200">
                          <a:effectLst/>
                        </a:rPr>
                        <a:t>Storage (TAM): $7.5B–$8.2B</a:t>
                      </a:r>
                      <a:endParaRPr lang="en-IN" sz="12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9782" marR="9782" marT="6521" marB="652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IN" sz="1200">
                          <a:effectLst/>
                        </a:rPr>
                        <a:t>Moderate</a:t>
                      </a:r>
                    </a:p>
                    <a:p>
                      <a:pPr rtl="0"/>
                      <a:br>
                        <a:rPr lang="en-IN" sz="1200">
                          <a:effectLst/>
                        </a:rPr>
                      </a:br>
                      <a:r>
                        <a:rPr lang="en-IN" sz="1200">
                          <a:effectLst/>
                        </a:rPr>
                        <a:t>(~22–24%)</a:t>
                      </a:r>
                      <a:endParaRPr lang="en-IN" sz="12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9782" marR="9782" marT="6521" marB="652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IN" sz="1200">
                          <a:effectLst/>
                        </a:rPr>
                        <a:t>15.0%</a:t>
                      </a:r>
                      <a:endParaRPr lang="en-IN" sz="12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9782" marR="9782" marT="6521" marB="652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200">
                          <a:effectLst/>
                        </a:rPr>
                        <a:t>Standardizing massive all-flash arrays explicitly configured to feed data continuously into multi-gigawatt AI training farms.</a:t>
                      </a:r>
                      <a:endParaRPr lang="en-US" sz="12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9782" marR="9782" marT="6521" marB="652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200">
                          <a:effectLst/>
                        </a:rPr>
                        <a:t>Storage Chassis Assembly: Heavy mass-manufacturing of drive trays, cold-rolled steel storage arrays, internal power links, and fan tray assemblies.</a:t>
                      </a:r>
                      <a:endParaRPr lang="en-US" sz="12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9782" marR="9782" marT="6521" marB="652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23529630"/>
                  </a:ext>
                </a:extLst>
              </a:tr>
              <a:tr h="1241267">
                <a:tc>
                  <a:txBody>
                    <a:bodyPr/>
                    <a:lstStyle/>
                    <a:p>
                      <a:pPr rtl="0"/>
                      <a:r>
                        <a:rPr lang="en-IN" sz="1200">
                          <a:effectLst/>
                        </a:rPr>
                        <a:t>10</a:t>
                      </a:r>
                      <a:endParaRPr lang="en-IN" sz="12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9782" marR="9782" marT="6521" marB="652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IN" sz="1200">
                          <a:effectLst/>
                        </a:rPr>
                        <a:t>Huawei</a:t>
                      </a:r>
                      <a:endParaRPr lang="en-IN" sz="12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9782" marR="9782" marT="6521" marB="652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IN" sz="1200">
                          <a:effectLst/>
                        </a:rPr>
                        <a:t>Global (China)</a:t>
                      </a:r>
                      <a:endParaRPr lang="en-IN" sz="12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9782" marR="9782" marT="6521" marB="652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200">
                          <a:effectLst/>
                        </a:rPr>
                        <a:t>Telecom Infrastructure, Storage &amp; Cloud Networks</a:t>
                      </a:r>
                      <a:endParaRPr lang="en-US" sz="12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9782" marR="9782" marT="6521" marB="652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IN" sz="1200">
                          <a:effectLst/>
                        </a:rPr>
                        <a:t>Restricted</a:t>
                      </a:r>
                      <a:endParaRPr lang="en-IN" sz="12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9782" marR="9782" marT="6521" marB="652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IN" sz="1200">
                          <a:effectLst/>
                        </a:rPr>
                        <a:t>Negligible</a:t>
                      </a:r>
                    </a:p>
                    <a:p>
                      <a:pPr rtl="0"/>
                      <a:br>
                        <a:rPr lang="en-IN" sz="1200">
                          <a:effectLst/>
                        </a:rPr>
                      </a:br>
                      <a:r>
                        <a:rPr lang="en-IN" sz="1200">
                          <a:effectLst/>
                        </a:rPr>
                        <a:t>(&lt;1%)</a:t>
                      </a:r>
                      <a:endParaRPr lang="en-IN" sz="12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9782" marR="9782" marT="6521" marB="652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IN" sz="1200">
                          <a:effectLst/>
                        </a:rPr>
                        <a:t>None</a:t>
                      </a:r>
                      <a:endParaRPr lang="en-IN" sz="12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9782" marR="9782" marT="6521" marB="652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200">
                          <a:effectLst/>
                        </a:rPr>
                        <a:t>Effectively locked out of the core national data grid due to geopolitical mandates, focusing strictly on small legacy enterprise maintenance.</a:t>
                      </a:r>
                      <a:endParaRPr lang="en-US" sz="12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9782" marR="9782" marT="6521" marB="652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200" dirty="0">
                          <a:effectLst/>
                        </a:rPr>
                        <a:t>Zero Target Opportunity: Heavy compliance blocks prevent local contract expansions.</a:t>
                      </a:r>
                      <a:endParaRPr lang="en-US" sz="12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9782" marR="9782" marT="6521" marB="652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8433651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7916352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5AF958-994D-4366-88D4-04DBB9F033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4612" y="0"/>
            <a:ext cx="8911687" cy="436063"/>
          </a:xfrm>
        </p:spPr>
        <p:txBody>
          <a:bodyPr>
            <a:normAutofit fontScale="90000"/>
          </a:bodyPr>
          <a:lstStyle/>
          <a:p>
            <a:pPr algn="ctr"/>
            <a:r>
              <a:rPr lang="en-US" sz="2800" dirty="0">
                <a:latin typeface="Poppins" panose="02000000000000000000" pitchFamily="2" charset="0"/>
                <a:ea typeface="PMingLiU" panose="02020500000000000000" pitchFamily="18" charset="-120"/>
                <a:cs typeface="Calibri" panose="020F0502020204030204" pitchFamily="34" charset="0"/>
              </a:rPr>
              <a:t>Global Market Opportunity</a:t>
            </a:r>
            <a:endParaRPr lang="en-IN" sz="2800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70EDFCF5-25E4-4B8D-82A8-A5D188B6503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069224446"/>
              </p:ext>
            </p:extLst>
          </p:nvPr>
        </p:nvGraphicFramePr>
        <p:xfrm>
          <a:off x="397565" y="595090"/>
          <a:ext cx="11582400" cy="5980353"/>
        </p:xfrm>
        <a:graphic>
          <a:graphicData uri="http://schemas.openxmlformats.org/drawingml/2006/table">
            <a:tbl>
              <a:tblPr>
                <a:tableStyleId>{D113A9D2-9D6B-4929-AA2D-F23B5EE8CBE7}</a:tableStyleId>
              </a:tblPr>
              <a:tblGrid>
                <a:gridCol w="490330">
                  <a:extLst>
                    <a:ext uri="{9D8B030D-6E8A-4147-A177-3AD203B41FA5}">
                      <a16:colId xmlns:a16="http://schemas.microsoft.com/office/drawing/2014/main" val="3519118062"/>
                    </a:ext>
                  </a:extLst>
                </a:gridCol>
                <a:gridCol w="1046109">
                  <a:extLst>
                    <a:ext uri="{9D8B030D-6E8A-4147-A177-3AD203B41FA5}">
                      <a16:colId xmlns:a16="http://schemas.microsoft.com/office/drawing/2014/main" val="3383101321"/>
                    </a:ext>
                  </a:extLst>
                </a:gridCol>
                <a:gridCol w="604071">
                  <a:extLst>
                    <a:ext uri="{9D8B030D-6E8A-4147-A177-3AD203B41FA5}">
                      <a16:colId xmlns:a16="http://schemas.microsoft.com/office/drawing/2014/main" val="750319875"/>
                    </a:ext>
                  </a:extLst>
                </a:gridCol>
                <a:gridCol w="1331560">
                  <a:extLst>
                    <a:ext uri="{9D8B030D-6E8A-4147-A177-3AD203B41FA5}">
                      <a16:colId xmlns:a16="http://schemas.microsoft.com/office/drawing/2014/main" val="2594494614"/>
                    </a:ext>
                  </a:extLst>
                </a:gridCol>
                <a:gridCol w="834887">
                  <a:extLst>
                    <a:ext uri="{9D8B030D-6E8A-4147-A177-3AD203B41FA5}">
                      <a16:colId xmlns:a16="http://schemas.microsoft.com/office/drawing/2014/main" val="4104152912"/>
                    </a:ext>
                  </a:extLst>
                </a:gridCol>
                <a:gridCol w="768626">
                  <a:extLst>
                    <a:ext uri="{9D8B030D-6E8A-4147-A177-3AD203B41FA5}">
                      <a16:colId xmlns:a16="http://schemas.microsoft.com/office/drawing/2014/main" val="2923287028"/>
                    </a:ext>
                  </a:extLst>
                </a:gridCol>
                <a:gridCol w="1083311">
                  <a:extLst>
                    <a:ext uri="{9D8B030D-6E8A-4147-A177-3AD203B41FA5}">
                      <a16:colId xmlns:a16="http://schemas.microsoft.com/office/drawing/2014/main" val="2420827904"/>
                    </a:ext>
                  </a:extLst>
                </a:gridCol>
                <a:gridCol w="1063540">
                  <a:extLst>
                    <a:ext uri="{9D8B030D-6E8A-4147-A177-3AD203B41FA5}">
                      <a16:colId xmlns:a16="http://schemas.microsoft.com/office/drawing/2014/main" val="563526321"/>
                    </a:ext>
                  </a:extLst>
                </a:gridCol>
                <a:gridCol w="4359966">
                  <a:extLst>
                    <a:ext uri="{9D8B030D-6E8A-4147-A177-3AD203B41FA5}">
                      <a16:colId xmlns:a16="http://schemas.microsoft.com/office/drawing/2014/main" val="3014066326"/>
                    </a:ext>
                  </a:extLst>
                </a:gridCol>
              </a:tblGrid>
              <a:tr h="928257">
                <a:tc>
                  <a:txBody>
                    <a:bodyPr/>
                    <a:lstStyle/>
                    <a:p>
                      <a:pPr rtl="0"/>
                      <a:r>
                        <a:rPr lang="en-IN" sz="1100">
                          <a:effectLst/>
                        </a:rPr>
                        <a:t>Global Rank</a:t>
                      </a:r>
                      <a:endParaRPr lang="en-IN" sz="11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0401" marR="10401" marT="6934" marB="69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IN" sz="1100">
                          <a:effectLst/>
                        </a:rPr>
                        <a:t>Company</a:t>
                      </a:r>
                      <a:endParaRPr lang="en-IN" sz="11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0401" marR="10401" marT="6934" marB="69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IN" sz="1100">
                          <a:effectLst/>
                        </a:rPr>
                        <a:t>Origin</a:t>
                      </a:r>
                      <a:endParaRPr lang="en-IN" sz="11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0401" marR="10401" marT="6934" marB="69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IN" sz="1100">
                          <a:effectLst/>
                        </a:rPr>
                        <a:t>Segment Category</a:t>
                      </a:r>
                      <a:endParaRPr lang="en-IN" sz="11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0401" marR="10401" marT="6934" marB="69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IN" sz="1100">
                          <a:effectLst/>
                        </a:rPr>
                        <a:t>India 2026 Opportunity (USD)</a:t>
                      </a:r>
                      <a:endParaRPr lang="en-IN" sz="11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0401" marR="10401" marT="6934" marB="69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100" dirty="0">
                          <a:effectLst/>
                        </a:rPr>
                        <a:t>Adjusted Segment CAGR ('26–'30)</a:t>
                      </a:r>
                      <a:endParaRPr lang="en-US" sz="11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0401" marR="10401" marT="6934" marB="69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IN" sz="1100" dirty="0">
                          <a:effectLst/>
                        </a:rPr>
                        <a:t>Current Global Market Share</a:t>
                      </a:r>
                      <a:endParaRPr lang="en-IN" sz="11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0401" marR="10401" marT="6934" marB="69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IN" sz="1100">
                          <a:effectLst/>
                        </a:rPr>
                        <a:t>Salcomp Opportunity Rating</a:t>
                      </a:r>
                      <a:endParaRPr lang="en-IN" sz="11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0401" marR="10401" marT="6934" marB="69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100" dirty="0">
                          <a:effectLst/>
                        </a:rPr>
                        <a:t>Updated Specific Target Opportunity for </a:t>
                      </a:r>
                      <a:r>
                        <a:rPr lang="en-US" sz="1100" dirty="0" err="1">
                          <a:effectLst/>
                        </a:rPr>
                        <a:t>Salcomp</a:t>
                      </a:r>
                      <a:endParaRPr lang="en-US" sz="11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0401" marR="10401" marT="6934" marB="69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92902911"/>
                  </a:ext>
                </a:extLst>
              </a:tr>
              <a:tr h="404020">
                <a:tc>
                  <a:txBody>
                    <a:bodyPr/>
                    <a:lstStyle/>
                    <a:p>
                      <a:pPr rtl="0"/>
                      <a:r>
                        <a:rPr lang="en-IN" sz="1100">
                          <a:effectLst/>
                        </a:rPr>
                        <a:t>1</a:t>
                      </a:r>
                      <a:endParaRPr lang="en-IN" sz="11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0401" marR="10401" marT="6934" marB="69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IN" sz="1100" dirty="0">
                          <a:effectLst/>
                        </a:rPr>
                        <a:t>NVIDIA</a:t>
                      </a:r>
                      <a:endParaRPr lang="en-IN" sz="11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0401" marR="10401" marT="6934" marB="69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IN" sz="1100">
                          <a:effectLst/>
                        </a:rPr>
                        <a:t>USA</a:t>
                      </a:r>
                      <a:endParaRPr lang="en-IN" sz="11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0401" marR="10401" marT="6934" marB="69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it-IT" sz="1100">
                          <a:effectLst/>
                        </a:rPr>
                        <a:t>AI Compute (GPU, Tensers, Accel)</a:t>
                      </a:r>
                      <a:endParaRPr lang="it-IT" sz="11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0401" marR="10401" marT="6934" marB="69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IN" sz="1100" dirty="0">
                          <a:effectLst/>
                        </a:rPr>
                        <a:t>$4.8–5.2 Bn</a:t>
                      </a:r>
                      <a:endParaRPr lang="en-IN" sz="11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0401" marR="10401" marT="6934" marB="69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IN" sz="1100">
                          <a:effectLst/>
                        </a:rPr>
                        <a:t>35%+</a:t>
                      </a:r>
                      <a:endParaRPr lang="en-IN" sz="11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0401" marR="10401" marT="6934" marB="69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IN" sz="1100">
                          <a:effectLst/>
                        </a:rPr>
                        <a:t>~85–90% (AI GPUs)</a:t>
                      </a:r>
                      <a:endParaRPr lang="en-IN" sz="11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0401" marR="10401" marT="6934" marB="69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IN" sz="1100" dirty="0">
                          <a:effectLst/>
                        </a:rPr>
                        <a:t>Low (Direct)</a:t>
                      </a:r>
                      <a:endParaRPr lang="en-IN" sz="11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0401" marR="10401" marT="6934" marB="69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100" dirty="0">
                          <a:effectLst/>
                        </a:rPr>
                        <a:t>Custom sheet-metal GPU tray enclosures, structural </a:t>
                      </a:r>
                      <a:r>
                        <a:rPr lang="en-US" sz="1100" dirty="0" err="1">
                          <a:effectLst/>
                        </a:rPr>
                        <a:t>structural</a:t>
                      </a:r>
                      <a:r>
                        <a:rPr lang="en-US" sz="1100" dirty="0">
                          <a:effectLst/>
                        </a:rPr>
                        <a:t> busbars, and precision mechanical stiffeners.</a:t>
                      </a:r>
                      <a:endParaRPr lang="en-US" sz="11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0401" marR="10401" marT="6934" marB="69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82052287"/>
                  </a:ext>
                </a:extLst>
              </a:tr>
              <a:tr h="535080">
                <a:tc>
                  <a:txBody>
                    <a:bodyPr/>
                    <a:lstStyle/>
                    <a:p>
                      <a:pPr rtl="0"/>
                      <a:r>
                        <a:rPr lang="en-IN" sz="1100">
                          <a:effectLst/>
                        </a:rPr>
                        <a:t>2</a:t>
                      </a:r>
                      <a:endParaRPr lang="en-IN" sz="11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0401" marR="10401" marT="6934" marB="69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IN" sz="1100">
                          <a:effectLst/>
                        </a:rPr>
                        <a:t>Dell Technologies</a:t>
                      </a:r>
                      <a:endParaRPr lang="en-IN" sz="11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0401" marR="10401" marT="6934" marB="69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IN" sz="1100" dirty="0">
                          <a:effectLst/>
                        </a:rPr>
                        <a:t>USA</a:t>
                      </a:r>
                      <a:endParaRPr lang="en-IN" sz="11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0401" marR="10401" marT="6934" marB="69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IN" sz="1100">
                          <a:effectLst/>
                        </a:rPr>
                        <a:t>AI Servers &amp; Enterprise Storage Systems</a:t>
                      </a:r>
                      <a:endParaRPr lang="en-IN" sz="11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0401" marR="10401" marT="6934" marB="69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IN" sz="1100">
                          <a:effectLst/>
                        </a:rPr>
                        <a:t>$3.2–3.6 Bn</a:t>
                      </a:r>
                      <a:endParaRPr lang="en-IN" sz="11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0401" marR="10401" marT="6934" marB="69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IN" sz="1100">
                          <a:effectLst/>
                        </a:rPr>
                        <a:t>18%</a:t>
                      </a:r>
                      <a:endParaRPr lang="en-IN" sz="11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0401" marR="10401" marT="6934" marB="69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IN" sz="1100">
                          <a:effectLst/>
                        </a:rPr>
                        <a:t>~18–20% (Servers)</a:t>
                      </a:r>
                      <a:endParaRPr lang="en-IN" sz="11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0401" marR="10401" marT="6934" marB="69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IN" sz="1100">
                          <a:effectLst/>
                        </a:rPr>
                        <a:t>Medium</a:t>
                      </a:r>
                      <a:endParaRPr lang="en-IN" sz="11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0401" marR="10401" marT="6934" marB="69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100">
                          <a:effectLst/>
                        </a:rPr>
                        <a:t>Turnkey server rack frame integration, CRPS box-builds, and high-amperage internal wiring harnesses.</a:t>
                      </a:r>
                      <a:endParaRPr lang="en-US" sz="11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0401" marR="10401" marT="6934" marB="69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46987030"/>
                  </a:ext>
                </a:extLst>
              </a:tr>
              <a:tr h="404020">
                <a:tc>
                  <a:txBody>
                    <a:bodyPr/>
                    <a:lstStyle/>
                    <a:p>
                      <a:pPr rtl="0"/>
                      <a:r>
                        <a:rPr lang="en-IN" sz="1100">
                          <a:effectLst/>
                        </a:rPr>
                        <a:t>3</a:t>
                      </a:r>
                      <a:endParaRPr lang="en-IN" sz="11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0401" marR="10401" marT="6934" marB="69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IN" sz="1100">
                          <a:effectLst/>
                        </a:rPr>
                        <a:t>HPE</a:t>
                      </a:r>
                      <a:endParaRPr lang="en-IN" sz="11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0401" marR="10401" marT="6934" marB="69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IN" sz="1100">
                          <a:effectLst/>
                        </a:rPr>
                        <a:t>USA</a:t>
                      </a:r>
                      <a:endParaRPr lang="en-IN" sz="11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0401" marR="10401" marT="6934" marB="69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it-IT" sz="1100">
                          <a:effectLst/>
                        </a:rPr>
                        <a:t>AI Servers, Edge Nodes &amp; AI Fabrics</a:t>
                      </a:r>
                      <a:endParaRPr lang="it-IT" sz="11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0401" marR="10401" marT="6934" marB="69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IN" sz="1100">
                          <a:effectLst/>
                        </a:rPr>
                        <a:t>$2.6–3.0 Bn</a:t>
                      </a:r>
                      <a:endParaRPr lang="en-IN" sz="11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0401" marR="10401" marT="6934" marB="69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IN" sz="1100">
                          <a:effectLst/>
                        </a:rPr>
                        <a:t>18%</a:t>
                      </a:r>
                      <a:endParaRPr lang="en-IN" sz="11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0401" marR="10401" marT="6934" marB="69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IN" sz="1100">
                          <a:effectLst/>
                        </a:rPr>
                        <a:t>~15% (Servers)</a:t>
                      </a:r>
                      <a:endParaRPr lang="en-IN" sz="11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0401" marR="10401" marT="6934" marB="69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IN" sz="1100">
                          <a:effectLst/>
                        </a:rPr>
                        <a:t>Medium–High</a:t>
                      </a:r>
                      <a:endParaRPr lang="en-IN" sz="11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0401" marR="10401" marT="6934" marB="69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100">
                          <a:effectLst/>
                        </a:rPr>
                        <a:t>Localizing complete SMT board assembly, structural mechanical bracing, and sub-chassis frame panels.</a:t>
                      </a:r>
                      <a:endParaRPr lang="en-US" sz="11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0401" marR="10401" marT="6934" marB="69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2615739"/>
                  </a:ext>
                </a:extLst>
              </a:tr>
              <a:tr h="535080">
                <a:tc>
                  <a:txBody>
                    <a:bodyPr/>
                    <a:lstStyle/>
                    <a:p>
                      <a:pPr rtl="0"/>
                      <a:r>
                        <a:rPr lang="en-IN" sz="1100">
                          <a:effectLst/>
                        </a:rPr>
                        <a:t>4</a:t>
                      </a:r>
                      <a:endParaRPr lang="en-IN" sz="11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0401" marR="10401" marT="6934" marB="69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IN" sz="1100">
                          <a:effectLst/>
                        </a:rPr>
                        <a:t>Supermicro</a:t>
                      </a:r>
                      <a:endParaRPr lang="en-IN" sz="11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0401" marR="10401" marT="6934" marB="69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IN" sz="1100">
                          <a:effectLst/>
                        </a:rPr>
                        <a:t>USA</a:t>
                      </a:r>
                      <a:endParaRPr lang="en-IN" sz="11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0401" marR="10401" marT="6934" marB="69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IN" sz="1100">
                          <a:effectLst/>
                        </a:rPr>
                        <a:t>GPU-Dense Application Optimized Servers</a:t>
                      </a:r>
                      <a:endParaRPr lang="en-IN" sz="11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0401" marR="10401" marT="6934" marB="69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IN" sz="1100">
                          <a:effectLst/>
                        </a:rPr>
                        <a:t>$2.4–2.8 Bn</a:t>
                      </a:r>
                      <a:endParaRPr lang="en-IN" sz="11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0401" marR="10401" marT="6934" marB="69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IN" sz="1100">
                          <a:effectLst/>
                        </a:rPr>
                        <a:t>30%</a:t>
                      </a:r>
                      <a:endParaRPr lang="en-IN" sz="11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0401" marR="10401" marT="6934" marB="69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IN" sz="1100">
                          <a:effectLst/>
                        </a:rPr>
                        <a:t>~14–16% (AI Servers)</a:t>
                      </a:r>
                      <a:endParaRPr lang="en-IN" sz="11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0401" marR="10401" marT="6934" marB="69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IN" sz="1100">
                          <a:effectLst/>
                        </a:rPr>
                        <a:t>High</a:t>
                      </a:r>
                      <a:endParaRPr lang="en-IN" sz="11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0401" marR="10401" marT="6934" marB="69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100">
                          <a:effectLst/>
                        </a:rPr>
                        <a:t>Heavy system box-builds, complex multi-tier internal cable routing, and dense modular power shelf assemblies.</a:t>
                      </a:r>
                      <a:endParaRPr lang="en-US" sz="11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0401" marR="10401" marT="6934" marB="69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31364701"/>
                  </a:ext>
                </a:extLst>
              </a:tr>
              <a:tr h="535080">
                <a:tc>
                  <a:txBody>
                    <a:bodyPr/>
                    <a:lstStyle/>
                    <a:p>
                      <a:pPr rtl="0"/>
                      <a:r>
                        <a:rPr lang="en-IN" sz="1100">
                          <a:effectLst/>
                        </a:rPr>
                        <a:t>5</a:t>
                      </a:r>
                      <a:endParaRPr lang="en-IN" sz="11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0401" marR="10401" marT="6934" marB="69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IN" sz="1100">
                          <a:effectLst/>
                        </a:rPr>
                        <a:t>Lenovo</a:t>
                      </a:r>
                      <a:endParaRPr lang="en-IN" sz="11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0401" marR="10401" marT="6934" marB="69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IN" sz="1100">
                          <a:effectLst/>
                        </a:rPr>
                        <a:t>China</a:t>
                      </a:r>
                      <a:endParaRPr lang="en-IN" sz="11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0401" marR="10401" marT="6934" marB="69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IN" sz="1100">
                          <a:effectLst/>
                        </a:rPr>
                        <a:t>Cost-Effective Cloud &amp; Enterprise Compute</a:t>
                      </a:r>
                      <a:endParaRPr lang="en-IN" sz="11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0401" marR="10401" marT="6934" marB="69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IN" sz="1100">
                          <a:effectLst/>
                        </a:rPr>
                        <a:t>$1.6–1.9 Bn</a:t>
                      </a:r>
                      <a:endParaRPr lang="en-IN" sz="11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0401" marR="10401" marT="6934" marB="69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IN" sz="1100">
                          <a:effectLst/>
                        </a:rPr>
                        <a:t>16%</a:t>
                      </a:r>
                      <a:endParaRPr lang="en-IN" sz="11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0401" marR="10401" marT="6934" marB="69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IN" sz="1100">
                          <a:effectLst/>
                        </a:rPr>
                        <a:t>~12–14% (Servers)</a:t>
                      </a:r>
                      <a:endParaRPr lang="en-IN" sz="11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0401" marR="10401" marT="6934" marB="69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IN" sz="1100">
                          <a:effectLst/>
                        </a:rPr>
                        <a:t>Medium</a:t>
                      </a:r>
                      <a:endParaRPr lang="en-IN" sz="11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0401" marR="10401" marT="6934" marB="69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100" dirty="0">
                          <a:effectLst/>
                        </a:rPr>
                        <a:t>Automated high-volume component placement, plastic structural moldings, and backplane connect </a:t>
                      </a:r>
                      <a:r>
                        <a:rPr lang="en-US" sz="1100" dirty="0" err="1">
                          <a:effectLst/>
                        </a:rPr>
                        <a:t>overmolding</a:t>
                      </a:r>
                      <a:r>
                        <a:rPr lang="en-US" sz="1100" dirty="0">
                          <a:effectLst/>
                        </a:rPr>
                        <a:t>.</a:t>
                      </a:r>
                      <a:endParaRPr lang="en-US" sz="11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0401" marR="10401" marT="6934" marB="69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58679738"/>
                  </a:ext>
                </a:extLst>
              </a:tr>
              <a:tr h="502354">
                <a:tc>
                  <a:txBody>
                    <a:bodyPr/>
                    <a:lstStyle/>
                    <a:p>
                      <a:pPr rtl="0"/>
                      <a:r>
                        <a:rPr lang="en-IN" sz="1100">
                          <a:effectLst/>
                        </a:rPr>
                        <a:t>6</a:t>
                      </a:r>
                      <a:endParaRPr lang="en-IN" sz="11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0401" marR="10401" marT="6934" marB="69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IN" sz="1100">
                          <a:effectLst/>
                        </a:rPr>
                        <a:t>Vertiv</a:t>
                      </a:r>
                      <a:endParaRPr lang="en-IN" sz="11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0401" marR="10401" marT="6934" marB="69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IN" sz="1100">
                          <a:effectLst/>
                        </a:rPr>
                        <a:t>USA</a:t>
                      </a:r>
                      <a:endParaRPr lang="en-IN" sz="11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0401" marR="10401" marT="6934" marB="69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100">
                          <a:effectLst/>
                        </a:rPr>
                        <a:t>Liquid Cooling Loops &amp; Smart Power Infra</a:t>
                      </a:r>
                      <a:endParaRPr lang="en-US" sz="11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0401" marR="10401" marT="6934" marB="69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IN" sz="1100" dirty="0">
                          <a:effectLst/>
                        </a:rPr>
                        <a:t>$2.2–2.5 Bn</a:t>
                      </a:r>
                      <a:endParaRPr lang="en-IN" sz="11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0401" marR="10401" marT="6934" marB="69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IN" sz="1100">
                          <a:effectLst/>
                        </a:rPr>
                        <a:t>26%</a:t>
                      </a:r>
                      <a:endParaRPr lang="en-IN" sz="11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0401" marR="10401" marT="6934" marB="69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IN" sz="1100">
                          <a:effectLst/>
                        </a:rPr>
                        <a:t>~25–28% (DC Power/Cooling)</a:t>
                      </a:r>
                      <a:endParaRPr lang="en-IN" sz="11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0401" marR="10401" marT="6934" marB="69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IN" sz="1100">
                          <a:effectLst/>
                        </a:rPr>
                        <a:t>Very High</a:t>
                      </a:r>
                      <a:endParaRPr lang="en-IN" sz="11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0401" marR="10401" marT="6934" marB="69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100">
                          <a:effectLst/>
                        </a:rPr>
                        <a:t>High-density Intelligent Power Distribution Units (iPDUs), power shelving, and cold-plate copper tubing assemblies.</a:t>
                      </a:r>
                      <a:endParaRPr lang="en-US" sz="11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0401" marR="10401" marT="6934" marB="69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52518800"/>
                  </a:ext>
                </a:extLst>
              </a:tr>
              <a:tr h="535080">
                <a:tc>
                  <a:txBody>
                    <a:bodyPr/>
                    <a:lstStyle/>
                    <a:p>
                      <a:pPr rtl="0"/>
                      <a:r>
                        <a:rPr lang="en-IN" sz="1100">
                          <a:effectLst/>
                        </a:rPr>
                        <a:t>7</a:t>
                      </a:r>
                      <a:endParaRPr lang="en-IN" sz="11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0401" marR="10401" marT="6934" marB="69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IN" sz="1100">
                          <a:effectLst/>
                        </a:rPr>
                        <a:t>Schneider Electric</a:t>
                      </a:r>
                      <a:endParaRPr lang="en-IN" sz="11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0401" marR="10401" marT="6934" marB="69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IN" sz="1100">
                          <a:effectLst/>
                        </a:rPr>
                        <a:t>France</a:t>
                      </a:r>
                      <a:endParaRPr lang="en-IN" sz="11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0401" marR="10401" marT="6934" marB="69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100">
                          <a:effectLst/>
                        </a:rPr>
                        <a:t>High-Capacity Grid Influx &amp; Industrial Cooling</a:t>
                      </a:r>
                      <a:endParaRPr lang="en-US" sz="11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0401" marR="10401" marT="6934" marB="69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IN" sz="1100" dirty="0">
                          <a:effectLst/>
                        </a:rPr>
                        <a:t>$2.4–2.7 Bn</a:t>
                      </a:r>
                      <a:endParaRPr lang="en-IN" sz="11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0401" marR="10401" marT="6934" marB="69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IN" sz="1100">
                          <a:effectLst/>
                        </a:rPr>
                        <a:t>24%</a:t>
                      </a:r>
                      <a:endParaRPr lang="en-IN" sz="11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0401" marR="10401" marT="6934" marB="69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IN" sz="1100">
                          <a:effectLst/>
                        </a:rPr>
                        <a:t>~22% (DC Infra)</a:t>
                      </a:r>
                      <a:endParaRPr lang="en-IN" sz="11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0401" marR="10401" marT="6934" marB="69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IN" sz="1100" dirty="0">
                          <a:effectLst/>
                        </a:rPr>
                        <a:t>Very High</a:t>
                      </a:r>
                      <a:endParaRPr lang="en-IN" sz="11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0401" marR="10401" marT="6934" marB="69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100">
                          <a:effectLst/>
                        </a:rPr>
                        <a:t>Advanced power electronics subassemblies, complex structural control cabinets, and busway lines.</a:t>
                      </a:r>
                      <a:endParaRPr lang="en-US" sz="11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0401" marR="10401" marT="6934" marB="69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80582814"/>
                  </a:ext>
                </a:extLst>
              </a:tr>
              <a:tr h="502354">
                <a:tc>
                  <a:txBody>
                    <a:bodyPr/>
                    <a:lstStyle/>
                    <a:p>
                      <a:pPr rtl="0"/>
                      <a:r>
                        <a:rPr lang="en-IN" sz="1100">
                          <a:effectLst/>
                        </a:rPr>
                        <a:t>8</a:t>
                      </a:r>
                      <a:endParaRPr lang="en-IN" sz="11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0401" marR="10401" marT="6934" marB="69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IN" sz="1100">
                          <a:effectLst/>
                        </a:rPr>
                        <a:t>Eaton</a:t>
                      </a:r>
                      <a:endParaRPr lang="en-IN" sz="11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0401" marR="10401" marT="6934" marB="69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IN" sz="1100">
                          <a:effectLst/>
                        </a:rPr>
                        <a:t>Ireland / USA</a:t>
                      </a:r>
                      <a:endParaRPr lang="en-IN" sz="11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0401" marR="10401" marT="6934" marB="69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100">
                          <a:effectLst/>
                        </a:rPr>
                        <a:t>Modular UPS Systems &amp; Power Solutions</a:t>
                      </a:r>
                      <a:endParaRPr lang="en-US" sz="11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0401" marR="10401" marT="6934" marB="69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IN" sz="1100">
                          <a:effectLst/>
                        </a:rPr>
                        <a:t>$1.5–1.8 Bn</a:t>
                      </a:r>
                      <a:endParaRPr lang="en-IN" sz="11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0401" marR="10401" marT="6934" marB="69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IN" sz="1100">
                          <a:effectLst/>
                        </a:rPr>
                        <a:t>20%</a:t>
                      </a:r>
                      <a:endParaRPr lang="en-IN" sz="11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0401" marR="10401" marT="6934" marB="69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IN" sz="1100">
                          <a:effectLst/>
                        </a:rPr>
                        <a:t>~12–14% (UPS Power)</a:t>
                      </a:r>
                      <a:endParaRPr lang="en-IN" sz="11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0401" marR="10401" marT="6934" marB="69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IN" sz="1100">
                          <a:effectLst/>
                        </a:rPr>
                        <a:t>High</a:t>
                      </a:r>
                      <a:endParaRPr lang="en-IN" sz="11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0401" marR="10401" marT="6934" marB="69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100">
                          <a:effectLst/>
                        </a:rPr>
                        <a:t>Precision Common Redundant Power Supply (CRPS) subassembly, magnetic component winding, and localized casing stamping.</a:t>
                      </a:r>
                      <a:endParaRPr lang="en-US" sz="11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0401" marR="10401" marT="6934" marB="69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38175114"/>
                  </a:ext>
                </a:extLst>
              </a:tr>
              <a:tr h="535080">
                <a:tc>
                  <a:txBody>
                    <a:bodyPr/>
                    <a:lstStyle/>
                    <a:p>
                      <a:pPr rtl="0"/>
                      <a:r>
                        <a:rPr lang="en-IN" sz="1100">
                          <a:effectLst/>
                        </a:rPr>
                        <a:t>9</a:t>
                      </a:r>
                      <a:endParaRPr lang="en-IN" sz="11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0401" marR="10401" marT="6934" marB="69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IN" sz="1100">
                          <a:effectLst/>
                        </a:rPr>
                        <a:t>STULZ</a:t>
                      </a:r>
                      <a:endParaRPr lang="en-IN" sz="11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0401" marR="10401" marT="6934" marB="69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IN" sz="1100">
                          <a:effectLst/>
                        </a:rPr>
                        <a:t>Germany</a:t>
                      </a:r>
                      <a:endParaRPr lang="en-IN" sz="11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0401" marR="10401" marT="6934" marB="69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100">
                          <a:effectLst/>
                        </a:rPr>
                        <a:t>Advanced CRAC &amp; Close-Coupled Liquid Cooling</a:t>
                      </a:r>
                      <a:endParaRPr lang="en-US" sz="11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0401" marR="10401" marT="6934" marB="69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IN" sz="1100">
                          <a:effectLst/>
                        </a:rPr>
                        <a:t>$1.4–1.7 Bn</a:t>
                      </a:r>
                      <a:endParaRPr lang="en-IN" sz="11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0401" marR="10401" marT="6934" marB="69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IN" sz="1100">
                          <a:effectLst/>
                        </a:rPr>
                        <a:t>28%</a:t>
                      </a:r>
                      <a:endParaRPr lang="en-IN" sz="11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0401" marR="10401" marT="6934" marB="69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IN" sz="1100">
                          <a:effectLst/>
                        </a:rPr>
                        <a:t>~16% (DC Thermal)</a:t>
                      </a:r>
                      <a:endParaRPr lang="en-IN" sz="11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0401" marR="10401" marT="6934" marB="69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IN" sz="1100">
                          <a:effectLst/>
                        </a:rPr>
                        <a:t>High</a:t>
                      </a:r>
                      <a:endParaRPr lang="en-IN" sz="11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0401" marR="10401" marT="6934" marB="69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100">
                          <a:effectLst/>
                        </a:rPr>
                        <a:t>Assembly of Rear-Door Heat Exchangers (RDHx), fluid distribution manifolds, and custom pump chassis mounts.</a:t>
                      </a:r>
                      <a:endParaRPr lang="en-US" sz="11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0401" marR="10401" marT="6934" marB="69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88042769"/>
                  </a:ext>
                </a:extLst>
              </a:tr>
              <a:tr h="535080">
                <a:tc>
                  <a:txBody>
                    <a:bodyPr/>
                    <a:lstStyle/>
                    <a:p>
                      <a:pPr rtl="0"/>
                      <a:r>
                        <a:rPr lang="en-IN" sz="1100">
                          <a:effectLst/>
                        </a:rPr>
                        <a:t>10</a:t>
                      </a:r>
                      <a:endParaRPr lang="en-IN" sz="11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0401" marR="10401" marT="6934" marB="69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IN" sz="1100">
                          <a:effectLst/>
                        </a:rPr>
                        <a:t>Cisco</a:t>
                      </a:r>
                      <a:endParaRPr lang="en-IN" sz="11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0401" marR="10401" marT="6934" marB="69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IN" sz="1100">
                          <a:effectLst/>
                        </a:rPr>
                        <a:t>USA</a:t>
                      </a:r>
                      <a:endParaRPr lang="en-IN" sz="11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0401" marR="10401" marT="6934" marB="69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100">
                          <a:effectLst/>
                        </a:rPr>
                        <a:t>800G Ethernet Switches &amp; Low-Latency AI Fabrics</a:t>
                      </a:r>
                      <a:endParaRPr lang="en-US" sz="11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0401" marR="10401" marT="6934" marB="69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IN" sz="1100">
                          <a:effectLst/>
                        </a:rPr>
                        <a:t>$1.6–1.9 Bn</a:t>
                      </a:r>
                      <a:endParaRPr lang="en-IN" sz="11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0401" marR="10401" marT="6934" marB="69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IN" sz="1100">
                          <a:effectLst/>
                        </a:rPr>
                        <a:t>15%</a:t>
                      </a:r>
                      <a:endParaRPr lang="en-IN" sz="11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0401" marR="10401" marT="6934" marB="69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IN" sz="1100">
                          <a:effectLst/>
                        </a:rPr>
                        <a:t>~38% (DC Networking)</a:t>
                      </a:r>
                      <a:endParaRPr lang="en-IN" sz="11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0401" marR="10401" marT="6934" marB="69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IN" sz="1100">
                          <a:effectLst/>
                        </a:rPr>
                        <a:t>Medium</a:t>
                      </a:r>
                      <a:endParaRPr lang="en-IN" sz="11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0401" marR="10401" marT="6934" marB="69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100" dirty="0">
                          <a:effectLst/>
                        </a:rPr>
                        <a:t>Manufacturing complex network interface card (NIC) housings, localized high-efficiency internal power modules, and sheet-metal switch casings.</a:t>
                      </a:r>
                      <a:endParaRPr lang="en-US" sz="11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0401" marR="10401" marT="6934" marB="69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9700438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8918417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7B8B0E-4121-4118-BFA1-702C70D297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96278" y="66261"/>
            <a:ext cx="3860884" cy="396307"/>
          </a:xfrm>
        </p:spPr>
        <p:txBody>
          <a:bodyPr>
            <a:normAutofit fontScale="90000"/>
          </a:bodyPr>
          <a:lstStyle/>
          <a:p>
            <a:pPr algn="ctr"/>
            <a:r>
              <a:rPr lang="en-US" sz="2800" dirty="0">
                <a:latin typeface="Poppins" panose="02000000000000000000" pitchFamily="2" charset="0"/>
                <a:ea typeface="PMingLiU" panose="02020500000000000000" pitchFamily="18" charset="-120"/>
                <a:cs typeface="Calibri" panose="020F0502020204030204" pitchFamily="34" charset="0"/>
              </a:rPr>
              <a:t>Global Supply Chain</a:t>
            </a:r>
            <a:endParaRPr lang="en-IN" sz="2800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8F8F603C-AF05-4E04-93B1-9E6AD5D8E1E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814261586"/>
              </p:ext>
            </p:extLst>
          </p:nvPr>
        </p:nvGraphicFramePr>
        <p:xfrm>
          <a:off x="278296" y="499759"/>
          <a:ext cx="11410121" cy="5969766"/>
        </p:xfrm>
        <a:graphic>
          <a:graphicData uri="http://schemas.openxmlformats.org/drawingml/2006/table">
            <a:tbl>
              <a:tblPr>
                <a:tableStyleId>{D113A9D2-9D6B-4929-AA2D-F23B5EE8CBE7}</a:tableStyleId>
              </a:tblPr>
              <a:tblGrid>
                <a:gridCol w="1221552">
                  <a:extLst>
                    <a:ext uri="{9D8B030D-6E8A-4147-A177-3AD203B41FA5}">
                      <a16:colId xmlns:a16="http://schemas.microsoft.com/office/drawing/2014/main" val="524998889"/>
                    </a:ext>
                  </a:extLst>
                </a:gridCol>
                <a:gridCol w="1685433">
                  <a:extLst>
                    <a:ext uri="{9D8B030D-6E8A-4147-A177-3AD203B41FA5}">
                      <a16:colId xmlns:a16="http://schemas.microsoft.com/office/drawing/2014/main" val="2719376302"/>
                    </a:ext>
                  </a:extLst>
                </a:gridCol>
                <a:gridCol w="1221553">
                  <a:extLst>
                    <a:ext uri="{9D8B030D-6E8A-4147-A177-3AD203B41FA5}">
                      <a16:colId xmlns:a16="http://schemas.microsoft.com/office/drawing/2014/main" val="2204067855"/>
                    </a:ext>
                  </a:extLst>
                </a:gridCol>
                <a:gridCol w="1577195">
                  <a:extLst>
                    <a:ext uri="{9D8B030D-6E8A-4147-A177-3AD203B41FA5}">
                      <a16:colId xmlns:a16="http://schemas.microsoft.com/office/drawing/2014/main" val="3237352400"/>
                    </a:ext>
                  </a:extLst>
                </a:gridCol>
                <a:gridCol w="2566805">
                  <a:extLst>
                    <a:ext uri="{9D8B030D-6E8A-4147-A177-3AD203B41FA5}">
                      <a16:colId xmlns:a16="http://schemas.microsoft.com/office/drawing/2014/main" val="163687440"/>
                    </a:ext>
                  </a:extLst>
                </a:gridCol>
                <a:gridCol w="3137583">
                  <a:extLst>
                    <a:ext uri="{9D8B030D-6E8A-4147-A177-3AD203B41FA5}">
                      <a16:colId xmlns:a16="http://schemas.microsoft.com/office/drawing/2014/main" val="1367951586"/>
                    </a:ext>
                  </a:extLst>
                </a:gridCol>
              </a:tblGrid>
              <a:tr h="697588">
                <a:tc>
                  <a:txBody>
                    <a:bodyPr/>
                    <a:lstStyle/>
                    <a:p>
                      <a:pPr rtl="0"/>
                      <a:r>
                        <a:rPr lang="en-IN" sz="1200">
                          <a:effectLst/>
                        </a:rPr>
                        <a:t>OEM / Segment</a:t>
                      </a:r>
                      <a:endParaRPr lang="en-IN" sz="12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9100" marR="9100" marT="6067" marB="606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IN" sz="1200">
                          <a:effectLst/>
                        </a:rPr>
                        <a:t>Key Sub-Systems</a:t>
                      </a:r>
                      <a:endParaRPr lang="en-IN" sz="12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9100" marR="9100" marT="6067" marB="606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IN" sz="1200">
                          <a:effectLst/>
                        </a:rPr>
                        <a:t>Dominant Tier-1 Integrator / EMS</a:t>
                      </a:r>
                      <a:endParaRPr lang="en-IN" sz="12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9100" marR="9100" marT="6067" marB="606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IN" sz="1200">
                          <a:effectLst/>
                        </a:rPr>
                        <a:t>Key Tier-2 Component Supplier</a:t>
                      </a:r>
                      <a:endParaRPr lang="en-IN" sz="12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9100" marR="9100" marT="6067" marB="606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200" dirty="0">
                          <a:effectLst/>
                        </a:rPr>
                        <a:t>Destination of Assembled Goods (Export vs. Domestic)</a:t>
                      </a:r>
                      <a:endParaRPr lang="en-US" sz="12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9100" marR="9100" marT="6067" marB="606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200">
                          <a:effectLst/>
                        </a:rPr>
                        <a:t>Salcomp Competitive Targeting (Who to Compete With)</a:t>
                      </a:r>
                      <a:endParaRPr lang="en-US" sz="12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9100" marR="9100" marT="6067" marB="606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98703795"/>
                  </a:ext>
                </a:extLst>
              </a:tr>
              <a:tr h="1040691">
                <a:tc>
                  <a:txBody>
                    <a:bodyPr/>
                    <a:lstStyle/>
                    <a:p>
                      <a:pPr rtl="0"/>
                      <a:r>
                        <a:rPr lang="en-IN" sz="1200">
                          <a:effectLst/>
                        </a:rPr>
                        <a:t>1. NVIDIA (AI Compute)</a:t>
                      </a:r>
                      <a:endParaRPr lang="en-IN" sz="12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9100" marR="9100" marT="6067" marB="606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200">
                          <a:effectLst/>
                        </a:rPr>
                        <a:t>GPU Accelerator Trays, NVLink Switches, Complex PCBA</a:t>
                      </a:r>
                      <a:endParaRPr lang="en-US" sz="12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9100" marR="9100" marT="6067" marB="606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IN" sz="1200">
                          <a:effectLst/>
                        </a:rPr>
                        <a:t>Foxconn, Wistron, Quanta Computer</a:t>
                      </a:r>
                      <a:endParaRPr lang="en-IN" sz="12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9100" marR="9100" marT="6067" marB="606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IN" sz="1200">
                          <a:effectLst/>
                        </a:rPr>
                        <a:t>TSMC (Silicon), SK Hynix (HBM), Amphenol (Connectors)</a:t>
                      </a:r>
                      <a:endParaRPr lang="en-IN" sz="12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9100" marR="9100" marT="6067" marB="606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200">
                          <a:effectLst/>
                        </a:rPr>
                        <a:t>100% Domestic Consumption: Boards/chips imported fully assembled; zero re-export. Used entirely to scale Indian AI nodes.</a:t>
                      </a:r>
                      <a:endParaRPr lang="en-US" sz="12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9100" marR="9100" marT="6067" marB="606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200" dirty="0">
                          <a:effectLst/>
                        </a:rPr>
                        <a:t>Compete with Tier-1 mechanical divisions: Bypassing Foxconn/Quanta's structural lines by offering localized sheet-metal stamping directly to domestic server integrators.</a:t>
                      </a:r>
                      <a:endParaRPr lang="en-US" sz="12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9100" marR="9100" marT="6067" marB="606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99420723"/>
                  </a:ext>
                </a:extLst>
              </a:tr>
              <a:tr h="1040691">
                <a:tc>
                  <a:txBody>
                    <a:bodyPr/>
                    <a:lstStyle/>
                    <a:p>
                      <a:pPr rtl="0"/>
                      <a:r>
                        <a:rPr lang="fr-FR" sz="1200">
                          <a:effectLst/>
                        </a:rPr>
                        <a:t>2. Dell Technologies (AI Servers)</a:t>
                      </a:r>
                      <a:endParaRPr lang="fr-FR" sz="12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9100" marR="9100" marT="6067" marB="606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200">
                          <a:effectLst/>
                        </a:rPr>
                        <a:t>Mainstream AI Server Racks, Storage Bays, Motherboards</a:t>
                      </a:r>
                      <a:endParaRPr lang="en-US" sz="12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9100" marR="9100" marT="6067" marB="606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IN" sz="1200" dirty="0">
                          <a:effectLst/>
                        </a:rPr>
                        <a:t>Foxconn India, Jabil India, Flextronics</a:t>
                      </a:r>
                      <a:endParaRPr lang="en-IN" sz="12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9100" marR="9100" marT="6067" marB="606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IN" sz="1200">
                          <a:effectLst/>
                        </a:rPr>
                        <a:t>Intel, AMD, Samsung, Delta Electronics (Power modules)</a:t>
                      </a:r>
                      <a:endParaRPr lang="en-IN" sz="12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9100" marR="9100" marT="6067" marB="606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200">
                          <a:effectLst/>
                        </a:rPr>
                        <a:t>~90% Domestic / 10% Export: Mostly consumed within Indian hyper-scaler hubs, with minor regional export shipments to SAARC nations.</a:t>
                      </a:r>
                      <a:endParaRPr lang="en-US" sz="12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9100" marR="9100" marT="6067" marB="606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200">
                          <a:effectLst/>
                        </a:rPr>
                        <a:t>Compete with Tier-1 EMS &amp; Collaborate with Tier-2 Power: Acting as a competitive local alternative for sheet metal "Box-Builds," while directly challenging Tier-2 power giants like Delta.</a:t>
                      </a:r>
                      <a:endParaRPr lang="en-US" sz="12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9100" marR="9100" marT="6067" marB="606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03237507"/>
                  </a:ext>
                </a:extLst>
              </a:tr>
              <a:tr h="1040691">
                <a:tc>
                  <a:txBody>
                    <a:bodyPr/>
                    <a:lstStyle/>
                    <a:p>
                      <a:pPr rtl="0"/>
                      <a:r>
                        <a:rPr lang="it-IT" sz="1200" dirty="0">
                          <a:effectLst/>
                        </a:rPr>
                        <a:t>3. HPE (AI Compute &amp; Edge)</a:t>
                      </a:r>
                      <a:endParaRPr lang="it-IT" sz="12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9100" marR="9100" marT="6067" marB="606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200" dirty="0">
                          <a:effectLst/>
                        </a:rPr>
                        <a:t>High-Performance Server Blocks, Custom Liquid Chassis</a:t>
                      </a:r>
                      <a:endParaRPr lang="en-US" sz="12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9100" marR="9100" marT="6067" marB="606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200">
                          <a:effectLst/>
                        </a:rPr>
                        <a:t>VVDN Technologies (Primary Local JV Partner)</a:t>
                      </a:r>
                      <a:endParaRPr lang="en-US" sz="12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9100" marR="9100" marT="6067" marB="606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200">
                          <a:effectLst/>
                        </a:rPr>
                        <a:t>Marvell, Broadcom, Micron, Lite-On (Power)</a:t>
                      </a:r>
                      <a:endParaRPr lang="en-US" sz="12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9100" marR="9100" marT="6067" marB="606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200">
                          <a:effectLst/>
                        </a:rPr>
                        <a:t>85% Domestic / 15% Export: Local lines at the Chennai plant fulfill massive domestic pipelines, with a scaling slice exported to EMEA regions.</a:t>
                      </a:r>
                      <a:endParaRPr lang="en-US" sz="12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9100" marR="9100" marT="6067" marB="606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200" dirty="0">
                          <a:effectLst/>
                        </a:rPr>
                        <a:t>Partner with Tier-1 (VVDN) &amp; Compete with Tier-2 Power: Supplying high-quality mechanical and structural stampings directly to VVDN's assembly floors to replace their imported sub-components.</a:t>
                      </a:r>
                      <a:endParaRPr lang="en-US" sz="12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9100" marR="9100" marT="6067" marB="606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16979922"/>
                  </a:ext>
                </a:extLst>
              </a:tr>
              <a:tr h="1040691">
                <a:tc>
                  <a:txBody>
                    <a:bodyPr/>
                    <a:lstStyle/>
                    <a:p>
                      <a:pPr rtl="0"/>
                      <a:r>
                        <a:rPr lang="it-IT" sz="1200">
                          <a:effectLst/>
                        </a:rPr>
                        <a:t>4. Supermicro (Dense AI Racks)</a:t>
                      </a:r>
                      <a:endParaRPr lang="it-IT" sz="12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9100" marR="9100" marT="6067" marB="606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200">
                          <a:effectLst/>
                        </a:rPr>
                        <a:t>Liquid-Cooled GPU Blocks, High-Density Power Shelves</a:t>
                      </a:r>
                      <a:endParaRPr lang="en-US" sz="12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9100" marR="9100" marT="6067" marB="606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IN" sz="1200">
                          <a:effectLst/>
                        </a:rPr>
                        <a:t>Quanta, Inventec, Compal Electronics</a:t>
                      </a:r>
                      <a:endParaRPr lang="en-IN" sz="12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9100" marR="9100" marT="6067" marB="606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IN" sz="1200">
                          <a:effectLst/>
                        </a:rPr>
                        <a:t>NVIDIA (Silicon), Richtek, Advanced Energy</a:t>
                      </a:r>
                      <a:endParaRPr lang="en-IN" sz="12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9100" marR="9100" marT="6067" marB="606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200">
                          <a:effectLst/>
                        </a:rPr>
                        <a:t>100% Domestic Consumption: Imported as fully configured hyper-dense rack arrays directly to enterprise players like Yotta.</a:t>
                      </a:r>
                      <a:endParaRPr lang="en-US" sz="12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9100" marR="9100" marT="6067" marB="606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200">
                          <a:effectLst/>
                        </a:rPr>
                        <a:t>Compete with Tier-1 Global ODMs: Targeting Indian server deployments directly by manufacturing localized structural housings that match Supermicro's rigorous thermal specifications.</a:t>
                      </a:r>
                      <a:endParaRPr lang="en-US" sz="12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9100" marR="9100" marT="6067" marB="606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1569928"/>
                  </a:ext>
                </a:extLst>
              </a:tr>
              <a:tr h="1040691">
                <a:tc>
                  <a:txBody>
                    <a:bodyPr/>
                    <a:lstStyle/>
                    <a:p>
                      <a:pPr rtl="0"/>
                      <a:r>
                        <a:rPr lang="en-US" sz="1200">
                          <a:effectLst/>
                        </a:rPr>
                        <a:t>5. Vertiv (Liquid Cooling &amp; Power)</a:t>
                      </a:r>
                      <a:endParaRPr lang="en-US" sz="12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9100" marR="9100" marT="6067" marB="606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fr-FR" sz="1200">
                          <a:effectLst/>
                        </a:rPr>
                        <a:t>Coolant Distribution Units (CDU), Liquid Manifolds, iPDUs</a:t>
                      </a:r>
                      <a:endParaRPr lang="fr-FR" sz="12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9100" marR="9100" marT="6067" marB="606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200">
                          <a:effectLst/>
                        </a:rPr>
                        <a:t>Self-Manufactured via massive local Indian factories</a:t>
                      </a:r>
                      <a:endParaRPr lang="en-US" sz="12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9100" marR="9100" marT="6067" marB="606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IN" sz="1200">
                          <a:effectLst/>
                        </a:rPr>
                        <a:t>Danfoss (Valves), EBM-Papst (Fans), Boyds (Thermal)</a:t>
                      </a:r>
                      <a:endParaRPr lang="en-IN" sz="12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9100" marR="9100" marT="6067" marB="606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200" dirty="0">
                          <a:effectLst/>
                        </a:rPr>
                        <a:t>~75% Domestic / 25% Export: India acts as a major global engineering hub for </a:t>
                      </a:r>
                      <a:r>
                        <a:rPr lang="en-US" sz="1200" dirty="0" err="1">
                          <a:effectLst/>
                        </a:rPr>
                        <a:t>Vertiv</a:t>
                      </a:r>
                      <a:r>
                        <a:rPr lang="en-US" sz="1200" dirty="0">
                          <a:effectLst/>
                        </a:rPr>
                        <a:t>; heavily exporting thermal arrays across APAC and the Middle East.</a:t>
                      </a:r>
                      <a:endParaRPr lang="en-US" sz="12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9100" marR="9100" marT="6067" marB="606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200" dirty="0">
                          <a:effectLst/>
                        </a:rPr>
                        <a:t>Compete with Tier-2 Component Suppliers: Bypassing global thermal parts suppliers by offering precision localized manufacturing for </a:t>
                      </a:r>
                      <a:r>
                        <a:rPr lang="en-US" sz="1200" dirty="0" err="1">
                          <a:effectLst/>
                        </a:rPr>
                        <a:t>Vertiv's</a:t>
                      </a:r>
                      <a:r>
                        <a:rPr lang="en-US" sz="1200" dirty="0">
                          <a:effectLst/>
                        </a:rPr>
                        <a:t> local assembly lines.</a:t>
                      </a:r>
                      <a:endParaRPr lang="en-US" sz="12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9100" marR="9100" marT="6067" marB="606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6372837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9536496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F41AE894-6342-446C-99D8-52046AF5F3F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619898443"/>
              </p:ext>
            </p:extLst>
          </p:nvPr>
        </p:nvGraphicFramePr>
        <p:xfrm>
          <a:off x="318053" y="715618"/>
          <a:ext cx="11555894" cy="5599464"/>
        </p:xfrm>
        <a:graphic>
          <a:graphicData uri="http://schemas.openxmlformats.org/drawingml/2006/table">
            <a:tbl>
              <a:tblPr>
                <a:tableStyleId>{D113A9D2-9D6B-4929-AA2D-F23B5EE8CBE7}</a:tableStyleId>
              </a:tblPr>
              <a:tblGrid>
                <a:gridCol w="1391478">
                  <a:extLst>
                    <a:ext uri="{9D8B030D-6E8A-4147-A177-3AD203B41FA5}">
                      <a16:colId xmlns:a16="http://schemas.microsoft.com/office/drawing/2014/main" val="1493048455"/>
                    </a:ext>
                  </a:extLst>
                </a:gridCol>
                <a:gridCol w="1510748">
                  <a:extLst>
                    <a:ext uri="{9D8B030D-6E8A-4147-A177-3AD203B41FA5}">
                      <a16:colId xmlns:a16="http://schemas.microsoft.com/office/drawing/2014/main" val="2231134262"/>
                    </a:ext>
                  </a:extLst>
                </a:gridCol>
                <a:gridCol w="1696278">
                  <a:extLst>
                    <a:ext uri="{9D8B030D-6E8A-4147-A177-3AD203B41FA5}">
                      <a16:colId xmlns:a16="http://schemas.microsoft.com/office/drawing/2014/main" val="3309966337"/>
                    </a:ext>
                  </a:extLst>
                </a:gridCol>
                <a:gridCol w="1643270">
                  <a:extLst>
                    <a:ext uri="{9D8B030D-6E8A-4147-A177-3AD203B41FA5}">
                      <a16:colId xmlns:a16="http://schemas.microsoft.com/office/drawing/2014/main" val="1873847589"/>
                    </a:ext>
                  </a:extLst>
                </a:gridCol>
                <a:gridCol w="1590261">
                  <a:extLst>
                    <a:ext uri="{9D8B030D-6E8A-4147-A177-3AD203B41FA5}">
                      <a16:colId xmlns:a16="http://schemas.microsoft.com/office/drawing/2014/main" val="3091265034"/>
                    </a:ext>
                  </a:extLst>
                </a:gridCol>
                <a:gridCol w="2073017">
                  <a:extLst>
                    <a:ext uri="{9D8B030D-6E8A-4147-A177-3AD203B41FA5}">
                      <a16:colId xmlns:a16="http://schemas.microsoft.com/office/drawing/2014/main" val="565817256"/>
                    </a:ext>
                  </a:extLst>
                </a:gridCol>
                <a:gridCol w="1650842">
                  <a:extLst>
                    <a:ext uri="{9D8B030D-6E8A-4147-A177-3AD203B41FA5}">
                      <a16:colId xmlns:a16="http://schemas.microsoft.com/office/drawing/2014/main" val="3553804124"/>
                    </a:ext>
                  </a:extLst>
                </a:gridCol>
              </a:tblGrid>
              <a:tr h="686690">
                <a:tc>
                  <a:txBody>
                    <a:bodyPr/>
                    <a:lstStyle/>
                    <a:p>
                      <a:pPr rtl="0"/>
                      <a:r>
                        <a:rPr lang="en-US" sz="1400" dirty="0">
                          <a:effectLst/>
                        </a:rPr>
                        <a:t>6. Schneider Electric (Grid &amp; Cooling)</a:t>
                      </a:r>
                      <a:endParaRPr lang="en-US" sz="14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3027" marR="13027" marT="8684" marB="86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IN" sz="1400">
                          <a:effectLst/>
                        </a:rPr>
                        <a:t>Intelligent Power Cabinets, Modular Medium-Voltage UPS</a:t>
                      </a:r>
                      <a:endParaRPr lang="en-IN" sz="14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3027" marR="13027" marT="8684" marB="86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400">
                          <a:effectLst/>
                        </a:rPr>
                        <a:t>Self-Manufactured via expanded domestic smart-factories</a:t>
                      </a:r>
                      <a:endParaRPr lang="en-US" sz="14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3027" marR="13027" marT="8684" marB="86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IN" sz="1400">
                          <a:effectLst/>
                        </a:rPr>
                        <a:t>Infineon (IGBTs), ABB components, local copper mines</a:t>
                      </a:r>
                      <a:endParaRPr lang="en-IN" sz="14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3027" marR="13027" marT="8684" marB="86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400">
                          <a:effectLst/>
                        </a:rPr>
                        <a:t>~70% Domestic / 30% Export: Massive domestic infrastructure usage, while actively exporting medium-voltage control panels globally.</a:t>
                      </a:r>
                      <a:endParaRPr lang="en-US" sz="14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3027" marR="13027" marT="8684" marB="86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400">
                          <a:effectLst/>
                        </a:rPr>
                        <a:t>Compete with Tier-2 Mechanical Providers: Positioning Salcomp as the premier domestic choice for complex sheet metal work, challenging legacy industrial component stampers.</a:t>
                      </a:r>
                      <a:endParaRPr lang="en-US" sz="14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3027" marR="13027" marT="8684" marB="86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400">
                          <a:effectLst/>
                        </a:rPr>
                        <a:t>Solid-state power electronics sub-assemblies, complex structural control cabinets, and heavy-duty busway pathways.</a:t>
                      </a:r>
                      <a:endParaRPr lang="en-US" sz="14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3027" marR="13027" marT="8684" marB="86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41236794"/>
                  </a:ext>
                </a:extLst>
              </a:tr>
              <a:tr h="653283">
                <a:tc>
                  <a:txBody>
                    <a:bodyPr/>
                    <a:lstStyle/>
                    <a:p>
                      <a:pPr rtl="0"/>
                      <a:r>
                        <a:rPr lang="en-IN" sz="1400">
                          <a:effectLst/>
                        </a:rPr>
                        <a:t>7. Eaton (UPS Power)</a:t>
                      </a:r>
                      <a:endParaRPr lang="en-IN" sz="14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3027" marR="13027" marT="8684" marB="86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400">
                          <a:effectLst/>
                        </a:rPr>
                        <a:t>Common Redundant Power Supplies (CRPS), Flywheel UPS</a:t>
                      </a:r>
                      <a:endParaRPr lang="en-US" sz="14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3027" marR="13027" marT="8684" marB="86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IN" sz="1400">
                          <a:effectLst/>
                        </a:rPr>
                        <a:t>Self-Manufactured &amp; local sub-contractors</a:t>
                      </a:r>
                      <a:endParaRPr lang="en-IN" sz="14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3027" marR="13027" marT="8684" marB="86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IN" sz="1400">
                          <a:effectLst/>
                        </a:rPr>
                        <a:t>Murata, TDK (Magnetics), STMicroelectronics</a:t>
                      </a:r>
                      <a:endParaRPr lang="en-IN" sz="14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3027" marR="13027" marT="8684" marB="86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400">
                          <a:effectLst/>
                        </a:rPr>
                        <a:t>~80% Domestic / 20% Export: Anchored heavily inside regional bank data centers, with minor component re-exports.</a:t>
                      </a:r>
                      <a:endParaRPr lang="en-US" sz="14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3027" marR="13027" marT="8684" marB="86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400">
                          <a:effectLst/>
                        </a:rPr>
                        <a:t>Directly Compete with Tier-2 Power Competitors: Directly challenging global power electronic manufacturers by pitching Salcomp's specialized high-wattage CRPS models.</a:t>
                      </a:r>
                      <a:endParaRPr lang="en-US" sz="14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3027" marR="13027" marT="8684" marB="86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400">
                          <a:effectLst/>
                        </a:rPr>
                        <a:t>Precision Common Redundant Power Supply (CRPS) line builds, magnetic transformer component winding, and localized casing stamping.</a:t>
                      </a:r>
                      <a:endParaRPr lang="en-US" sz="14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3027" marR="13027" marT="8684" marB="86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00493895"/>
                  </a:ext>
                </a:extLst>
              </a:tr>
              <a:tr h="586470">
                <a:tc>
                  <a:txBody>
                    <a:bodyPr/>
                    <a:lstStyle/>
                    <a:p>
                      <a:pPr rtl="0"/>
                      <a:r>
                        <a:rPr lang="en-US" sz="1400">
                          <a:effectLst/>
                        </a:rPr>
                        <a:t>8. Cisco Systems (AI Fabrics)</a:t>
                      </a:r>
                      <a:endParaRPr lang="en-US" sz="14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3027" marR="13027" marT="8684" marB="86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400">
                          <a:effectLst/>
                        </a:rPr>
                        <a:t>800G Ethernet High-Speed Switches, Network Fabrics</a:t>
                      </a:r>
                      <a:endParaRPr lang="en-US" sz="14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3027" marR="13027" marT="8684" marB="86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IN" sz="1400">
                          <a:effectLst/>
                        </a:rPr>
                        <a:t>Jabil India, Foxconn India</a:t>
                      </a:r>
                      <a:endParaRPr lang="en-IN" sz="14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3027" marR="13027" marT="8684" marB="86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IN" sz="1400">
                          <a:effectLst/>
                        </a:rPr>
                        <a:t>Broadcom (Tomahawk Silicon), Macom, Finisar</a:t>
                      </a:r>
                      <a:endParaRPr lang="en-IN" sz="14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3027" marR="13027" marT="8684" marB="86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IN" sz="1400">
                          <a:effectLst/>
                        </a:rPr>
                        <a:t>~95% Domestic / 5% Export: Essential for linking local multi-gigawatt GPU farms; negligible export.</a:t>
                      </a:r>
                      <a:endParaRPr lang="en-IN" sz="14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3027" marR="13027" marT="8684" marB="86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400">
                          <a:effectLst/>
                        </a:rPr>
                        <a:t>Partner with Tier-1 EMS (Jabil/Foxconn): Supplying high-end internal sub-modules directly to Cisco's Tier-1 contract manufacturers on Indian soil.</a:t>
                      </a:r>
                      <a:endParaRPr lang="en-US" sz="14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3027" marR="13027" marT="8684" marB="86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400" dirty="0">
                          <a:effectLst/>
                        </a:rPr>
                        <a:t>Complex network interface card (NIC) shielding housings, high-efficiency internal power converters, and sheet-metal switch casings.</a:t>
                      </a:r>
                      <a:endParaRPr lang="en-US" sz="14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3027" marR="13027" marT="8684" marB="86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7706186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7389672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F9E965-E869-485A-8CAC-812EBF8177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800" y="107275"/>
            <a:ext cx="9914351" cy="581838"/>
          </a:xfrm>
        </p:spPr>
        <p:txBody>
          <a:bodyPr>
            <a:normAutofit fontScale="90000"/>
          </a:bodyPr>
          <a:lstStyle/>
          <a:p>
            <a:r>
              <a:rPr lang="en-US" sz="3100" dirty="0">
                <a:latin typeface="Poppins" panose="02000000000000000000" pitchFamily="2" charset="0"/>
                <a:ea typeface="PMingLiU" panose="02020500000000000000" pitchFamily="18" charset="-120"/>
                <a:cs typeface="Calibri" panose="020F0502020204030204" pitchFamily="34" charset="0"/>
              </a:rPr>
              <a:t>AI Infra | Core manufacturers vs what they make ( India focus )</a:t>
            </a:r>
            <a:br>
              <a:rPr lang="en-US" dirty="0">
                <a:latin typeface="Poppins" panose="02000000000000000000" pitchFamily="2" charset="0"/>
                <a:ea typeface="PMingLiU" panose="02020500000000000000" pitchFamily="18" charset="-120"/>
                <a:cs typeface="Calibri" panose="020F0502020204030204" pitchFamily="34" charset="0"/>
              </a:rPr>
            </a:br>
            <a:endParaRPr lang="en-IN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0E370064-3CA9-487F-8C14-5C754F82DB7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384135633"/>
              </p:ext>
            </p:extLst>
          </p:nvPr>
        </p:nvGraphicFramePr>
        <p:xfrm>
          <a:off x="364434" y="872455"/>
          <a:ext cx="11463132" cy="5878270"/>
        </p:xfrm>
        <a:graphic>
          <a:graphicData uri="http://schemas.openxmlformats.org/drawingml/2006/table">
            <a:tbl>
              <a:tblPr>
                <a:tableStyleId>{D113A9D2-9D6B-4929-AA2D-F23B5EE8CBE7}</a:tableStyleId>
              </a:tblPr>
              <a:tblGrid>
                <a:gridCol w="1378226">
                  <a:extLst>
                    <a:ext uri="{9D8B030D-6E8A-4147-A177-3AD203B41FA5}">
                      <a16:colId xmlns:a16="http://schemas.microsoft.com/office/drawing/2014/main" val="1441145868"/>
                    </a:ext>
                  </a:extLst>
                </a:gridCol>
                <a:gridCol w="3498574">
                  <a:extLst>
                    <a:ext uri="{9D8B030D-6E8A-4147-A177-3AD203B41FA5}">
                      <a16:colId xmlns:a16="http://schemas.microsoft.com/office/drawing/2014/main" val="2556710319"/>
                    </a:ext>
                  </a:extLst>
                </a:gridCol>
                <a:gridCol w="3472069">
                  <a:extLst>
                    <a:ext uri="{9D8B030D-6E8A-4147-A177-3AD203B41FA5}">
                      <a16:colId xmlns:a16="http://schemas.microsoft.com/office/drawing/2014/main" val="3485762666"/>
                    </a:ext>
                  </a:extLst>
                </a:gridCol>
                <a:gridCol w="3114263">
                  <a:extLst>
                    <a:ext uri="{9D8B030D-6E8A-4147-A177-3AD203B41FA5}">
                      <a16:colId xmlns:a16="http://schemas.microsoft.com/office/drawing/2014/main" val="1050170784"/>
                    </a:ext>
                  </a:extLst>
                </a:gridCol>
              </a:tblGrid>
              <a:tr h="339649">
                <a:tc>
                  <a:txBody>
                    <a:bodyPr/>
                    <a:lstStyle/>
                    <a:p>
                      <a:pPr rtl="0"/>
                      <a:r>
                        <a:rPr lang="en-IN" sz="1100">
                          <a:effectLst/>
                        </a:rPr>
                        <a:t>Core Infrastructure Manufacturer</a:t>
                      </a:r>
                      <a:endParaRPr lang="en-IN" sz="11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8401" marR="18401" marT="12267" marB="1226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100">
                          <a:effectLst/>
                        </a:rPr>
                        <a:t>What They Manufacture for AI Infrastructure</a:t>
                      </a:r>
                      <a:endParaRPr lang="en-US" sz="11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8401" marR="18401" marT="12267" marB="1226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IN" sz="1100">
                          <a:effectLst/>
                        </a:rPr>
                        <a:t>Global / India Market Trend</a:t>
                      </a:r>
                      <a:endParaRPr lang="en-IN" sz="11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8401" marR="18401" marT="12267" marB="1226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100" dirty="0">
                          <a:effectLst/>
                        </a:rPr>
                        <a:t>Matching High-Growth Product Area in Local Manufacturing Portfolio</a:t>
                      </a:r>
                      <a:endParaRPr lang="en-US" sz="11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8401" marR="18401" marT="12267" marB="1226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31142361"/>
                  </a:ext>
                </a:extLst>
              </a:tr>
              <a:tr h="581144">
                <a:tc>
                  <a:txBody>
                    <a:bodyPr/>
                    <a:lstStyle/>
                    <a:p>
                      <a:pPr rtl="0"/>
                      <a:r>
                        <a:rPr lang="en-IN" sz="1100">
                          <a:effectLst/>
                        </a:rPr>
                        <a:t>Vertiv</a:t>
                      </a:r>
                      <a:endParaRPr lang="en-IN" sz="11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8401" marR="18401" marT="12267" marB="1226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100">
                          <a:effectLst/>
                        </a:rPr>
                        <a:t>Hyperscale power architectures, dense busways, Coolant Distribution Units (CDUs), and localized manifold blocks.</a:t>
                      </a:r>
                      <a:endParaRPr lang="en-US" sz="11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8401" marR="18401" marT="12267" marB="1226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100">
                          <a:effectLst/>
                        </a:rPr>
                        <a:t>Explosive Expansion: Operating massive factories in India; aggressively scaling production of liquid-cooling loops to meet multi-gigawatt pipelines.</a:t>
                      </a:r>
                      <a:endParaRPr lang="en-US" sz="11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8401" marR="18401" marT="12267" marB="1226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100">
                          <a:effectLst/>
                        </a:rPr>
                        <a:t>CCU (Close Control Unit) engineering, high-efficiency cold-plate assemblies, and modular integrated rack-cooling chassis.</a:t>
                      </a:r>
                      <a:endParaRPr lang="en-US" sz="11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8401" marR="18401" marT="12267" marB="1226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5230759"/>
                  </a:ext>
                </a:extLst>
              </a:tr>
              <a:tr h="497895">
                <a:tc>
                  <a:txBody>
                    <a:bodyPr/>
                    <a:lstStyle/>
                    <a:p>
                      <a:pPr rtl="0"/>
                      <a:r>
                        <a:rPr lang="en-IN" sz="1100">
                          <a:effectLst/>
                        </a:rPr>
                        <a:t>Eaton</a:t>
                      </a:r>
                      <a:endParaRPr lang="en-IN" sz="11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8401" marR="18401" marT="12267" marB="1226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100">
                          <a:effectLst/>
                        </a:rPr>
                        <a:t>High-density rack PDUs, busway connectors, heavy-duty power modules, and intelligent hot-swappable power inputs.</a:t>
                      </a:r>
                      <a:endParaRPr lang="en-US" sz="11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8401" marR="18401" marT="12267" marB="1226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100">
                          <a:effectLst/>
                        </a:rPr>
                        <a:t>High Growth: Scaling local production facilities to supply critical power blocks to Tier-4 banking and corporate clouds.</a:t>
                      </a:r>
                      <a:endParaRPr lang="en-US" sz="11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8401" marR="18401" marT="12267" marB="1226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100">
                          <a:effectLst/>
                        </a:rPr>
                        <a:t>Intelligent PDU output sockets, heavy-gauge copper input connector sets, and solid-state power switches.</a:t>
                      </a:r>
                      <a:endParaRPr lang="en-US" sz="11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8401" marR="18401" marT="12267" marB="1226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62941108"/>
                  </a:ext>
                </a:extLst>
              </a:tr>
              <a:tr h="581144">
                <a:tc>
                  <a:txBody>
                    <a:bodyPr/>
                    <a:lstStyle/>
                    <a:p>
                      <a:pPr rtl="0"/>
                      <a:r>
                        <a:rPr lang="en-IN" sz="1100">
                          <a:effectLst/>
                        </a:rPr>
                        <a:t>Inficon (India EMS / Specialized EMS)</a:t>
                      </a:r>
                      <a:endParaRPr lang="en-IN" sz="11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8401" marR="18401" marT="12267" marB="1226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100">
                          <a:effectLst/>
                        </a:rPr>
                        <a:t>Complex PCB assembly (PCBA), embedded controller architectures, system monitoring firmware, and structural signal diagnostics.</a:t>
                      </a:r>
                      <a:endParaRPr lang="en-US" sz="11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8401" marR="18401" marT="12267" marB="1226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100">
                          <a:effectLst/>
                        </a:rPr>
                        <a:t>Steady Technical Rise: Increasing complexity of internal controller logic to track real-time liquid flow, pressure, and thermal loads.</a:t>
                      </a:r>
                      <a:endParaRPr lang="en-US" sz="11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8401" marR="18401" marT="12267" marB="1226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100">
                          <a:effectLst/>
                        </a:rPr>
                        <a:t>High-reliability Intelligent PDU controllers, multi-layer CCU control boards, and micro-controller assembly lines.</a:t>
                      </a:r>
                      <a:endParaRPr lang="en-US" sz="11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8401" marR="18401" marT="12267" marB="1226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90596676"/>
                  </a:ext>
                </a:extLst>
              </a:tr>
              <a:tr h="581144">
                <a:tc>
                  <a:txBody>
                    <a:bodyPr/>
                    <a:lstStyle/>
                    <a:p>
                      <a:pPr rtl="0"/>
                      <a:r>
                        <a:rPr lang="en-IN" sz="1100">
                          <a:effectLst/>
                        </a:rPr>
                        <a:t>Flex / Major Global EMS</a:t>
                      </a:r>
                      <a:endParaRPr lang="en-IN" sz="11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8401" marR="18401" marT="12267" marB="1226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100">
                          <a:effectLst/>
                        </a:rPr>
                        <a:t>Full turnkey box-builds, mechatronics integration, power shelves, and complex fluid-handling chassis builds.</a:t>
                      </a:r>
                      <a:endParaRPr lang="en-US" sz="11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8401" marR="18401" marT="12267" marB="1226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100">
                          <a:effectLst/>
                        </a:rPr>
                        <a:t>Consolidating Power: Acting as the primary outsourced assembly backbone for massive global infrastructure brands on Indian soil.</a:t>
                      </a:r>
                      <a:endParaRPr lang="en-US" sz="11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8401" marR="18401" marT="12267" marB="1226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100">
                          <a:effectLst/>
                        </a:rPr>
                        <a:t>Turnkey backup electronics assembly for PDUs/CCUs; high-tolerance structural liquid-cooling sub-chassis frames.</a:t>
                      </a:r>
                      <a:endParaRPr lang="en-US" sz="11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8401" marR="18401" marT="12267" marB="1226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28676822"/>
                  </a:ext>
                </a:extLst>
              </a:tr>
              <a:tr h="656140">
                <a:tc>
                  <a:txBody>
                    <a:bodyPr/>
                    <a:lstStyle/>
                    <a:p>
                      <a:pPr rtl="0"/>
                      <a:r>
                        <a:rPr lang="en-IN" sz="1100">
                          <a:effectLst/>
                        </a:rPr>
                        <a:t>Grundfos</a:t>
                      </a:r>
                      <a:endParaRPr lang="en-IN" sz="11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8401" marR="18401" marT="12267" marB="1226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100" dirty="0">
                          <a:effectLst/>
                        </a:rPr>
                        <a:t>High-reliability fluid circulation pumps and dedicated pump-motor blocks designed for continuous data-center cooling loops.</a:t>
                      </a:r>
                      <a:endParaRPr lang="en-US" sz="11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8401" marR="18401" marT="12267" marB="1226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100">
                          <a:effectLst/>
                        </a:rPr>
                        <a:t>Critical Demand: Shifting from standard HVAC infrastructure to manufacturing precision variable-speed pumps for localized liquid-cooling manifolds.</a:t>
                      </a:r>
                      <a:endParaRPr lang="en-US" sz="11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8401" marR="18401" marT="12267" marB="1226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100">
                          <a:effectLst/>
                        </a:rPr>
                        <a:t>High-pressure, leak-free CCU coolant circulation pump components and variable-frequency drive (VFD) enclosures.</a:t>
                      </a:r>
                      <a:endParaRPr lang="en-US" sz="11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8401" marR="18401" marT="12267" marB="1226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39095359"/>
                  </a:ext>
                </a:extLst>
              </a:tr>
              <a:tr h="656140">
                <a:tc>
                  <a:txBody>
                    <a:bodyPr/>
                    <a:lstStyle/>
                    <a:p>
                      <a:pPr rtl="0"/>
                      <a:r>
                        <a:rPr lang="en-IN" sz="1100">
                          <a:effectLst/>
                        </a:rPr>
                        <a:t>Modine / Boyd Corporation</a:t>
                      </a:r>
                      <a:endParaRPr lang="en-IN" sz="11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8401" marR="18401" marT="12267" marB="1226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100">
                          <a:effectLst/>
                        </a:rPr>
                        <a:t>Liquid-to-Air/Liquid-to-Liquid plate-frame and tube-fin heat exchangers, micro-channel cold plates, and vapor chambers.</a:t>
                      </a:r>
                      <a:endParaRPr lang="en-US" sz="11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8401" marR="18401" marT="12267" marB="1226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100">
                          <a:effectLst/>
                        </a:rPr>
                        <a:t>High Density Supercycle: Traditional heat sinks are obsolete. Demand for micro-machined copper cold plates and rear-door heat exchangers (RDHx) has surged.</a:t>
                      </a:r>
                      <a:endParaRPr lang="en-US" sz="11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8401" marR="18401" marT="12267" marB="1226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100">
                          <a:effectLst/>
                        </a:rPr>
                        <a:t>Cold plate core machining, complex vapor chamber stamping, and multi-tier radiator structural frames.</a:t>
                      </a:r>
                      <a:endParaRPr lang="en-US" sz="11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8401" marR="18401" marT="12267" marB="1226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73311697"/>
                  </a:ext>
                </a:extLst>
              </a:tr>
              <a:tr h="581144">
                <a:tc>
                  <a:txBody>
                    <a:bodyPr/>
                    <a:lstStyle/>
                    <a:p>
                      <a:pPr rtl="0"/>
                      <a:r>
                        <a:rPr lang="en-IN" sz="1100">
                          <a:effectLst/>
                        </a:rPr>
                        <a:t>Submer</a:t>
                      </a:r>
                      <a:endParaRPr lang="en-IN" sz="11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8401" marR="18401" marT="12267" marB="1226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100">
                          <a:effectLst/>
                        </a:rPr>
                        <a:t>Modular liquid immersion cooling tanks and proprietary eco-friendly dielectric fluids for heavy multi-megawatt AI farms.</a:t>
                      </a:r>
                      <a:endParaRPr lang="en-US" sz="11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8401" marR="18401" marT="12267" marB="1226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100">
                          <a:effectLst/>
                        </a:rPr>
                        <a:t>Niche to Mainstream: Shifting from experimental pilots to active deployments in dedicated "AI Factories" (such as RackBank's Raipur campus).</a:t>
                      </a:r>
                      <a:endParaRPr lang="en-US" sz="11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8401" marR="18401" marT="12267" marB="1226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100">
                          <a:effectLst/>
                        </a:rPr>
                        <a:t>Heavy-gauge steel Phase-3 liquid immersion tanks, custom fluid sealing gaskets, and busbar isolation panels.</a:t>
                      </a:r>
                      <a:endParaRPr lang="en-US" sz="11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8401" marR="18401" marT="12267" marB="1226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55853657"/>
                  </a:ext>
                </a:extLst>
              </a:tr>
              <a:tr h="581144">
                <a:tc>
                  <a:txBody>
                    <a:bodyPr/>
                    <a:lstStyle/>
                    <a:p>
                      <a:pPr rtl="0"/>
                      <a:r>
                        <a:rPr lang="en-IN" sz="1100">
                          <a:effectLst/>
                        </a:rPr>
                        <a:t>Honeywell / ABB</a:t>
                      </a:r>
                      <a:endParaRPr lang="en-IN" sz="11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8401" marR="18401" marT="12267" marB="1226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100" dirty="0">
                          <a:effectLst/>
                        </a:rPr>
                        <a:t>Industrial-grade IoT smart sensors, flow meters, differential pressure gauges, and automated digital controls.</a:t>
                      </a:r>
                      <a:endParaRPr lang="en-US" sz="11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8401" marR="18401" marT="12267" marB="1226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100">
                          <a:effectLst/>
                        </a:rPr>
                        <a:t>Hyper-Automation: AI facilities require strict, millisecond-level telemetry monitoring to instantly detect micro-leaks or localized thermal spikes.</a:t>
                      </a:r>
                      <a:endParaRPr lang="en-US" sz="11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8401" marR="18401" marT="12267" marB="1226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100">
                          <a:effectLst/>
                        </a:rPr>
                        <a:t>High-precision digital temperature, pressure, and fluid-flow sensor sub-assemblies integrated into PDUs and tanks.</a:t>
                      </a:r>
                      <a:endParaRPr lang="en-US" sz="11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8401" marR="18401" marT="12267" marB="1226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07767148"/>
                  </a:ext>
                </a:extLst>
              </a:tr>
              <a:tr h="656140">
                <a:tc>
                  <a:txBody>
                    <a:bodyPr/>
                    <a:lstStyle/>
                    <a:p>
                      <a:pPr rtl="0"/>
                      <a:r>
                        <a:rPr lang="en-IN" sz="1100">
                          <a:effectLst/>
                        </a:rPr>
                        <a:t>Parker Hannifin / Danfoss</a:t>
                      </a:r>
                      <a:endParaRPr lang="en-IN" sz="11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8401" marR="18401" marT="12267" marB="1226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100">
                          <a:effectLst/>
                        </a:rPr>
                        <a:t>High-performance fluid-handling components: ultra-reliable braided hoses, quick-disconnect (QD) couplings, and control valves.</a:t>
                      </a:r>
                      <a:endParaRPr lang="en-US" sz="11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8401" marR="18401" marT="12267" marB="1226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100">
                          <a:effectLst/>
                        </a:rPr>
                        <a:t>Zero-Tolerance Quality Play: Quick-disconnect couplings must be completely drip-free to prevent fluid from destroying adjacent high-value GPU silicon.</a:t>
                      </a:r>
                      <a:endParaRPr lang="en-US" sz="11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8401" marR="18401" marT="12267" marB="1226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100" dirty="0">
                          <a:effectLst/>
                        </a:rPr>
                        <a:t>High-precision CNC-machined CCU hydraulic loop fittings, quick-disconnect internal valves, and distribution manifold joints.</a:t>
                      </a:r>
                      <a:endParaRPr lang="en-US" sz="11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8401" marR="18401" marT="12267" marB="1226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533394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2232898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88EA33D-9825-42FD-BBBA-0202B491EDA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3889" y="159025"/>
            <a:ext cx="10915990" cy="6162261"/>
          </a:xfrm>
        </p:spPr>
      </p:pic>
    </p:spTree>
    <p:extLst>
      <p:ext uri="{BB962C8B-B14F-4D97-AF65-F5344CB8AC3E}">
        <p14:creationId xmlns:p14="http://schemas.microsoft.com/office/powerpoint/2010/main" val="379415956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4FB955-3D1C-49D1-A843-A4B69238AE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9081" y="0"/>
            <a:ext cx="8911687" cy="608342"/>
          </a:xfrm>
        </p:spPr>
        <p:txBody>
          <a:bodyPr>
            <a:normAutofit fontScale="90000"/>
          </a:bodyPr>
          <a:lstStyle/>
          <a:p>
            <a:r>
              <a:rPr lang="en-US" sz="2800" dirty="0">
                <a:latin typeface="Poppins" panose="02000000000000000000" pitchFamily="2" charset="0"/>
                <a:ea typeface="PMingLiU" panose="02020500000000000000" pitchFamily="18" charset="-120"/>
                <a:cs typeface="Calibri" panose="020F0502020204030204" pitchFamily="34" charset="0"/>
              </a:rPr>
              <a:t>AI Infra | India Summits &amp; Exhibition (2026) </a:t>
            </a:r>
            <a:br>
              <a:rPr lang="en-US" sz="2800" dirty="0">
                <a:latin typeface="Poppins" panose="02000000000000000000" pitchFamily="2" charset="0"/>
                <a:ea typeface="PMingLiU" panose="02020500000000000000" pitchFamily="18" charset="-120"/>
                <a:cs typeface="Calibri" panose="020F0502020204030204" pitchFamily="34" charset="0"/>
                <a:sym typeface="SF Hello Thin"/>
              </a:rPr>
            </a:br>
            <a:endParaRPr lang="en-IN" sz="2800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DF800E49-FF18-4A84-B07F-C457C2BB621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860823690"/>
              </p:ext>
            </p:extLst>
          </p:nvPr>
        </p:nvGraphicFramePr>
        <p:xfrm>
          <a:off x="499081" y="939646"/>
          <a:ext cx="11343859" cy="5663094"/>
        </p:xfrm>
        <a:graphic>
          <a:graphicData uri="http://schemas.openxmlformats.org/drawingml/2006/table">
            <a:tbl>
              <a:tblPr>
                <a:tableStyleId>{D113A9D2-9D6B-4929-AA2D-F23B5EE8CBE7}</a:tableStyleId>
              </a:tblPr>
              <a:tblGrid>
                <a:gridCol w="1967431">
                  <a:extLst>
                    <a:ext uri="{9D8B030D-6E8A-4147-A177-3AD203B41FA5}">
                      <a16:colId xmlns:a16="http://schemas.microsoft.com/office/drawing/2014/main" val="2215721026"/>
                    </a:ext>
                  </a:extLst>
                </a:gridCol>
                <a:gridCol w="1145593">
                  <a:extLst>
                    <a:ext uri="{9D8B030D-6E8A-4147-A177-3AD203B41FA5}">
                      <a16:colId xmlns:a16="http://schemas.microsoft.com/office/drawing/2014/main" val="2943511418"/>
                    </a:ext>
                  </a:extLst>
                </a:gridCol>
                <a:gridCol w="1232758">
                  <a:extLst>
                    <a:ext uri="{9D8B030D-6E8A-4147-A177-3AD203B41FA5}">
                      <a16:colId xmlns:a16="http://schemas.microsoft.com/office/drawing/2014/main" val="2826289992"/>
                    </a:ext>
                  </a:extLst>
                </a:gridCol>
                <a:gridCol w="4731957">
                  <a:extLst>
                    <a:ext uri="{9D8B030D-6E8A-4147-A177-3AD203B41FA5}">
                      <a16:colId xmlns:a16="http://schemas.microsoft.com/office/drawing/2014/main" val="22096472"/>
                    </a:ext>
                  </a:extLst>
                </a:gridCol>
                <a:gridCol w="2266120">
                  <a:extLst>
                    <a:ext uri="{9D8B030D-6E8A-4147-A177-3AD203B41FA5}">
                      <a16:colId xmlns:a16="http://schemas.microsoft.com/office/drawing/2014/main" val="3406800729"/>
                    </a:ext>
                  </a:extLst>
                </a:gridCol>
              </a:tblGrid>
              <a:tr h="527848">
                <a:tc>
                  <a:txBody>
                    <a:bodyPr/>
                    <a:lstStyle/>
                    <a:p>
                      <a:pPr rtl="0"/>
                      <a:r>
                        <a:rPr lang="en-IN" sz="1200">
                          <a:effectLst/>
                        </a:rPr>
                        <a:t>Event Name</a:t>
                      </a:r>
                      <a:endParaRPr lang="en-IN" sz="12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6591" marR="16591" marT="11060" marB="110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IN" sz="1200">
                          <a:effectLst/>
                        </a:rPr>
                        <a:t>Exact / Projected Timeline</a:t>
                      </a:r>
                      <a:endParaRPr lang="en-IN" sz="12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6591" marR="16591" marT="11060" marB="110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IN" sz="1200">
                          <a:effectLst/>
                        </a:rPr>
                        <a:t>Location &amp; Host Venue</a:t>
                      </a:r>
                      <a:endParaRPr lang="en-IN" sz="12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6591" marR="16591" marT="11060" marB="110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200" dirty="0">
                          <a:effectLst/>
                        </a:rPr>
                        <a:t>Primary Strategic Focus &amp; Tech Shift</a:t>
                      </a:r>
                      <a:endParaRPr lang="en-US" sz="12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6591" marR="16591" marT="11060" marB="110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en-US" sz="1400" dirty="0">
                          <a:solidFill>
                            <a:schemeClr val="bg1"/>
                          </a:solidFill>
                          <a:effectLst/>
                          <a:latin typeface="Google Sans Text"/>
                        </a:rPr>
                        <a:t> Weblinks</a:t>
                      </a:r>
                    </a:p>
                  </a:txBody>
                  <a:tcPr marL="16591" marR="16591" marT="11060" marB="110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98083083"/>
                  </a:ext>
                </a:extLst>
              </a:tr>
              <a:tr h="856504">
                <a:tc>
                  <a:txBody>
                    <a:bodyPr/>
                    <a:lstStyle/>
                    <a:p>
                      <a:pPr rtl="0"/>
                      <a:r>
                        <a:rPr lang="en-IN" sz="1200">
                          <a:effectLst/>
                        </a:rPr>
                        <a:t>3rd Annual Data Centre Conclave 2026 (Nexgen)</a:t>
                      </a:r>
                      <a:endParaRPr lang="en-IN" sz="12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6591" marR="16591" marT="11060" marB="110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IN" sz="1200">
                          <a:effectLst/>
                        </a:rPr>
                        <a:t>August 21, 2026</a:t>
                      </a:r>
                      <a:endParaRPr lang="en-IN" sz="12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6591" marR="16591" marT="11060" marB="110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IN" sz="1200">
                          <a:effectLst/>
                        </a:rPr>
                        <a:t>Holiday Inn, Mumbai</a:t>
                      </a:r>
                      <a:endParaRPr lang="en-IN" sz="12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6591" marR="16591" marT="11060" marB="110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200">
                          <a:effectLst/>
                        </a:rPr>
                        <a:t>Powering the AI Revolution through Infrastructure: High-performance computing (HPC) environments, high-density server rack architecture, and next-generation green tech.</a:t>
                      </a:r>
                      <a:endParaRPr lang="en-US" sz="12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6591" marR="16591" marT="11060" marB="110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en-IN" sz="1200" dirty="0">
                          <a:solidFill>
                            <a:schemeClr val="bg1"/>
                          </a:solidFill>
                          <a:hlinkClick r:id="rId2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nexgenconferences.com</a:t>
                      </a:r>
                      <a:endParaRPr lang="en-US" sz="1200" dirty="0">
                        <a:solidFill>
                          <a:schemeClr val="bg1"/>
                        </a:solidFill>
                        <a:effectLst/>
                        <a:latin typeface="Google Sans Text"/>
                      </a:endParaRPr>
                    </a:p>
                  </a:txBody>
                  <a:tcPr marL="16591" marR="16591" marT="11060" marB="110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54866935"/>
                  </a:ext>
                </a:extLst>
              </a:tr>
              <a:tr h="856504">
                <a:tc>
                  <a:txBody>
                    <a:bodyPr/>
                    <a:lstStyle/>
                    <a:p>
                      <a:pPr rtl="0"/>
                      <a:r>
                        <a:rPr lang="it-IT" sz="1200">
                          <a:effectLst/>
                        </a:rPr>
                        <a:t>AI Data Centre Conference 2026</a:t>
                      </a:r>
                      <a:endParaRPr lang="it-IT" sz="12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6591" marR="16591" marT="11060" marB="110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IN" sz="1200">
                          <a:effectLst/>
                        </a:rPr>
                        <a:t>Late October 2026</a:t>
                      </a:r>
                      <a:endParaRPr lang="en-IN" sz="12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6591" marR="16591" marT="11060" marB="110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IN" sz="1200">
                          <a:effectLst/>
                        </a:rPr>
                        <a:t>Courtyard by Marriott, Mumbai</a:t>
                      </a:r>
                      <a:endParaRPr lang="en-IN" sz="12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6591" marR="16591" marT="11060" marB="110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200">
                          <a:effectLst/>
                        </a:rPr>
                        <a:t>The Megawatt-to-Gigawatt Grid Realignment: Focused explicitly on the engineering mechanics of handling 30 kW to 100 kW per rack server density constraints and scaling liquid cooling components.</a:t>
                      </a:r>
                      <a:endParaRPr lang="en-US" sz="12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6591" marR="16591" marT="11060" marB="110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en-IN" sz="1200" dirty="0">
                          <a:solidFill>
                            <a:schemeClr val="bg1"/>
                          </a:solidFill>
                          <a:hlinkClick r:id="rId2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nexgenconferences.com</a:t>
                      </a:r>
                      <a:endParaRPr lang="en-US" sz="1200" dirty="0">
                        <a:solidFill>
                          <a:schemeClr val="bg1"/>
                        </a:solidFill>
                        <a:effectLst/>
                        <a:latin typeface="Google Sans Text"/>
                      </a:endParaRPr>
                    </a:p>
                  </a:txBody>
                  <a:tcPr marL="16591" marR="16591" marT="11060" marB="110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04342261"/>
                  </a:ext>
                </a:extLst>
              </a:tr>
              <a:tr h="856504">
                <a:tc>
                  <a:txBody>
                    <a:bodyPr/>
                    <a:lstStyle/>
                    <a:p>
                      <a:pPr rtl="0"/>
                      <a:r>
                        <a:rPr lang="en-IN" sz="1200">
                          <a:effectLst/>
                        </a:rPr>
                        <a:t>World Datacentre Summit – India 2026 (TraiCon)</a:t>
                      </a:r>
                      <a:endParaRPr lang="en-IN" sz="12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6591" marR="16591" marT="11060" marB="110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IN" sz="1200">
                          <a:effectLst/>
                        </a:rPr>
                        <a:t>December 6, 2026</a:t>
                      </a:r>
                      <a:endParaRPr lang="en-IN" sz="12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6591" marR="16591" marT="11060" marB="110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IN" sz="1200">
                          <a:effectLst/>
                        </a:rPr>
                        <a:t>Mumbai</a:t>
                      </a:r>
                      <a:endParaRPr lang="en-IN" sz="12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6591" marR="16591" marT="11060" marB="110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200" dirty="0">
                          <a:effectLst/>
                        </a:rPr>
                        <a:t>Sovereign Clouds &amp; Advanced Liquid Loops: Dedicated to high-performance storage array enclosures, direct-to-chip interfaces, and compliance tracking under the active DPDP Act.</a:t>
                      </a:r>
                      <a:endParaRPr lang="en-US" sz="12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6591" marR="16591" marT="11060" marB="110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en-IN" sz="1200" dirty="0">
                          <a:solidFill>
                            <a:schemeClr val="bg1"/>
                          </a:solidFill>
                          <a:hlinkClick r:id="rId3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traiconconferences.com</a:t>
                      </a:r>
                      <a:endParaRPr lang="en-US" sz="1200" dirty="0">
                        <a:solidFill>
                          <a:schemeClr val="bg1"/>
                        </a:solidFill>
                        <a:effectLst/>
                        <a:latin typeface="Google Sans Text"/>
                      </a:endParaRPr>
                    </a:p>
                  </a:txBody>
                  <a:tcPr marL="16591" marR="16591" marT="11060" marB="110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03509689"/>
                  </a:ext>
                </a:extLst>
              </a:tr>
              <a:tr h="856504">
                <a:tc>
                  <a:txBody>
                    <a:bodyPr/>
                    <a:lstStyle/>
                    <a:p>
                      <a:pPr rtl="0"/>
                      <a:r>
                        <a:rPr lang="en-US" sz="1200">
                          <a:effectLst/>
                        </a:rPr>
                        <a:t>8th CII Datacenter Blueprint Summit 2027</a:t>
                      </a:r>
                      <a:endParaRPr lang="en-US" sz="12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6591" marR="16591" marT="11060" marB="110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IN" sz="1200">
                          <a:effectLst/>
                        </a:rPr>
                        <a:t>March 2027</a:t>
                      </a:r>
                      <a:endParaRPr lang="en-IN" sz="12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6591" marR="16591" marT="11060" marB="110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200">
                          <a:effectLst/>
                        </a:rPr>
                        <a:t>Jio World Convention Centre, Mumbai</a:t>
                      </a:r>
                      <a:endParaRPr lang="en-US" sz="12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6591" marR="16591" marT="11060" marB="110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200">
                          <a:effectLst/>
                        </a:rPr>
                        <a:t>Building Next-Gen Foundations for AI Factories: The flagship industry policy summit focusing on sustainable structural blueprints, modular/scalable architectures, and green microgrid integration.</a:t>
                      </a:r>
                      <a:endParaRPr lang="en-US" sz="12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6591" marR="16591" marT="11060" marB="110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en-IN" sz="1200" dirty="0">
                          <a:solidFill>
                            <a:schemeClr val="bg1"/>
                          </a:solidFill>
                          <a:hlinkClick r:id="rId4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cii.in</a:t>
                      </a:r>
                      <a:endParaRPr lang="en-US" sz="1200" dirty="0">
                        <a:solidFill>
                          <a:schemeClr val="bg1"/>
                        </a:solidFill>
                        <a:effectLst/>
                        <a:latin typeface="Google Sans Text"/>
                      </a:endParaRPr>
                    </a:p>
                  </a:txBody>
                  <a:tcPr marL="16591" marR="16591" marT="11060" marB="110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01907958"/>
                  </a:ext>
                </a:extLst>
              </a:tr>
              <a:tr h="809814">
                <a:tc>
                  <a:txBody>
                    <a:bodyPr/>
                    <a:lstStyle/>
                    <a:p>
                      <a:pPr rtl="0"/>
                      <a:r>
                        <a:rPr lang="en-US" sz="1200">
                          <a:effectLst/>
                        </a:rPr>
                        <a:t>11th ASSOCHAM Smart Datacenters &amp; AI Summit</a:t>
                      </a:r>
                      <a:endParaRPr lang="en-US" sz="12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6591" marR="16591" marT="11060" marB="110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IN" sz="1200">
                          <a:effectLst/>
                        </a:rPr>
                        <a:t>May 2027</a:t>
                      </a:r>
                      <a:endParaRPr lang="en-IN" sz="12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6591" marR="16591" marT="11060" marB="110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IN" sz="1200">
                          <a:effectLst/>
                        </a:rPr>
                        <a:t>HICC, Hyderabad</a:t>
                      </a:r>
                      <a:endParaRPr lang="en-IN" sz="12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6591" marR="16591" marT="11060" marB="110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200">
                          <a:effectLst/>
                        </a:rPr>
                        <a:t>Regional Infrastructure Incentives &amp; Tech Clusters: Showcasing the real-world execution of the ₹40,000 Crore Component Scheme (ECMS) and state-level power/land waivers.</a:t>
                      </a:r>
                      <a:endParaRPr lang="en-US" sz="12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6591" marR="16591" marT="11060" marB="110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en-IN" sz="1200" dirty="0">
                          <a:solidFill>
                            <a:schemeClr val="bg1"/>
                          </a:solidFill>
                          <a:hlinkClick r:id="rId5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assocham.org</a:t>
                      </a:r>
                      <a:endParaRPr lang="en-US" sz="1200" dirty="0">
                        <a:solidFill>
                          <a:schemeClr val="bg1"/>
                        </a:solidFill>
                        <a:effectLst/>
                        <a:latin typeface="Google Sans Text"/>
                      </a:endParaRPr>
                    </a:p>
                  </a:txBody>
                  <a:tcPr marL="16591" marR="16591" marT="11060" marB="110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66121556"/>
                  </a:ext>
                </a:extLst>
              </a:tr>
              <a:tr h="856504">
                <a:tc>
                  <a:txBody>
                    <a:bodyPr/>
                    <a:lstStyle/>
                    <a:p>
                      <a:pPr rtl="0"/>
                      <a:r>
                        <a:rPr lang="pt-BR" sz="1200">
                          <a:effectLst/>
                        </a:rPr>
                        <a:t>Data Center Asia &amp; Pacific Expo 2027 (Global DCW Portfolio Expansion)</a:t>
                      </a:r>
                      <a:endParaRPr lang="pt-BR" sz="12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6591" marR="16591" marT="11060" marB="110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IN" sz="1200">
                          <a:effectLst/>
                        </a:rPr>
                        <a:t>Mid-2027</a:t>
                      </a:r>
                      <a:endParaRPr lang="en-IN" sz="12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6591" marR="16591" marT="11060" marB="110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IN" sz="1200">
                          <a:effectLst/>
                        </a:rPr>
                        <a:t>Mumbai / Hong Kong Hub</a:t>
                      </a:r>
                      <a:endParaRPr lang="en-IN" sz="12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6591" marR="16591" marT="11060" marB="110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200" dirty="0">
                          <a:effectLst/>
                        </a:rPr>
                        <a:t>The Pan-Asian Hyperscale Corridor: Data Center World's new dedicated expansion into the Indian market, tracking the massive influx of self-build hyperscale nodes from AWS, Microsoft, and Meta.</a:t>
                      </a:r>
                      <a:endParaRPr lang="en-US" sz="12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6591" marR="16591" marT="11060" marB="110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en-IN" sz="1200" dirty="0">
                          <a:solidFill>
                            <a:schemeClr val="bg1"/>
                          </a:solidFill>
                          <a:hlinkClick r:id="rId6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datacentreworldasia.com</a:t>
                      </a:r>
                      <a:endParaRPr lang="en-US" sz="1200" dirty="0">
                        <a:solidFill>
                          <a:schemeClr val="bg1"/>
                        </a:solidFill>
                        <a:effectLst/>
                        <a:latin typeface="Google Sans Text"/>
                      </a:endParaRPr>
                    </a:p>
                  </a:txBody>
                  <a:tcPr marL="16591" marR="16591" marT="11060" marB="110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8106603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0465134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9894E3-0AA3-42F2-B7DE-63E2CECE3F7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489473" y="3243470"/>
            <a:ext cx="4063378" cy="1461052"/>
          </a:xfrm>
        </p:spPr>
        <p:txBody>
          <a:bodyPr>
            <a:normAutofit fontScale="90000"/>
          </a:bodyPr>
          <a:lstStyle/>
          <a:p>
            <a:r>
              <a:rPr lang="en-US" altLang="en-US" sz="80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Edwardian Script ITC" panose="030303020407070D0804" pitchFamily="66" charset="0"/>
                <a:ea typeface="DejaVu Math TeX Gyre" panose="02000503000000000000" pitchFamily="2" charset="0"/>
                <a:cs typeface="DejaVu Math TeX Gyre" panose="02000503000000000000" pitchFamily="2" charset="0"/>
              </a:rPr>
              <a:t>Thank you</a:t>
            </a:r>
            <a:br>
              <a:rPr lang="en-US" altLang="en-US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Edwardian Script ITC" panose="030303020407070D0804" pitchFamily="66" charset="0"/>
                <a:cs typeface="DejaVu Math TeX Gyre" panose="02000503000000000000" pitchFamily="2" charset="0"/>
              </a:rPr>
            </a:br>
            <a:endParaRPr lang="en-IN" dirty="0"/>
          </a:p>
        </p:txBody>
      </p:sp>
      <p:pic>
        <p:nvPicPr>
          <p:cNvPr id="4" name="图片 5">
            <a:extLst>
              <a:ext uri="{FF2B5EF4-FFF2-40B4-BE49-F238E27FC236}">
                <a16:creationId xmlns:a16="http://schemas.microsoft.com/office/drawing/2014/main" id="{040C9EBC-BE3F-47B6-BDAE-EC0A8545E0D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211" t="40093" r="59520" b="48610"/>
          <a:stretch>
            <a:fillRect/>
          </a:stretch>
        </p:blipFill>
        <p:spPr>
          <a:xfrm>
            <a:off x="5772858" y="1277699"/>
            <a:ext cx="6300746" cy="1201080"/>
          </a:xfrm>
          <a:prstGeom prst="rect">
            <a:avLst/>
          </a:prstGeom>
          <a:effectLst/>
        </p:spPr>
      </p:pic>
    </p:spTree>
    <p:extLst>
      <p:ext uri="{BB962C8B-B14F-4D97-AF65-F5344CB8AC3E}">
        <p14:creationId xmlns:p14="http://schemas.microsoft.com/office/powerpoint/2010/main" val="3882731036"/>
      </p:ext>
    </p:extLst>
  </p:cSld>
  <p:clrMapOvr>
    <a:masterClrMapping/>
  </p:clrMapOvr>
</p:sld>
</file>

<file path=ppt/theme/theme1.xml><?xml version="1.0" encoding="utf-8"?>
<a:theme xmlns:a="http://schemas.openxmlformats.org/drawingml/2006/main" name="Wisp">
  <a:themeElements>
    <a:clrScheme name="Wisp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277</TotalTime>
  <Words>4878</Words>
  <Application>Microsoft Office PowerPoint</Application>
  <PresentationFormat>Widescreen</PresentationFormat>
  <Paragraphs>671</Paragraphs>
  <Slides>18</Slides>
  <Notes>3</Notes>
  <HiddenSlides>5</HiddenSlides>
  <MMClips>0</MMClips>
  <ScaleCrop>false</ScaleCrop>
  <HeadingPairs>
    <vt:vector size="6" baseType="variant">
      <vt:variant>
        <vt:lpstr>Fonts Used</vt:lpstr>
      </vt:variant>
      <vt:variant>
        <vt:i4>12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31" baseType="lpstr">
      <vt:lpstr>DejaVu Math TeX Gyre</vt:lpstr>
      <vt:lpstr>Google Sans Text</vt:lpstr>
      <vt:lpstr>PMingLiU</vt:lpstr>
      <vt:lpstr>Poppins</vt:lpstr>
      <vt:lpstr>SF Hello Thin</vt:lpstr>
      <vt:lpstr>Arial</vt:lpstr>
      <vt:lpstr>Calibri</vt:lpstr>
      <vt:lpstr>Cambria Math</vt:lpstr>
      <vt:lpstr>Century Gothic</vt:lpstr>
      <vt:lpstr>Edwardian Script ITC</vt:lpstr>
      <vt:lpstr>Times New Roman</vt:lpstr>
      <vt:lpstr>Wingdings 3</vt:lpstr>
      <vt:lpstr>Wisp</vt:lpstr>
      <vt:lpstr>AI Infrastructure Opportunities in India </vt:lpstr>
      <vt:lpstr>Al Infrastructure: Key Strategic Pillars</vt:lpstr>
      <vt:lpstr>AI Infra | Products &amp; Layout </vt:lpstr>
      <vt:lpstr>AI Infra | Potential Products portfolio  </vt:lpstr>
      <vt:lpstr>India Data Center Market: Upcoming Mega-Investments &amp; Projections</vt:lpstr>
      <vt:lpstr>South India Data Center &amp; Tech Investment Tracker </vt:lpstr>
      <vt:lpstr>AI Infra | Global Players </vt:lpstr>
      <vt:lpstr>PowerPoint Presentation</vt:lpstr>
      <vt:lpstr>Market Opportunity</vt:lpstr>
      <vt:lpstr>Market Opportunity</vt:lpstr>
      <vt:lpstr>PowerPoint Presentation</vt:lpstr>
      <vt:lpstr>Global Market Opportunity</vt:lpstr>
      <vt:lpstr>Global Supply Chain</vt:lpstr>
      <vt:lpstr>PowerPoint Presentation</vt:lpstr>
      <vt:lpstr>AI Infra | Core manufacturers vs what they make ( India focus ) </vt:lpstr>
      <vt:lpstr>PowerPoint Presentation</vt:lpstr>
      <vt:lpstr>AI Infra | India Summits &amp; Exhibition (2026)  </vt:lpstr>
      <vt:lpstr>Thank you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Infrastructure Opportunities in India </dc:title>
  <dc:creator>India Sales (Salcomp/Chennai)</dc:creator>
  <cp:lastModifiedBy>India Sales (Salcomp/Chennai)</cp:lastModifiedBy>
  <cp:revision>23</cp:revision>
  <dcterms:created xsi:type="dcterms:W3CDTF">2026-06-11T07:58:49Z</dcterms:created>
  <dcterms:modified xsi:type="dcterms:W3CDTF">2026-06-12T09:02:42Z</dcterms:modified>
</cp:coreProperties>
</file>